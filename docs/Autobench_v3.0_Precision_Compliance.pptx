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embeddedFontLst>
    <p:embeddedFont>
      <p:font typeface="Inter Display Light"/>
      <p:regular r:id="rId21"/>
    </p:embeddedFont>
    <p:embeddedFont>
      <p:font typeface="Inter Display"/>
      <p:regular r:id="rId22"/>
      <p:bold r:id="rId23"/>
    </p:embeddedFont>
    <p:embeddedFont>
      <p:font typeface="Inter Display Medium"/>
      <p:regular r:id="rId24"/>
    </p:embeddedFont>
    <p:embeddedFont>
      <p:font typeface="Inter"/>
      <p:regular r:id="rId25"/>
      <p:bold r:id="rId26"/>
    </p:embeddedFont>
    <p:embeddedFont>
      <p:font typeface="Inter Medium"/>
      <p:regular r:id="rId27"/>
    </p:embeddedFont>
    <p:embeddedFont>
      <p:font typeface="Inter SemiBold"/>
      <p:regular r:id="rId28"/>
    </p:embeddedFont>
    <p:embeddedFont>
      <p:font typeface="JetBrains Mono"/>
      <p:regular r:id="rId29"/>
      <p:bold r:id="rId30"/>
    </p:embeddedFont>
    <p:embeddedFont>
      <p:font typeface="Font Awesome 6 Free Solid"/>
      <p:regular r:id="rId3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font" Target="fonts/font6.fntdata"/><Relationship Id="rId27" Type="http://schemas.openxmlformats.org/officeDocument/2006/relationships/font" Target="fonts/font7.fntdata"/><Relationship Id="rId28" Type="http://schemas.openxmlformats.org/officeDocument/2006/relationships/font" Target="fonts/font8.fntdata"/><Relationship Id="rId29" Type="http://schemas.openxmlformats.org/officeDocument/2006/relationships/font" Target="fonts/font9.fntdata"/><Relationship Id="rId30" Type="http://schemas.openxmlformats.org/officeDocument/2006/relationships/font" Target="fonts/font10.fntdata"/><Relationship Id="rId31" Type="http://schemas.openxmlformats.org/officeDocument/2006/relationships/font" Target="fonts/font1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45280" y="-3977639"/>
            <a:ext cx="12192000" cy="13716000"/>
          </a:xfrm>
          <a:prstGeom prst="ellipse">
            <a:avLst/>
          </a:prstGeom>
          <a:solidFill>
            <a:srgbClr val="FBFA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754880" y="-3429000"/>
            <a:ext cx="11216640" cy="12618720"/>
          </a:xfrm>
          <a:prstGeom prst="ellipse">
            <a:avLst/>
          </a:prstGeom>
          <a:noFill/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10240" y="508000"/>
            <a:ext cx="508000" cy="508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508000"/>
            <a:ext cx="508000" cy="508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44830"/>
            <a:ext cx="243840" cy="434340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905000"/>
            <a:ext cx="711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FF671B"/>
                </a:solidFill>
                <a:latin typeface="Inter SemiBold"/>
              </a:rPr>
              <a:t>MASTERCARD ADVISORS  •  PERFORMANCE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692400"/>
            <a:ext cx="10414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800" b="0" i="0">
                <a:solidFill>
                  <a:srgbClr val="1A1A1A"/>
                </a:solidFill>
                <a:latin typeface="Inter Display Light"/>
              </a:rPr>
              <a:t>Autobench v3.0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3400" b="0" i="0">
                <a:solidFill>
                  <a:srgbClr val="1A1A1A"/>
                </a:solidFill>
                <a:latin typeface="Inter Display"/>
              </a:rPr>
              <a:t>The Precision Compliance Engine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5130800"/>
            <a:ext cx="4572000" cy="0"/>
          </a:xfrm>
          <a:prstGeom prst="line">
            <a:avLst/>
          </a:prstGeom>
          <a:ln w="27940">
            <a:solidFill>
              <a:srgbClr val="FF671B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09600" y="5334000"/>
            <a:ext cx="787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3C3F44"/>
                </a:solidFill>
                <a:latin typeface="Inter Display Medium"/>
              </a:rPr>
              <a:t>Next-generation benchmarking. Minimal distortion. Absolute control.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172200"/>
            <a:ext cx="7874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656A71"/>
                </a:solidFill>
                <a:latin typeface="Inter"/>
              </a:rPr>
              <a:t>Executive Overview &amp; Operational Capabilities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THE COMPLIANCE PARADOX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Compliant benchmarking forces a trade-off between privacy and market truth.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95400"/>
            <a:ext cx="10972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350" b="0" i="0">
                <a:solidFill>
                  <a:srgbClr val="656A71"/>
                </a:solidFill>
                <a:latin typeface="Inter"/>
              </a:rPr>
              <a:t>Autobench v3.0 resolves it mathematically — not manually.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" y="17018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6865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006600"/>
            <a:ext cx="4724400" cy="2692400"/>
          </a:xfrm>
          <a:prstGeom prst="roundRect">
            <a:avLst>
              <a:gd name="adj" fmla="val 45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9000" y="2286000"/>
            <a:ext cx="482600" cy="4826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2860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76" b="0" i="0">
                <a:solidFill>
                  <a:srgbClr val="1D2735"/>
                </a:solidFill>
                <a:latin typeface="Font Awesome 6 Free Solid"/>
              </a:rPr>
              <a:t>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23368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1D2735"/>
                </a:solidFill>
                <a:latin typeface="Inter SemiBold"/>
              </a:rPr>
              <a:t>THE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2540000"/>
            <a:ext cx="3530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Inter Display"/>
              </a:rPr>
              <a:t>Control 3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98800"/>
            <a:ext cx="4114800" cy="142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1D2735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Strict concentration caps (no peer above 25% share).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1D2735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Minimum participant thresholds per category.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1D2735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Zero-tolerance regulatory environment.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1D2735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Manual weighting silently destroys data fidelity.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006600"/>
            <a:ext cx="4724400" cy="2692400"/>
          </a:xfrm>
          <a:prstGeom prst="roundRect">
            <a:avLst>
              <a:gd name="adj" fmla="val 45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7400" y="2286000"/>
            <a:ext cx="482600" cy="4826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7400" y="22860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76" b="0" i="0">
                <a:solidFill>
                  <a:srgbClr val="FF671B"/>
                </a:solidFill>
                <a:latin typeface="Font Awesome 6 Free Solid"/>
              </a:rPr>
              <a:t>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68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THE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540000"/>
            <a:ext cx="3530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Inter Display"/>
              </a:rPr>
              <a:t>Market reality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800" y="3098800"/>
            <a:ext cx="4114800" cy="142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Maintain exact market positioning.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Preserve rank integrity across every dimension.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25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50" b="0" i="0">
                <a:solidFill>
                  <a:srgbClr val="3C3F44"/>
                </a:solidFill>
                <a:latin typeface="Inter"/>
              </a:rPr>
              <a:t>Deliver actionable merchant and issuer performance.</a:t>
            </a:r>
          </a:p>
        </p:txBody>
      </p:sp>
      <p:sp>
        <p:nvSpPr>
          <p:cNvPr id="20" name="Chevron 19"/>
          <p:cNvSpPr/>
          <p:nvPr/>
        </p:nvSpPr>
        <p:spPr>
          <a:xfrm>
            <a:off x="5689600" y="3098800"/>
            <a:ext cx="812800" cy="508000"/>
          </a:xfrm>
          <a:prstGeom prst="chevron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0" y="3683000"/>
            <a:ext cx="152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120">
                <a:solidFill>
                  <a:srgbClr val="D84E0C"/>
                </a:solidFill>
                <a:latin typeface="Inter SemiBold"/>
              </a:rPr>
              <a:t>AUTOBENCH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600" y="5130800"/>
            <a:ext cx="10972800" cy="939800"/>
          </a:xfrm>
          <a:prstGeom prst="roundRect">
            <a:avLst>
              <a:gd name="adj" fmla="val 8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800" y="53848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FFFF"/>
                </a:solidFill>
                <a:latin typeface="Font Awesome 6 Free Solid"/>
              </a:rPr>
              <a:t>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9400" y="5130800"/>
            <a:ext cx="9448800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400" b="0" i="0">
                <a:solidFill>
                  <a:srgbClr val="FFFFFF"/>
                </a:solidFill>
                <a:latin typeface="Inter Display"/>
              </a:rPr>
              <a:t>The solution.  </a:t>
            </a:r>
            <a:r>
              <a:rPr sz="1350" b="0" i="0">
                <a:solidFill>
                  <a:srgbClr val="FFFFFF"/>
                </a:solidFill>
                <a:latin typeface="Inter"/>
              </a:rPr>
              <a:t>Advanced Linear Programming enforces absolute privacy compliance while mathematically minimizing distortion.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02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27" name="Oval 26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Three coordinated phases turn raw data into audit-ready intelligence.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9600" y="1930400"/>
            <a:ext cx="3318933" cy="3759200"/>
          </a:xfrm>
          <a:prstGeom prst="roundRect">
            <a:avLst>
              <a:gd name="adj" fmla="val 4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930400"/>
            <a:ext cx="3318933" cy="508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3600" y="22098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22098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1D2735"/>
                </a:solidFill>
                <a:latin typeface="Font Awesome 6 Free Solid"/>
              </a:rPr>
              <a:t>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22352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1D2735"/>
                </a:solidFill>
                <a:latin typeface="Inter SemiBold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2438400"/>
            <a:ext cx="2175933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Ingestion Interfaces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3600" y="33020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000" y="33020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CLI · automated pipelines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" y="40386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0386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TUI · analyst workbench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6533" y="1930400"/>
            <a:ext cx="3318933" cy="375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F671B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6533" y="1930400"/>
            <a:ext cx="3318933" cy="508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90533" y="22098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533" y="22098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FF671B"/>
                </a:solidFill>
                <a:latin typeface="Font Awesome 6 Free Solid"/>
              </a:rPr>
              <a:t>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0933" y="22352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0933" y="2438400"/>
            <a:ext cx="2175933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Core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533" y="2971800"/>
            <a:ext cx="281093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656A71"/>
                </a:solidFill>
                <a:latin typeface="JetBrains Mono"/>
              </a:rPr>
              <a:t>core/dimensional_analyzer.py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90533" y="33020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BFAF8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2933" y="33020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Normalization &amp; schema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90533" y="40386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BFAF8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2933" y="40386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Control 3.2 privacy validator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0533" y="47752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BFAF8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2933" y="47752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Global LP optimization · HiGHS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63466" y="1930400"/>
            <a:ext cx="3318933" cy="3759200"/>
          </a:xfrm>
          <a:prstGeom prst="roundRect">
            <a:avLst>
              <a:gd name="adj" fmla="val 4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63466" y="1930400"/>
            <a:ext cx="3318933" cy="508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17466" y="22098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7466" y="22098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1D2735"/>
                </a:solidFill>
                <a:latin typeface="Font Awesome 6 Free Solid"/>
              </a:rPr>
              <a:t>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7866" y="22352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1D2735"/>
                </a:solidFill>
                <a:latin typeface="Inter SemiBold"/>
              </a:rPr>
              <a:t>PHASE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7866" y="2438400"/>
            <a:ext cx="2175933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Output Artifacts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17466" y="33020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69866" y="33020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Excel reporting &amp; diagnostics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7466" y="40386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9866" y="40386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Balanced CSV · BI-ready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17466" y="4775200"/>
            <a:ext cx="2810933" cy="60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69866" y="4775200"/>
            <a:ext cx="2506133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100" b="0" i="0">
                <a:solidFill>
                  <a:srgbClr val="3C3F44"/>
                </a:solidFill>
                <a:latin typeface="Inter Medium"/>
              </a:rPr>
              <a:t>Comprehensive audit packages</a:t>
            </a:r>
          </a:p>
        </p:txBody>
      </p:sp>
      <p:sp>
        <p:nvSpPr>
          <p:cNvPr id="42" name="Oval 41"/>
          <p:cNvSpPr/>
          <p:nvPr/>
        </p:nvSpPr>
        <p:spPr>
          <a:xfrm>
            <a:off x="4017433" y="3644900"/>
            <a:ext cx="330200" cy="330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8533" y="3644900"/>
            <a:ext cx="50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44" name="Oval 43"/>
          <p:cNvSpPr/>
          <p:nvPr/>
        </p:nvSpPr>
        <p:spPr>
          <a:xfrm>
            <a:off x="7844366" y="3644900"/>
            <a:ext cx="330200" cy="330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55466" y="3644900"/>
            <a:ext cx="50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03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48" name="Oval 47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ALGORITHMIC RESILIENCE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A three-tier solver cascade guarantees an answer — even when strict optimization fails.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9600" y="1930400"/>
            <a:ext cx="10972800" cy="119380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930400"/>
            <a:ext cx="63500" cy="11938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2733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733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FF671B"/>
                </a:solidFill>
                <a:latin typeface="Font Awesome 6 Free Solid"/>
              </a:rPr>
              <a:t>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5600" y="2133600"/>
            <a:ext cx="762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 i="0">
                <a:solidFill>
                  <a:srgbClr val="FF671B"/>
                </a:solidFill>
                <a:latin typeface="Inter Display Ligh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120900"/>
            <a:ext cx="8686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Inter Display"/>
              </a:rPr>
              <a:t>Global LP Optimization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463800"/>
            <a:ext cx="8559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Solves all dimensions simultaneously.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Minimizes deviation from 1.0 + rank penalty + slack.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Zero privacy violations, lowest system-wide distortion.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49600"/>
            <a:ext cx="5334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FF671B"/>
                </a:solidFill>
                <a:latin typeface="Font Awesome 6 Free Solid"/>
              </a:rPr>
              <a:t>  </a:t>
            </a:r>
            <a:r>
              <a:rPr sz="850" b="0" i="0" spc="100">
                <a:solidFill>
                  <a:srgbClr val="D84E0C"/>
                </a:solidFill>
                <a:latin typeface="Inter SemiBold"/>
              </a:rPr>
              <a:t>IF STRUCTURALLY INFEASIBLE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3429000"/>
            <a:ext cx="10972800" cy="101600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3429000"/>
            <a:ext cx="63500" cy="1016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6830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830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1D2735"/>
                </a:solidFill>
                <a:latin typeface="Font Awesome 6 Free Solid"/>
              </a:rPr>
              <a:t>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5600" y="3632200"/>
            <a:ext cx="762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 i="0">
                <a:solidFill>
                  <a:srgbClr val="1D2735"/>
                </a:solidFill>
                <a:latin typeface="Inter Display Light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619500"/>
            <a:ext cx="8686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Inter Display"/>
              </a:rPr>
              <a:t>Subset Search &amp; Per-Dimension 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962400"/>
            <a:ext cx="85598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1D2735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Greedily isolates the largest feasible subset of dimensions.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1D2735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Routes conflicting dimensions to independent solvers.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470400"/>
            <a:ext cx="5334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FF671B"/>
                </a:solidFill>
                <a:latin typeface="Font Awesome 6 Free Solid"/>
              </a:rPr>
              <a:t>  </a:t>
            </a:r>
            <a:r>
              <a:rPr sz="850" b="0" i="0" spc="100">
                <a:solidFill>
                  <a:srgbClr val="D84E0C"/>
                </a:solidFill>
                <a:latin typeface="Inter SemiBold"/>
              </a:rPr>
              <a:t>IF STRICT LP FAILS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4749800"/>
            <a:ext cx="10972800" cy="119380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600" y="4749800"/>
            <a:ext cx="63500" cy="1193800"/>
          </a:xfrm>
          <a:prstGeom prst="rect">
            <a:avLst/>
          </a:prstGeom>
          <a:solidFill>
            <a:srgbClr val="656A7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50927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927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656A71"/>
                </a:solidFill>
                <a:latin typeface="Font Awesome 6 Free Solid"/>
              </a:rPr>
              <a:t>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5600" y="4953000"/>
            <a:ext cx="762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 i="0">
                <a:solidFill>
                  <a:srgbClr val="656A71"/>
                </a:solidFill>
                <a:latin typeface="Inter Display Light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4940300"/>
            <a:ext cx="8686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Inter Display"/>
              </a:rPr>
              <a:t>Bayesian / Heuristic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283200"/>
            <a:ext cx="8559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656A71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Engages L-BFGS-B (scipy.minimize) on edge-case categories.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656A71"/>
                </a:solidFill>
                <a:latin typeface="Inter SemiBold"/>
              </a:rPr>
              <a:t>—  </a:t>
            </a:r>
            <a:r>
              <a:rPr sz="1150" b="0" i="0">
                <a:solidFill>
                  <a:srgbClr val="3C3F44"/>
                </a:solidFill>
                <a:latin typeface="Inter"/>
              </a:rPr>
              <a:t>Guarantees a usable output under extreme data sparsity.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04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32" name="Oval 31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CONTROL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Privacy caps are selected automatically from the available peer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95400"/>
            <a:ext cx="10972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350" b="0" i="0">
                <a:solidFill>
                  <a:srgbClr val="656A71"/>
                </a:solidFill>
                <a:latin typeface="Inter"/>
              </a:rPr>
              <a:t>No manual configuration — the engine applies the correct regulatory rule.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" y="17018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6865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2082800"/>
            <a:ext cx="18542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0" y="2082800"/>
            <a:ext cx="16002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MIN PEERS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2082800"/>
            <a:ext cx="27432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MAX CONCENTRATION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0" y="2082800"/>
            <a:ext cx="49784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TRIGGER CONDITION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" y="2590800"/>
            <a:ext cx="10972800" cy="0"/>
          </a:xfrm>
          <a:prstGeom prst="line">
            <a:avLst/>
          </a:prstGeom>
          <a:ln w="20320">
            <a:solidFill>
              <a:srgbClr val="1A1A1A"/>
            </a:solidFill>
          </a:ln>
        </p:spPr>
      </p:cxnSp>
      <p:sp>
        <p:nvSpPr>
          <p:cNvPr id="13" name="Rounded Rectangle 12"/>
          <p:cNvSpPr/>
          <p:nvPr/>
        </p:nvSpPr>
        <p:spPr>
          <a:xfrm>
            <a:off x="635000" y="27432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" y="2743200"/>
            <a:ext cx="8128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Inter SemiBold"/>
              </a:rPr>
              <a:t>5 / 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5400" y="2590800"/>
            <a:ext cx="1549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2590800"/>
            <a:ext cx="2692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90800"/>
            <a:ext cx="49276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3C3F44"/>
                </a:solidFill>
                <a:latin typeface="Inter"/>
              </a:rPr>
              <a:t>Baseline standard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600" y="32258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19" name="Rounded Rectangle 18"/>
          <p:cNvSpPr/>
          <p:nvPr/>
        </p:nvSpPr>
        <p:spPr>
          <a:xfrm>
            <a:off x="635000" y="33782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00" y="3378200"/>
            <a:ext cx="8128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Inter SemiBold"/>
              </a:rPr>
              <a:t>6 / 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3225800"/>
            <a:ext cx="1549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3225800"/>
            <a:ext cx="2692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225800"/>
            <a:ext cx="49276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3C3F44"/>
                </a:solidFill>
                <a:latin typeface="Inter"/>
              </a:rPr>
              <a:t>≥ 3 participants at ≥ 7%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" y="38608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25" name="Rounded Rectangle 24"/>
          <p:cNvSpPr/>
          <p:nvPr/>
        </p:nvSpPr>
        <p:spPr>
          <a:xfrm>
            <a:off x="635000" y="40132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4013200"/>
            <a:ext cx="8128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Inter SemiBold"/>
              </a:rPr>
              <a:t>7 / 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5400" y="3860800"/>
            <a:ext cx="1549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6400" y="3860800"/>
            <a:ext cx="2692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35%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0400" y="3860800"/>
            <a:ext cx="49276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3C3F44"/>
                </a:solidFill>
                <a:latin typeface="Inter"/>
              </a:rPr>
              <a:t>≥ 2 at ≥ 15%, plus ≥ 1 at ≥ 8%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4958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31" name="Rounded Rectangle 30"/>
          <p:cNvSpPr/>
          <p:nvPr/>
        </p:nvSpPr>
        <p:spPr>
          <a:xfrm>
            <a:off x="635000" y="46482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" y="4648200"/>
            <a:ext cx="8128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Inter SemiBold"/>
              </a:rPr>
              <a:t>10 / 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5400" y="4495800"/>
            <a:ext cx="1549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16400" y="4495800"/>
            <a:ext cx="2692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40%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0400" y="4495800"/>
            <a:ext cx="49276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3C3F44"/>
                </a:solidFill>
                <a:latin typeface="Inter"/>
              </a:rPr>
              <a:t>≥ 2 at ≥ 20%, plus ≥ 1 at ≥ 10%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600" y="51308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37" name="Rectangle 36"/>
          <p:cNvSpPr/>
          <p:nvPr/>
        </p:nvSpPr>
        <p:spPr>
          <a:xfrm>
            <a:off x="609600" y="5130800"/>
            <a:ext cx="10972800" cy="635000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5000" y="52832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FF67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" y="5283200"/>
            <a:ext cx="8128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D84E0C"/>
                </a:solidFill>
                <a:latin typeface="Inter SemiBold"/>
              </a:rPr>
              <a:t>4 / 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5400" y="5130800"/>
            <a:ext cx="1549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6400" y="5130800"/>
            <a:ext cx="26924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JetBrains Mono"/>
              </a:rPr>
              <a:t>35%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10400" y="5130800"/>
            <a:ext cx="49276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3C3F44"/>
                </a:solidFill>
                <a:latin typeface="Inter"/>
              </a:rPr>
              <a:t>Merchant benchmarking mode only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600" y="57658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05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46" name="Oval 45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STRATEGIC PRESETS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Out-of-the-box configurations mapped to specific business intents.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9600" y="1930400"/>
            <a:ext cx="2533650" cy="368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930400"/>
            <a:ext cx="2533650" cy="508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8200" y="22352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2352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946400"/>
            <a:ext cx="207645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Balanced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05200"/>
            <a:ext cx="20764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D84E0C"/>
                </a:solidFill>
                <a:latin typeface="JetBrains Mono"/>
              </a:rPr>
              <a:t>balanced_default.yaml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8200" y="3835400"/>
            <a:ext cx="207645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38200" y="3987800"/>
            <a:ext cx="2076450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Use case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Day-to-day general business analysis.</a:t>
            </a:r>
          </a:p>
          <a:p>
            <a:pPr>
              <a:lnSpc>
                <a:spcPct val="112000"/>
              </a:lnSpc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Posture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Optimal mix of speed, compliance, and accuracy.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1930400"/>
            <a:ext cx="2533650" cy="368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2650" y="1930400"/>
            <a:ext cx="2533650" cy="508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1250" y="22352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1250" y="22352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1250" y="2946400"/>
            <a:ext cx="207645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Compliance Strict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1250" y="3505200"/>
            <a:ext cx="20764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D84E0C"/>
                </a:solidFill>
                <a:latin typeface="JetBrains Mono"/>
              </a:rPr>
              <a:t>compliance_strict.yaml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51250" y="3835400"/>
            <a:ext cx="207645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3651250" y="3987800"/>
            <a:ext cx="2076450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Use case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Regulatory and audit-first submissions.</a:t>
            </a:r>
          </a:p>
          <a:p>
            <a:pPr>
              <a:lnSpc>
                <a:spcPct val="112000"/>
              </a:lnSpc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Posture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Zero tolerance for threshold deviations; robust audit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5700" y="1930400"/>
            <a:ext cx="2533650" cy="368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1930400"/>
            <a:ext cx="2533650" cy="508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64300" y="22352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300" y="22352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2946400"/>
            <a:ext cx="207645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Strategic Consistency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300" y="3505200"/>
            <a:ext cx="20764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D84E0C"/>
                </a:solidFill>
                <a:latin typeface="JetBrains Mono"/>
              </a:rPr>
              <a:t>strategic_consistency.yaml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64300" y="3835400"/>
            <a:ext cx="207645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464300" y="3987800"/>
            <a:ext cx="2076450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Use case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Executive dashboards and KPI tracking.</a:t>
            </a:r>
          </a:p>
          <a:p>
            <a:pPr>
              <a:lnSpc>
                <a:spcPct val="112000"/>
              </a:lnSpc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Posture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Consistent global weighting behavior over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48750" y="1930400"/>
            <a:ext cx="2533650" cy="368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48750" y="1930400"/>
            <a:ext cx="2533650" cy="5080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77350" y="22352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77350" y="22352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7350" y="2946400"/>
            <a:ext cx="207645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Inter Display"/>
              </a:rPr>
              <a:t>Research Exploratory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7350" y="3505200"/>
            <a:ext cx="20764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D84E0C"/>
                </a:solidFill>
                <a:latin typeface="JetBrains Mono"/>
              </a:rPr>
              <a:t>research_exploratory.yaml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7350" y="3835400"/>
            <a:ext cx="207645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9277350" y="3987800"/>
            <a:ext cx="2076450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Use case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Hard, sparse, or highly skewed datasets.</a:t>
            </a:r>
          </a:p>
          <a:p>
            <a:pPr>
              <a:lnSpc>
                <a:spcPct val="112000"/>
              </a:lnSpc>
            </a:pPr>
            <a:r>
              <a:rPr sz="950" b="0" i="0" spc="60">
                <a:solidFill>
                  <a:srgbClr val="656A71"/>
                </a:solidFill>
                <a:latin typeface="Inter SemiBold"/>
              </a:rPr>
              <a:t>Posture
</a:t>
            </a:r>
            <a:r>
              <a:rPr sz="1150" b="0" i="0">
                <a:solidFill>
                  <a:srgbClr val="3C3F44"/>
                </a:solidFill>
                <a:latin typeface="Inter"/>
              </a:rPr>
              <a:t>Higher flexibility to surface underlying market trends.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06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41" name="Oval 40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ANALYST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A robust TUI eliminates pure-CLI friction.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95400"/>
            <a:ext cx="10972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350" b="0" i="0">
                <a:solidFill>
                  <a:srgbClr val="656A71"/>
                </a:solidFill>
                <a:latin typeface="Inter"/>
              </a:rPr>
              <a:t>Validation-first, with live diagnostics and instant overrides.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" y="17018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6865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65500" y="2082800"/>
            <a:ext cx="54610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5500" y="2082800"/>
            <a:ext cx="5461000" cy="381000"/>
          </a:xfrm>
          <a:prstGeom prst="roundRect">
            <a:avLst>
              <a:gd name="adj" fmla="val 3000"/>
            </a:avLst>
          </a:prstGeom>
          <a:solidFill>
            <a:srgbClr val="1D27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65500" y="2273300"/>
            <a:ext cx="5461000" cy="1905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17900" y="2222500"/>
            <a:ext cx="101600" cy="1016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95700" y="2222500"/>
            <a:ext cx="101600" cy="1016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73500" y="2222500"/>
            <a:ext cx="101600" cy="101600"/>
          </a:xfrm>
          <a:prstGeom prst="ellipse">
            <a:avLst/>
          </a:prstGeom>
          <a:solidFill>
            <a:srgbClr val="3FB9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5500" y="2082800"/>
            <a:ext cx="546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JetBrains Mono"/>
              </a:rPr>
              <a:t>analyst validation dashboard · v3.0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7900" y="2590800"/>
            <a:ext cx="5156200" cy="304800"/>
          </a:xfrm>
          <a:prstGeom prst="roundRect">
            <a:avLst>
              <a:gd name="adj" fmla="val 20000"/>
            </a:avLst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0" y="2590800"/>
            <a:ext cx="1651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656A71"/>
                </a:solidFill>
                <a:latin typeface="JetBrains Mono"/>
              </a:rPr>
              <a:t>SCHEMA </a:t>
            </a:r>
            <a:r>
              <a:rPr sz="800" b="1" i="0">
                <a:solidFill>
                  <a:srgbClr val="2E7D32"/>
                </a:solidFill>
                <a:latin typeface="JetBrains Mono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500" y="2590800"/>
            <a:ext cx="1651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656A71"/>
                </a:solidFill>
                <a:latin typeface="JetBrains Mono"/>
              </a:rPr>
              <a:t>NULLS </a:t>
            </a:r>
            <a:r>
              <a:rPr sz="800" b="1" i="0">
                <a:solidFill>
                  <a:srgbClr val="2E7D32"/>
                </a:solidFill>
                <a:latin typeface="JetBrains Mono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1500" y="2590800"/>
            <a:ext cx="1651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 i="0">
                <a:solidFill>
                  <a:srgbClr val="656A71"/>
                </a:solidFill>
                <a:latin typeface="JetBrains Mono"/>
              </a:rPr>
              <a:t>PEERS </a:t>
            </a:r>
            <a:r>
              <a:rPr sz="800" b="1" i="0">
                <a:solidFill>
                  <a:srgbClr val="D84E0C"/>
                </a:solidFill>
                <a:latin typeface="JetBrains Mono"/>
              </a:rPr>
              <a:t>VALIDATING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7900" y="2997200"/>
            <a:ext cx="1905000" cy="1524000"/>
          </a:xfrm>
          <a:prstGeom prst="roundRect">
            <a:avLst>
              <a:gd name="adj" fmla="val 4000"/>
            </a:avLst>
          </a:prstGeom>
          <a:solidFill>
            <a:srgbClr val="FBFAF8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4900" y="3124200"/>
            <a:ext cx="1676400" cy="132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750" b="0" i="0" spc="50">
                <a:solidFill>
                  <a:srgbClr val="9CA0A6"/>
                </a:solidFill>
                <a:latin typeface="JetBrains Mono"/>
              </a:rPr>
              <a:t>CONFIGURATION</a:t>
            </a:r>
          </a:p>
          <a:p>
            <a:pPr>
              <a:spcAft>
                <a:spcPts val="600"/>
              </a:spcAft>
            </a:pPr>
            <a:r>
              <a:rPr sz="850" b="0" i="0">
                <a:solidFill>
                  <a:srgbClr val="3C3F44"/>
                </a:solidFill>
                <a:latin typeface="JetBrains Mono"/>
              </a:rPr>
              <a:t>entity   ▾</a:t>
            </a:r>
          </a:p>
          <a:p>
            <a:pPr>
              <a:spcAft>
                <a:spcPts val="600"/>
              </a:spcAft>
            </a:pPr>
            <a:r>
              <a:rPr sz="850" b="0" i="0">
                <a:solidFill>
                  <a:srgbClr val="3C3F44"/>
                </a:solidFill>
                <a:latin typeface="JetBrains Mono"/>
              </a:rPr>
              <a:t>metric   ▾</a:t>
            </a:r>
          </a:p>
          <a:p>
            <a:r>
              <a:rPr sz="850" b="0" i="0">
                <a:solidFill>
                  <a:srgbClr val="3C3F44"/>
                </a:solidFill>
                <a:latin typeface="JetBrains Mono"/>
              </a:rPr>
              <a:t>dimension▾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24500" y="2997200"/>
            <a:ext cx="3149600" cy="1524000"/>
          </a:xfrm>
          <a:prstGeom prst="roundRect">
            <a:avLst>
              <a:gd name="adj" fmla="val 4000"/>
            </a:avLst>
          </a:prstGeom>
          <a:solidFill>
            <a:srgbClr val="FBFAF8"/>
          </a:solidFill>
          <a:ln w="12700">
            <a:solidFill>
              <a:srgbClr val="EFEC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1500" y="3124200"/>
            <a:ext cx="28956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50" b="0" i="0" spc="50">
                <a:solidFill>
                  <a:srgbClr val="9CA0A6"/>
                </a:solidFill>
                <a:latin typeface="JetBrains Mono"/>
              </a:rPr>
              <a:t>DATA PREVIEW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51500" y="3378200"/>
            <a:ext cx="289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3C3F44"/>
                </a:solidFill>
                <a:latin typeface="JetBrains Mono"/>
              </a:rPr>
              <a:t>E123   2024-05-20   150.5   </a:t>
            </a:r>
            <a:r>
              <a:rPr sz="850" b="1" i="0">
                <a:solidFill>
                  <a:srgbClr val="3C3F44"/>
                </a:solidFill>
                <a:latin typeface="JetBrains Mono"/>
              </a:rPr>
              <a:t>VALID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1500" y="3632200"/>
            <a:ext cx="289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3C3F44"/>
                </a:solidFill>
                <a:latin typeface="JetBrains Mono"/>
              </a:rPr>
              <a:t>E124   2024-05-20   150.5   </a:t>
            </a:r>
            <a:r>
              <a:rPr sz="850" b="1" i="0">
                <a:solidFill>
                  <a:srgbClr val="3C3F44"/>
                </a:solidFill>
                <a:latin typeface="JetBrains Mono"/>
              </a:rPr>
              <a:t>VALID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1500" y="3886200"/>
            <a:ext cx="289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3C3F44"/>
                </a:solidFill>
                <a:latin typeface="JetBrains Mono"/>
              </a:rPr>
              <a:t>E456   2024-05-20     —   </a:t>
            </a:r>
            <a:r>
              <a:rPr sz="850" b="1" i="0">
                <a:solidFill>
                  <a:srgbClr val="B02A1B"/>
                </a:solidFill>
                <a:latin typeface="JetBrains Mono"/>
              </a:rPr>
              <a:t>ERROR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17900" y="4648200"/>
            <a:ext cx="5156200" cy="508000"/>
          </a:xfrm>
          <a:prstGeom prst="roundRect">
            <a:avLst>
              <a:gd name="adj" fmla="val 5000"/>
            </a:avLst>
          </a:prstGeom>
          <a:solidFill>
            <a:srgbClr val="151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4900" y="4648200"/>
            <a:ext cx="4953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50" b="1" i="0">
                <a:solidFill>
                  <a:srgbClr val="F79E1B"/>
                </a:solidFill>
                <a:latin typeface="JetBrains Mono"/>
              </a:rPr>
              <a:t>WARN </a:t>
            </a:r>
            <a:r>
              <a:rPr sz="750" b="0" i="0">
                <a:solidFill>
                  <a:srgbClr val="C8CBD0"/>
                </a:solidFill>
                <a:latin typeface="JetBrains Mono"/>
              </a:rPr>
              <a:t>schema mismatch → auto-fixing…</a:t>
            </a:r>
          </a:p>
          <a:p>
            <a:r>
              <a:rPr sz="750" b="1" i="0">
                <a:solidFill>
                  <a:srgbClr val="FF6B5B"/>
                </a:solidFill>
                <a:latin typeface="JetBrains Mono"/>
              </a:rPr>
              <a:t>ERR  </a:t>
            </a:r>
            <a:r>
              <a:rPr sz="750" b="0" i="0">
                <a:solidFill>
                  <a:srgbClr val="C8CBD0"/>
                </a:solidFill>
                <a:latin typeface="JetBrains Mono"/>
              </a:rPr>
              <a:t>peer constraint E456 &lt; min_peers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23114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23114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60" b="0" i="0">
                <a:solidFill>
                  <a:srgbClr val="FF671B"/>
                </a:solidFill>
                <a:latin typeface="Font Awesome 6 Free Solid"/>
              </a:rPr>
              <a:t>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600" y="2286000"/>
            <a:ext cx="20447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1A1A1A"/>
                </a:solidFill>
                <a:latin typeface="Inter Display"/>
              </a:rPr>
              <a:t>Validation-first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2565400"/>
            <a:ext cx="20447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Catches nulls, schema errors, and peer-constraint breaches before any heavy run.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39878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9878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60" b="0" i="0">
                <a:solidFill>
                  <a:srgbClr val="FF671B"/>
                </a:solidFill>
                <a:latin typeface="Font Awesome 6 Free Solid"/>
              </a:rPr>
              <a:t>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7600" y="3962400"/>
            <a:ext cx="20447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1A1A1A"/>
                </a:solidFill>
                <a:latin typeface="Inter Display"/>
              </a:rPr>
              <a:t>Intuitive config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7600" y="4241800"/>
            <a:ext cx="20447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Dropdown selection of entities, metrics, and dimensions.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29700" y="23114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29700" y="23114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60" b="0" i="0">
                <a:solidFill>
                  <a:srgbClr val="FF671B"/>
                </a:solidFill>
                <a:latin typeface="Font Awesome 6 Free Solid"/>
              </a:rPr>
              <a:t>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37700" y="2286000"/>
            <a:ext cx="20447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1A1A1A"/>
                </a:solidFill>
                <a:latin typeface="Inter Display"/>
              </a:rPr>
              <a:t>Real-time diagnostics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7700" y="2565400"/>
            <a:ext cx="20447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Integrated log handling keeps the UI responsive during background work.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9700" y="39878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9700" y="39878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60" b="0" i="0">
                <a:solidFill>
                  <a:srgbClr val="FF671B"/>
                </a:solidFill>
                <a:latin typeface="Font Awesome 6 Free Solid"/>
              </a:rPr>
              <a:t>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37700" y="3962400"/>
            <a:ext cx="20447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1A1A1A"/>
                </a:solidFill>
                <a:latin typeface="Inter Display"/>
              </a:rPr>
              <a:t>Instant overrides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37700" y="4241800"/>
            <a:ext cx="20447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Toggle advanced panels (Ctrl+A) to inject custom rules on the fly.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07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46" name="Oval 45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RESOURCE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Adaptive batching and lean mode scale to massive, memory-limited environments.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9600" y="1930400"/>
            <a:ext cx="2533650" cy="27940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8200" y="21844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1844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FF671B"/>
                </a:solidFill>
                <a:latin typeface="Font Awesome 6 Free Solid"/>
              </a:rPr>
              <a:t>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7450" y="2133600"/>
            <a:ext cx="508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400" b="0" i="0">
                <a:solidFill>
                  <a:srgbClr val="E6E2DC"/>
                </a:solidFill>
                <a:latin typeface="Inter Display Ligh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70200"/>
            <a:ext cx="2076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350" b="0" i="0">
                <a:solidFill>
                  <a:srgbClr val="1A1A1A"/>
                </a:solidFill>
                <a:latin typeface="Inter Display"/>
              </a:rPr>
              <a:t>Estimate &amp;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42900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Reads headers, drops unused columns, projects memory load.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175000"/>
            <a:ext cx="279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1930400"/>
            <a:ext cx="2533650" cy="27940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1250" y="21844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1250" y="21844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FF671B"/>
                </a:solidFill>
                <a:latin typeface="Font Awesome 6 Free Solid"/>
              </a:rPr>
              <a:t>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500" y="2133600"/>
            <a:ext cx="508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400" b="0" i="0">
                <a:solidFill>
                  <a:srgbClr val="E6E2DC"/>
                </a:solidFill>
                <a:latin typeface="Inter Display Ligh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1250" y="2870200"/>
            <a:ext cx="2076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350" b="0" i="0">
                <a:solidFill>
                  <a:srgbClr val="1A1A1A"/>
                </a:solidFill>
                <a:latin typeface="Inter Display"/>
              </a:rPr>
              <a:t>Adaptive Chunking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1250" y="342900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Streams heavy CSVs in 100k-row chunks.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6300" y="3175000"/>
            <a:ext cx="279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5700" y="1930400"/>
            <a:ext cx="2533650" cy="27940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64300" y="21844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300" y="21844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FF671B"/>
                </a:solidFill>
                <a:latin typeface="Font Awesome 6 Free Solid"/>
              </a:rPr>
              <a:t>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550" y="2133600"/>
            <a:ext cx="508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400" b="0" i="0">
                <a:solidFill>
                  <a:srgbClr val="E6E2DC"/>
                </a:solidFill>
                <a:latin typeface="Inter Display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300" y="2870200"/>
            <a:ext cx="2076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350" b="0" i="0">
                <a:solidFill>
                  <a:srgbClr val="1A1A1A"/>
                </a:solidFill>
                <a:latin typeface="Inter Display"/>
              </a:rPr>
              <a:t>Pre-Aggregation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300" y="342900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Consolidates duplicate entity / dimension / time rows in flight.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350" y="3175000"/>
            <a:ext cx="279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48750" y="1930400"/>
            <a:ext cx="2533650" cy="27940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7350" y="2184400"/>
            <a:ext cx="508000" cy="5080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7350" y="2184400"/>
            <a:ext cx="508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80" b="0" i="0">
                <a:solidFill>
                  <a:srgbClr val="FF671B"/>
                </a:solidFill>
                <a:latin typeface="Font Awesome 6 Free Solid"/>
              </a:rPr>
              <a:t>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96600" y="2133600"/>
            <a:ext cx="508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400" b="0" i="0">
                <a:solidFill>
                  <a:srgbClr val="E6E2DC"/>
                </a:solidFill>
                <a:latin typeface="Inter Display Light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7350" y="2870200"/>
            <a:ext cx="2076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350" b="0" i="0">
                <a:solidFill>
                  <a:srgbClr val="1A1A1A"/>
                </a:solidFill>
                <a:latin typeface="Inter Display"/>
              </a:rPr>
              <a:t>Lean Execution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350" y="3429000"/>
            <a:ext cx="20764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Disables secondary artifacts to focus 100% on global optimization.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5105400"/>
            <a:ext cx="10972800" cy="73660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2832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60" b="0" i="0">
                <a:solidFill>
                  <a:srgbClr val="F79E1B"/>
                </a:solidFill>
                <a:latin typeface="Font Awesome 6 Free Solid"/>
              </a:rPr>
              <a:t>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7800" y="5105400"/>
            <a:ext cx="97028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Inter Display"/>
              </a:rPr>
              <a:t>Takeaway.  </a:t>
            </a:r>
            <a:r>
              <a:rPr sz="1250" b="0" i="0">
                <a:solidFill>
                  <a:srgbClr val="D7DBE2"/>
                </a:solidFill>
                <a:latin typeface="Inter"/>
              </a:rPr>
              <a:t>Uncompromised privacy-cap enforcement at a fraction of the memory footprint.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08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39" name="Oval 38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DISTORTION VISIBILITY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We quantify the true cost of meeting privacy caps.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95400"/>
            <a:ext cx="109728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350" b="0" i="0">
                <a:solidFill>
                  <a:srgbClr val="656A71"/>
                </a:solidFill>
                <a:latin typeface="Inter"/>
              </a:rPr>
              <a:t>Every percentage point of distortion is measured — not assumed.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" y="17018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6865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032000"/>
            <a:ext cx="6172200" cy="3759200"/>
          </a:xfrm>
          <a:prstGeom prst="roundRect">
            <a:avLst>
              <a:gd name="adj" fmla="val 4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7600" y="3340100"/>
            <a:ext cx="5308600" cy="0"/>
          </a:xfrm>
          <a:prstGeom prst="line">
            <a:avLst/>
          </a:prstGeom>
          <a:ln w="9525">
            <a:solidFill>
              <a:srgbClr val="EFECE7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1117600" y="3962400"/>
            <a:ext cx="5308600" cy="0"/>
          </a:xfrm>
          <a:prstGeom prst="line">
            <a:avLst/>
          </a:prstGeom>
          <a:ln w="9525">
            <a:solidFill>
              <a:srgbClr val="EFECE7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117600" y="4584700"/>
            <a:ext cx="5308600" cy="0"/>
          </a:xfrm>
          <a:prstGeom prst="line">
            <a:avLst/>
          </a:prstGeom>
          <a:ln w="9525">
            <a:solidFill>
              <a:srgbClr val="EFECE7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117600" y="2717800"/>
            <a:ext cx="0" cy="248920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17600" y="5207000"/>
            <a:ext cx="53086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14" name="Freeform 13"/>
          <p:cNvSpPr/>
          <p:nvPr/>
        </p:nvSpPr>
        <p:spPr>
          <a:xfrm>
            <a:off x="1117600" y="3414776"/>
            <a:ext cx="5308600" cy="1393952"/>
          </a:xfrm>
          <a:custGeom>
            <a:avLst/>
            <a:gdLst/>
            <a:ahLst/>
            <a:cxnLst/>
            <a:rect l="l" t="t" r="r" b="b"/>
            <a:pathLst>
              <a:path w="5308600" h="1393952">
                <a:moveTo>
                  <a:pt x="0" y="1045464"/>
                </a:moveTo>
                <a:lnTo>
                  <a:pt x="758371" y="423164"/>
                </a:lnTo>
                <a:lnTo>
                  <a:pt x="1516742" y="746760"/>
                </a:lnTo>
                <a:lnTo>
                  <a:pt x="2275114" y="149352"/>
                </a:lnTo>
                <a:lnTo>
                  <a:pt x="3033485" y="547624"/>
                </a:lnTo>
                <a:lnTo>
                  <a:pt x="3791857" y="0"/>
                </a:lnTo>
                <a:lnTo>
                  <a:pt x="4550228" y="348488"/>
                </a:lnTo>
                <a:lnTo>
                  <a:pt x="5308600" y="796544"/>
                </a:lnTo>
                <a:lnTo>
                  <a:pt x="5308600" y="1194816"/>
                </a:lnTo>
                <a:lnTo>
                  <a:pt x="4550228" y="896112"/>
                </a:lnTo>
                <a:lnTo>
                  <a:pt x="3791857" y="696976"/>
                </a:lnTo>
                <a:lnTo>
                  <a:pt x="3033485" y="995680"/>
                </a:lnTo>
                <a:lnTo>
                  <a:pt x="2275114" y="796544"/>
                </a:lnTo>
                <a:lnTo>
                  <a:pt x="1516742" y="1095248"/>
                </a:lnTo>
                <a:lnTo>
                  <a:pt x="758371" y="945896"/>
                </a:lnTo>
                <a:lnTo>
                  <a:pt x="0" y="1393952"/>
                </a:lnTo>
                <a:close/>
              </a:path>
            </a:pathLst>
          </a:custGeom>
          <a:solidFill>
            <a:srgbClr val="FFEDE2">
              <a:alpha val="7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117600" y="4460240"/>
            <a:ext cx="0" cy="348488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16" name="Connector 15"/>
          <p:cNvCxnSpPr/>
          <p:nvPr/>
        </p:nvCxnSpPr>
        <p:spPr>
          <a:xfrm>
            <a:off x="1875971" y="3837940"/>
            <a:ext cx="0" cy="522732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17" name="Connector 16"/>
          <p:cNvCxnSpPr/>
          <p:nvPr/>
        </p:nvCxnSpPr>
        <p:spPr>
          <a:xfrm>
            <a:off x="2634342" y="4161536"/>
            <a:ext cx="0" cy="348488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18" name="Connector 17"/>
          <p:cNvCxnSpPr/>
          <p:nvPr/>
        </p:nvCxnSpPr>
        <p:spPr>
          <a:xfrm>
            <a:off x="3392714" y="3564128"/>
            <a:ext cx="0" cy="647192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19" name="Connector 18"/>
          <p:cNvCxnSpPr/>
          <p:nvPr/>
        </p:nvCxnSpPr>
        <p:spPr>
          <a:xfrm>
            <a:off x="4151085" y="3962400"/>
            <a:ext cx="0" cy="448056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20" name="Connector 19"/>
          <p:cNvCxnSpPr/>
          <p:nvPr/>
        </p:nvCxnSpPr>
        <p:spPr>
          <a:xfrm>
            <a:off x="4909457" y="3414776"/>
            <a:ext cx="0" cy="696976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21" name="Connector 20"/>
          <p:cNvCxnSpPr/>
          <p:nvPr/>
        </p:nvCxnSpPr>
        <p:spPr>
          <a:xfrm>
            <a:off x="5667828" y="3763264"/>
            <a:ext cx="0" cy="547624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22" name="Connector 21"/>
          <p:cNvCxnSpPr/>
          <p:nvPr/>
        </p:nvCxnSpPr>
        <p:spPr>
          <a:xfrm>
            <a:off x="6426200" y="4211320"/>
            <a:ext cx="0" cy="398272"/>
          </a:xfrm>
          <a:prstGeom prst="line">
            <a:avLst/>
          </a:prstGeom>
          <a:ln w="9525">
            <a:solidFill>
              <a:srgbClr val="FF671B"/>
            </a:solidFill>
            <a:prstDash val="dash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1117600" y="3837940"/>
            <a:ext cx="758371" cy="622300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24" name="Connector 23"/>
          <p:cNvCxnSpPr/>
          <p:nvPr/>
        </p:nvCxnSpPr>
        <p:spPr>
          <a:xfrm>
            <a:off x="1875971" y="3837940"/>
            <a:ext cx="758371" cy="323596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634342" y="3564128"/>
            <a:ext cx="758372" cy="597408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3392714" y="3564128"/>
            <a:ext cx="758371" cy="398272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 flipV="1">
            <a:off x="4151085" y="3414776"/>
            <a:ext cx="758372" cy="547624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28" name="Connector 27"/>
          <p:cNvCxnSpPr/>
          <p:nvPr/>
        </p:nvCxnSpPr>
        <p:spPr>
          <a:xfrm>
            <a:off x="4909457" y="3414776"/>
            <a:ext cx="758371" cy="348488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>
            <a:off x="5667828" y="3763264"/>
            <a:ext cx="758372" cy="448056"/>
          </a:xfrm>
          <a:prstGeom prst="line">
            <a:avLst/>
          </a:prstGeom>
          <a:ln w="19050">
            <a:solidFill>
              <a:srgbClr val="656A71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117600" y="4360672"/>
            <a:ext cx="758371" cy="448056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875971" y="4360672"/>
            <a:ext cx="758371" cy="149352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2634342" y="4211320"/>
            <a:ext cx="758372" cy="298704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392714" y="4211320"/>
            <a:ext cx="758371" cy="199136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4151085" y="4111752"/>
            <a:ext cx="758372" cy="298704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909457" y="4111752"/>
            <a:ext cx="758371" cy="199136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5667828" y="4310888"/>
            <a:ext cx="758372" cy="298704"/>
          </a:xfrm>
          <a:prstGeom prst="line">
            <a:avLst/>
          </a:prstGeom>
          <a:ln w="30480">
            <a:solidFill>
              <a:srgbClr val="FF671B"/>
            </a:solidFill>
          </a:ln>
        </p:spPr>
      </p:cxnSp>
      <p:sp>
        <p:nvSpPr>
          <p:cNvPr id="37" name="Oval 36"/>
          <p:cNvSpPr/>
          <p:nvPr/>
        </p:nvSpPr>
        <p:spPr>
          <a:xfrm>
            <a:off x="1079500" y="4770628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837871" y="4322572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596242" y="4471924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54614" y="4173220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12985" y="4372356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871357" y="4073652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629728" y="4272788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88100" y="4571492"/>
            <a:ext cx="76200" cy="76200"/>
          </a:xfrm>
          <a:prstGeom prst="ellipse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2235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656A71"/>
                </a:solidFill>
                <a:latin typeface="Inter SemiBold"/>
              </a:rPr>
              <a:t>┉ </a:t>
            </a:r>
            <a:r>
              <a:rPr sz="1050" b="0" i="0">
                <a:solidFill>
                  <a:srgbClr val="656A71"/>
                </a:solidFill>
                <a:latin typeface="Inter SemiBold"/>
              </a:rPr>
              <a:t>Raw market share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2438400"/>
            <a:ext cx="279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FF671B"/>
                </a:solidFill>
                <a:latin typeface="Inter SemiBold"/>
              </a:rPr>
              <a:t>━ </a:t>
            </a:r>
            <a:r>
              <a:rPr sz="1050" b="0" i="0">
                <a:solidFill>
                  <a:srgbClr val="D84E0C"/>
                </a:solidFill>
                <a:latin typeface="Inter SemiBold"/>
              </a:rPr>
              <a:t>Balanced (compliant) share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9900" y="5359400"/>
            <a:ext cx="203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CA0A6"/>
                </a:solidFill>
                <a:latin typeface="Inter"/>
              </a:rPr>
              <a:t>Δ distortion measured per category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7400" y="2032000"/>
            <a:ext cx="4445000" cy="93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40600" y="22860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40600" y="22860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24800" y="2184400"/>
            <a:ext cx="347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Distortion Analysis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4800" y="2451100"/>
            <a:ext cx="34798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Computes the exact percentage-point delta between raw market truth and compliant reporting.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7400" y="3111500"/>
            <a:ext cx="4445000" cy="93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40600" y="33655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40600" y="33655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24800" y="3263900"/>
            <a:ext cx="347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Rank-Change Tracking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4800" y="3530600"/>
            <a:ext cx="34798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A dedicated sheet records every rank shift before and after weighting.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7400" y="4191000"/>
            <a:ext cx="4445000" cy="93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340600" y="44450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40600" y="44450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24800" y="4343400"/>
            <a:ext cx="347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Preset Comparison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24800" y="4610100"/>
            <a:ext cx="34798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 b="0" i="0">
                <a:solidFill>
                  <a:srgbClr val="656A71"/>
                </a:solidFill>
                <a:latin typeface="Inter"/>
              </a:rPr>
              <a:t>--compare-presets builds a matrix of mean distortion to find the optimal configuration.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137400" y="5270500"/>
            <a:ext cx="4445000" cy="711200"/>
          </a:xfrm>
          <a:prstGeom prst="roundRect">
            <a:avLst>
              <a:gd name="adj" fmla="val 8000"/>
            </a:avLst>
          </a:prstGeom>
          <a:solidFill>
            <a:srgbClr val="FFEDE2"/>
          </a:solidFill>
          <a:ln w="12700">
            <a:solidFill>
              <a:srgbClr val="FF67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66000" y="5270500"/>
            <a:ext cx="40132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150" b="0" i="0">
                <a:solidFill>
                  <a:srgbClr val="D84E0C"/>
                </a:solidFill>
                <a:latin typeface="Inter Display"/>
              </a:rPr>
              <a:t>Insight.  </a:t>
            </a:r>
            <a:r>
              <a:rPr sz="1100" b="0" i="0">
                <a:solidFill>
                  <a:srgbClr val="3C3F44"/>
                </a:solidFill>
                <a:latin typeface="Inter"/>
              </a:rPr>
              <a:t>We don’t just enforce rules — we quantify their mathematical impact.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09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67" name="Oval 66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POLICY ENFORCEMENT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The system actively guards against unauthorized data combinations.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70000" y="1981200"/>
            <a:ext cx="30734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DATA 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1981200"/>
            <a:ext cx="53594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POLICY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0" y="1981200"/>
            <a:ext cx="2032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 spc="80">
                <a:solidFill>
                  <a:srgbClr val="656A71"/>
                </a:solidFill>
                <a:latin typeface="Inter SemiBold"/>
              </a:rPr>
              <a:t>STATUS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2413000"/>
            <a:ext cx="10972800" cy="0"/>
          </a:xfrm>
          <a:prstGeom prst="line">
            <a:avLst/>
          </a:prstGeom>
          <a:ln w="20320">
            <a:solidFill>
              <a:srgbClr val="1A1A1A"/>
            </a:solidFill>
          </a:ln>
        </p:spPr>
      </p:cxnSp>
      <p:sp>
        <p:nvSpPr>
          <p:cNvPr id="11" name="Rounded Rectangle 10"/>
          <p:cNvSpPr/>
          <p:nvPr/>
        </p:nvSpPr>
        <p:spPr>
          <a:xfrm>
            <a:off x="635000" y="2590800"/>
            <a:ext cx="406400" cy="4064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000" y="2590800"/>
            <a:ext cx="406400" cy="40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64" b="0" i="0">
                <a:solidFill>
                  <a:srgbClr val="1D2735"/>
                </a:solidFill>
                <a:latin typeface="Font Awesome 6 Free Solid"/>
              </a:rPr>
              <a:t>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2413000"/>
            <a:ext cx="3073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Fraud / Chargebacks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0" y="2413000"/>
            <a:ext cx="5359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 i="0">
                <a:solidFill>
                  <a:srgbClr val="3C3F44"/>
                </a:solidFill>
                <a:latin typeface="JetBrains Mono"/>
              </a:rPr>
              <a:t>Must set privacy_basis: clearing_spend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06000" y="2641600"/>
            <a:ext cx="79756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1D27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6000" y="2641600"/>
            <a:ext cx="7975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1D2735"/>
                </a:solidFill>
                <a:latin typeface="JetBrains Mono"/>
              </a:rPr>
              <a:t>ENFORCED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1750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18" name="Rounded Rectangle 17"/>
          <p:cNvSpPr/>
          <p:nvPr/>
        </p:nvSpPr>
        <p:spPr>
          <a:xfrm>
            <a:off x="635000" y="3352800"/>
            <a:ext cx="406400" cy="406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000" y="3352800"/>
            <a:ext cx="406400" cy="40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64" b="0" i="0">
                <a:solidFill>
                  <a:srgbClr val="D84E0C"/>
                </a:solidFill>
                <a:latin typeface="Font Awesome 6 Free Solid"/>
              </a:rPr>
              <a:t>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0000" y="3175000"/>
            <a:ext cx="3073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Digital Wallets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000" y="3175000"/>
            <a:ext cx="5359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 i="0">
                <a:solidFill>
                  <a:srgbClr val="3C3F44"/>
                </a:solidFill>
                <a:latin typeface="JetBrains Mono"/>
              </a:rPr>
              <a:t>Requires explicit Privacy-team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06000" y="34036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84E0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0" y="3403600"/>
            <a:ext cx="1295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D84E0C"/>
                </a:solidFill>
                <a:latin typeface="JetBrains Mono"/>
              </a:rPr>
              <a:t>MANUAL APPROVAL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" y="39370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25" name="Rounded Rectangle 24"/>
          <p:cNvSpPr/>
          <p:nvPr/>
        </p:nvSpPr>
        <p:spPr>
          <a:xfrm>
            <a:off x="635000" y="4114800"/>
            <a:ext cx="406400" cy="406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4114800"/>
            <a:ext cx="406400" cy="40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64" b="0" i="0">
                <a:solidFill>
                  <a:srgbClr val="D84E0C"/>
                </a:solidFill>
                <a:latin typeface="Font Awesome 6 Free Solid"/>
              </a:rPr>
              <a:t>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0000" y="3937000"/>
            <a:ext cx="3073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Dual-Entity-Axis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000" y="3937000"/>
            <a:ext cx="5359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 i="0">
                <a:solidFill>
                  <a:srgbClr val="3C3F44"/>
                </a:solidFill>
                <a:latin typeface="JetBrains Mono"/>
              </a:rPr>
              <a:t>Requires explicit Privacy-team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6000" y="41656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84E0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6000" y="4165600"/>
            <a:ext cx="1295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D84E0C"/>
                </a:solidFill>
                <a:latin typeface="JetBrains Mono"/>
              </a:rPr>
              <a:t>MANUAL APPROVAL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46990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32" name="Rounded Rectangle 31"/>
          <p:cNvSpPr/>
          <p:nvPr/>
        </p:nvSpPr>
        <p:spPr>
          <a:xfrm>
            <a:off x="635000" y="4876800"/>
            <a:ext cx="406400" cy="406400"/>
          </a:xfrm>
          <a:prstGeom prst="roundRect">
            <a:avLst>
              <a:gd name="adj" fmla="val 26000"/>
            </a:avLst>
          </a:prstGeom>
          <a:solidFill>
            <a:srgbClr val="ECEE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" y="4876800"/>
            <a:ext cx="406400" cy="40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64" b="0" i="0">
                <a:solidFill>
                  <a:srgbClr val="1A1A1A"/>
                </a:solidFill>
                <a:latin typeface="Font Awesome 6 Free Solid"/>
              </a:rPr>
              <a:t>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0000" y="4699000"/>
            <a:ext cx="3073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Top-Merchant Lists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5000" y="4699000"/>
            <a:ext cx="53594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 i="0">
                <a:solidFill>
                  <a:srgbClr val="3C3F44"/>
                </a:solidFill>
                <a:latin typeface="JetBrains Mono"/>
              </a:rPr>
              <a:t>Strictly prohibited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06000" y="4927600"/>
            <a:ext cx="1082039" cy="3048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3970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6000" y="4927600"/>
            <a:ext cx="1082039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JetBrains Mono"/>
              </a:rPr>
              <a:t>HARD BLOCKED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" y="5461000"/>
            <a:ext cx="109728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10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41" name="Oval 40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Actionable intelligence, packaged for decisions and for audit.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9600" y="1930400"/>
            <a:ext cx="34544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9000" y="2235200"/>
            <a:ext cx="558800" cy="558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2235200"/>
            <a:ext cx="5588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88" b="0" i="0">
                <a:solidFill>
                  <a:srgbClr val="FF671B"/>
                </a:solidFill>
                <a:latin typeface="Font Awesome 6 Free Solid"/>
              </a:rPr>
              <a:t>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23114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D84E0C"/>
                </a:solidFill>
                <a:latin typeface="JetBrains Mono"/>
              </a:rPr>
              <a:t>.xlsx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2971800"/>
            <a:ext cx="28956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50" b="0" i="0">
                <a:solidFill>
                  <a:srgbClr val="1A1A1A"/>
                </a:solidFill>
                <a:latin typeface="Inter Display"/>
              </a:rPr>
              <a:t>The Excel Report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9000" y="3454400"/>
            <a:ext cx="28956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889000" y="3632200"/>
            <a:ext cx="28956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Executive summary &amp; run metadata.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Category comparisons (Target vs. Best-in-Class).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Rank changes &amp; weight methods.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8800" y="1930400"/>
            <a:ext cx="34544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48200" y="2235200"/>
            <a:ext cx="558800" cy="558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200" y="2235200"/>
            <a:ext cx="5588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88" b="0" i="0">
                <a:solidFill>
                  <a:srgbClr val="FF671B"/>
                </a:solidFill>
                <a:latin typeface="Font Awesome 6 Free Solid"/>
              </a:rPr>
              <a:t>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23114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D84E0C"/>
                </a:solidFill>
                <a:latin typeface="JetBrains Mono"/>
              </a:rPr>
              <a:t>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8200" y="2971800"/>
            <a:ext cx="28956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50" b="0" i="0">
                <a:solidFill>
                  <a:srgbClr val="1A1A1A"/>
                </a:solidFill>
                <a:latin typeface="Inter Display"/>
              </a:rPr>
              <a:t>The Balanced Export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48200" y="3454400"/>
            <a:ext cx="28956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4648200" y="3632200"/>
            <a:ext cx="28956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BI-ready for Tableau &amp; Power BI.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Enriched metrics (Distortion_PP, Raw_Share).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Schema-validated for parity with Excel.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8000" y="1930400"/>
            <a:ext cx="34544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07400" y="2235200"/>
            <a:ext cx="558800" cy="558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07400" y="2235200"/>
            <a:ext cx="5588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88" b="0" i="0">
                <a:solidFill>
                  <a:srgbClr val="FF671B"/>
                </a:solidFill>
                <a:latin typeface="Font Awesome 6 Free Solid"/>
              </a:rPr>
              <a:t>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85400" y="2311400"/>
            <a:ext cx="1143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D84E0C"/>
                </a:solidFill>
                <a:latin typeface="JetBrains Mono"/>
              </a:rPr>
              <a:t>.zip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7400" y="2971800"/>
            <a:ext cx="28956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50" b="0" i="0">
                <a:solidFill>
                  <a:srgbClr val="1A1A1A"/>
                </a:solidFill>
                <a:latin typeface="Inter Display"/>
              </a:rPr>
              <a:t>The Audit Package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07400" y="3454400"/>
            <a:ext cx="2895600" cy="0"/>
          </a:xfrm>
          <a:prstGeom prst="line">
            <a:avLst/>
          </a:prstGeom>
          <a:ln w="12700">
            <a:solidFill>
              <a:srgbClr val="EFECE7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8407400" y="3632200"/>
            <a:ext cx="28956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Immutable snapshot of inputs, config &amp; logs.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Ready for immediate regulatory submission.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11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30" name="Oval 29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VERIFIED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A zero-trust release pipeline guarantees mathematical integrity.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000" y="2006600"/>
            <a:ext cx="2413000" cy="8128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1971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971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006600"/>
            <a:ext cx="16002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Code Commit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1000" y="2006600"/>
            <a:ext cx="5080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006600"/>
            <a:ext cx="2413000" cy="8128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06800" y="21971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6800" y="21971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0200" y="2006600"/>
            <a:ext cx="16002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GitHub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0" y="2006600"/>
            <a:ext cx="5080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0000" y="2006600"/>
            <a:ext cx="2413000" cy="8128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2DC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27800" y="21971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7800" y="21971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1200" y="2006600"/>
            <a:ext cx="16002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Gate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006600"/>
            <a:ext cx="5080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671B"/>
                </a:solidFill>
                <a:latin typeface="Font Awesome 6 Free Solid"/>
              </a:rPr>
              <a:t>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71000" y="2006600"/>
            <a:ext cx="2413000" cy="812800"/>
          </a:xfrm>
          <a:prstGeom prst="roundRect">
            <a:avLst>
              <a:gd name="adj" fmla="val 14000"/>
            </a:avLst>
          </a:prstGeom>
          <a:solidFill>
            <a:srgbClr val="FFEDE2"/>
          </a:solidFill>
          <a:ln w="17780">
            <a:solidFill>
              <a:srgbClr val="FF671B"/>
            </a:solidFill>
          </a:ln>
          <a:effectLst>
            <a:outerShdw blurRad="114300" dist="38100" dir="5400000" rotWithShape="0">
              <a:srgbClr val="1A1A1A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48800" y="21971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8800" y="21971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82200" y="2006600"/>
            <a:ext cx="16002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Validated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921000"/>
            <a:ext cx="10972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CA0A6"/>
                </a:solidFill>
                <a:latin typeface="Font Awesome 6 Free Solid"/>
              </a:rPr>
              <a:t>  </a:t>
            </a:r>
            <a:r>
              <a:rPr sz="950" b="0" i="1">
                <a:solidFill>
                  <a:srgbClr val="9CA0A6"/>
                </a:solidFill>
                <a:latin typeface="Inter"/>
              </a:rPr>
              <a:t>continuous validation 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3327400"/>
            <a:ext cx="3454400" cy="167640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8200" y="35560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200" y="35560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4089400"/>
            <a:ext cx="299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Gate Test 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394200"/>
            <a:ext cx="29972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17+ representative scenarios run on every commit.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68800" y="3327400"/>
            <a:ext cx="3454400" cy="167640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97400" y="35560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7400" y="35560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7400" y="4089400"/>
            <a:ext cx="299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Mathematical Parity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7400" y="4394200"/>
            <a:ext cx="29972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CSV exports are cross-checked against compliant Excel outputs to a 0.01% tolerance.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000" y="3327400"/>
            <a:ext cx="3454400" cy="167640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56600" y="3556000"/>
            <a:ext cx="431800" cy="4318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6600" y="35560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68" b="0" i="0">
                <a:solidFill>
                  <a:srgbClr val="FF671B"/>
                </a:solidFill>
                <a:latin typeface="Font Awesome 6 Free Solid"/>
              </a:rPr>
              <a:t>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6600" y="4089400"/>
            <a:ext cx="299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Inter Display"/>
              </a:rPr>
              <a:t>Immutable Offline Deploys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6600" y="4394200"/>
            <a:ext cx="29972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00" b="0" i="0">
                <a:solidFill>
                  <a:srgbClr val="656A71"/>
                </a:solidFill>
                <a:latin typeface="Inter"/>
              </a:rPr>
              <a:t>Checksum-verified bundles (offline_packages/) for air-gapped environments.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12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44" name="Oval 43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160">
                <a:solidFill>
                  <a:srgbClr val="FF671B"/>
                </a:solidFill>
                <a:latin typeface="Inter SemiBold"/>
              </a:rPr>
              <a:t>VALUE REALIZATION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36600"/>
            <a:ext cx="109728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2300" b="0" i="0">
                <a:solidFill>
                  <a:srgbClr val="1A1A1A"/>
                </a:solidFill>
                <a:latin typeface="Inter Display"/>
              </a:rPr>
              <a:t>Autobench turns regulatory constraint into analytical advantage.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1625600"/>
            <a:ext cx="10972800" cy="0"/>
          </a:xfrm>
          <a:prstGeom prst="line">
            <a:avLst/>
          </a:prstGeom>
          <a:ln w="12700">
            <a:solidFill>
              <a:srgbClr val="E6E2DC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609600" y="1610360"/>
            <a:ext cx="685800" cy="30480"/>
          </a:xfrm>
          <a:prstGeom prst="rect">
            <a:avLst/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9600" y="1930400"/>
            <a:ext cx="3454400" cy="27178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3600" y="22098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2098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2921000"/>
            <a:ext cx="29464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600" b="0" i="0">
                <a:solidFill>
                  <a:srgbClr val="1A1A1A"/>
                </a:solidFill>
                <a:latin typeface="Inter Display"/>
              </a:rPr>
              <a:t>Absolute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3530600"/>
            <a:ext cx="29464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100% adherence to Control 3.2 privacy caps.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Cryptographically verifiable audit trails.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800" y="1930400"/>
            <a:ext cx="3454400" cy="27178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22800" y="22098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2800" y="22098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2800" y="2921000"/>
            <a:ext cx="29464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600" b="0" i="0">
                <a:solidFill>
                  <a:srgbClr val="1A1A1A"/>
                </a:solidFill>
                <a:latin typeface="Inter Display"/>
              </a:rPr>
              <a:t>Mathematical Superiority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3530600"/>
            <a:ext cx="29464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Industry-leading LP solvers minimize data distortion.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Unlocks insight in sparse data that legacy tools abandon.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0" y="1930400"/>
            <a:ext cx="3454400" cy="2717800"/>
          </a:xfrm>
          <a:prstGeom prst="roundRect">
            <a:avLst>
              <a:gd name="adj" fmla="val 5000"/>
            </a:avLst>
          </a:prstGeom>
          <a:solidFill>
            <a:srgbClr val="FBFAF8"/>
          </a:solidFill>
          <a:ln w="12700">
            <a:solidFill>
              <a:srgbClr val="E6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82000" y="2209800"/>
            <a:ext cx="533400" cy="533400"/>
          </a:xfrm>
          <a:prstGeom prst="roundRect">
            <a:avLst>
              <a:gd name="adj" fmla="val 26000"/>
            </a:avLst>
          </a:prstGeom>
          <a:solidFill>
            <a:srgbClr val="FFED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2209800"/>
            <a:ext cx="5334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84" b="0" i="0">
                <a:solidFill>
                  <a:srgbClr val="FF671B"/>
                </a:solidFill>
                <a:latin typeface="Font Awesome 6 Free Solid"/>
              </a:rPr>
              <a:t>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2921000"/>
            <a:ext cx="29464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600" b="0" i="0">
                <a:solidFill>
                  <a:srgbClr val="1A1A1A"/>
                </a:solidFill>
                <a:latin typeface="Inter Display"/>
              </a:rPr>
              <a:t>Operational Agility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3530600"/>
            <a:ext cx="29464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TUI and lean mode democratize access at massive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00" b="0" i="0">
                <a:solidFill>
                  <a:srgbClr val="FF671B"/>
                </a:solidFill>
                <a:latin typeface="Inter SemiBold"/>
              </a:rPr>
              <a:t>—  </a:t>
            </a:r>
            <a:r>
              <a:rPr sz="1200" b="0" i="0">
                <a:solidFill>
                  <a:srgbClr val="3C3F44"/>
                </a:solidFill>
                <a:latin typeface="Inter"/>
              </a:rPr>
              <a:t>No infrastructure bloat.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600" y="5029200"/>
            <a:ext cx="10972800" cy="863600"/>
          </a:xfrm>
          <a:prstGeom prst="roundRect">
            <a:avLst>
              <a:gd name="adj" fmla="val 10000"/>
            </a:avLst>
          </a:prstGeom>
          <a:solidFill>
            <a:srgbClr val="FF67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029200"/>
            <a:ext cx="10972800" cy="863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Inter Display"/>
              </a:rPr>
              <a:t>Compliant data is no longer a compromise. It is an exact science.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4770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FF671B"/>
                </a:solidFill>
                <a:latin typeface="Inter SemiBold"/>
              </a:rPr>
              <a:t>13</a:t>
            </a:r>
            <a:r>
              <a:rPr sz="900" b="0" i="0">
                <a:solidFill>
                  <a:srgbClr val="9CA0A6"/>
                </a:solidFill>
                <a:latin typeface="Inter Medium"/>
              </a:rPr>
              <a:t>  /  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12600" y="1651000"/>
            <a:ext cx="177800" cy="3302000"/>
          </a:xfrm>
          <a:prstGeom prst="rect">
            <a:avLst/>
          </a:prstGeom>
          <a:noFill/>
        </p:spPr>
        <p:txBody>
          <a:bodyPr wrap="none" lIns="0" rIns="0" tIns="0" bIns="0" vert="vert270">
            <a:spAutoFit/>
          </a:bodyPr>
          <a:lstStyle/>
          <a:p>
            <a:r>
              <a:rPr sz="650">
                <a:solidFill>
                  <a:srgbClr val="9CA0A6"/>
                </a:solidFill>
                <a:latin typeface="Inter Medium"/>
              </a:rPr>
              <a:t>© 2025 Mastercard. Proprietary and Confidential.</a:t>
            </a:r>
          </a:p>
        </p:txBody>
      </p:sp>
      <p:sp>
        <p:nvSpPr>
          <p:cNvPr id="26" name="Oval 25"/>
          <p:cNvSpPr/>
          <p:nvPr/>
        </p:nvSpPr>
        <p:spPr>
          <a:xfrm>
            <a:off x="11080496" y="6248400"/>
            <a:ext cx="330200" cy="3302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52200" y="6248400"/>
            <a:ext cx="330200" cy="3302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52200" y="6272339"/>
            <a:ext cx="158496" cy="282321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1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37760" y="2336800"/>
            <a:ext cx="1524000" cy="1524000"/>
          </a:xfrm>
          <a:prstGeom prst="ellipse">
            <a:avLst/>
          </a:prstGeom>
          <a:solidFill>
            <a:srgbClr val="EB00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730240" y="2336800"/>
            <a:ext cx="1524000" cy="1524000"/>
          </a:xfrm>
          <a:prstGeom prst="ellipse">
            <a:avLst/>
          </a:prstGeom>
          <a:solidFill>
            <a:srgbClr val="F7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30240" y="2447290"/>
            <a:ext cx="731520" cy="1303020"/>
          </a:xfrm>
          <a:prstGeom prst="ellipse">
            <a:avLst/>
          </a:prstGeom>
          <a:solidFill>
            <a:srgbClr val="FF5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114800"/>
            <a:ext cx="109728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 i="0" spc="50">
                <a:solidFill>
                  <a:srgbClr val="FFFFFF"/>
                </a:solidFill>
                <a:latin typeface="Inter Display"/>
              </a:rPr>
              <a:t>mastercard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673600"/>
            <a:ext cx="10972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 spc="220">
                <a:solidFill>
                  <a:srgbClr val="9A9EA6"/>
                </a:solidFill>
                <a:latin typeface="Inter SemiBold"/>
              </a:rPr>
              <a:t>AUTOBENCH v3.0  •  PRECISION  •  COMPLIANCE  • 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