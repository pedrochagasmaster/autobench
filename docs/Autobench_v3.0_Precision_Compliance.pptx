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0" y="-3771900"/>
            <a:ext cx="11582400" cy="13030200"/>
          </a:xfrm>
          <a:prstGeom prst="ellipse">
            <a:avLst/>
          </a:prstGeom>
          <a:solidFill>
            <a:srgbClr val="FAF9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023360" y="-3429000"/>
            <a:ext cx="10972800" cy="12344400"/>
          </a:xfrm>
          <a:prstGeom prst="ellipse">
            <a:avLst/>
          </a:prstGeom>
          <a:noFill/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794000"/>
            <a:ext cx="9652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600" b="0" i="0">
                <a:solidFill>
                  <a:srgbClr val="171717"/>
                </a:solidFill>
                <a:latin typeface="Arial"/>
              </a:rPr>
              <a:t>Autobench v3.0</a:t>
            </a:r>
          </a:p>
          <a:p>
            <a:pPr>
              <a:lnSpc>
                <a:spcPct val="100000"/>
              </a:lnSpc>
            </a:pPr>
            <a:r>
              <a:rPr sz="4600" b="0" i="0">
                <a:solidFill>
                  <a:srgbClr val="171717"/>
                </a:solidFill>
                <a:latin typeface="Arial"/>
              </a:rPr>
              <a:t>The Precision Compliance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4572000"/>
            <a:ext cx="787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800" b="1" i="0">
                <a:solidFill>
                  <a:srgbClr val="171717"/>
                </a:solidFill>
                <a:latin typeface="Arial"/>
              </a:rPr>
              <a:t>Next-Generation Benchmarking, Minimal Distortion, Absolute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5715000"/>
            <a:ext cx="787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Executive Overview &amp; Operational Capabilities</a:t>
            </a:r>
          </a:p>
          <a:p>
            <a:r>
              <a:rPr sz="1200" b="0" i="0">
                <a:solidFill>
                  <a:srgbClr val="595959"/>
                </a:solidFill>
                <a:latin typeface="Arial"/>
              </a:rPr>
              <a:t>Mastercard Advisors – Performance Analytics</a:t>
            </a:r>
          </a:p>
        </p:txBody>
      </p:sp>
      <p:sp>
        <p:nvSpPr>
          <p:cNvPr id="8" name="Oval 7"/>
          <p:cNvSpPr/>
          <p:nvPr/>
        </p:nvSpPr>
        <p:spPr>
          <a:xfrm>
            <a:off x="10786364" y="431800"/>
            <a:ext cx="584200" cy="584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25200" y="431800"/>
            <a:ext cx="584200" cy="584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25200" y="431800"/>
            <a:ext cx="245364" cy="5842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355600"/>
            <a:ext cx="112268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71717"/>
                </a:solidFill>
                <a:latin typeface="Arial"/>
              </a:rPr>
              <a:t>Compliant benchmarking forces a trade-off between privacy and market truth — Autobench removes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498600"/>
            <a:ext cx="112268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The paradox of compliant benchmarking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1803400"/>
            <a:ext cx="11226800" cy="2794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2600" y="2476500"/>
            <a:ext cx="46609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171717"/>
                </a:solidFill>
                <a:latin typeface="Arial"/>
              </a:rPr>
              <a:t>The Risk: Control 3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2984500"/>
            <a:ext cx="4660900" cy="279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Strict concentration caps (e.g., no peer over 25% share)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Minimum participant thresholds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Zero-tolerance regulatory environment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Manual compliance weighting destroys data fidelity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2476500"/>
            <a:ext cx="46609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171717"/>
                </a:solidFill>
                <a:latin typeface="Arial"/>
              </a:rPr>
              <a:t>The Goal: Market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8500" y="2984500"/>
            <a:ext cx="4660900" cy="279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Maintain exact market positioning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Preserve rank integrity across dimensions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50" b="0" i="0">
                <a:solidFill>
                  <a:srgbClr val="171717"/>
                </a:solidFill>
                <a:latin typeface="Arial"/>
              </a:rPr>
              <a:t>Deliver actionable merchant and issuer performance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45100" y="3365500"/>
            <a:ext cx="1701800" cy="6858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9500" y="4102100"/>
            <a:ext cx="241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37021"/>
                </a:solidFill>
                <a:latin typeface="Arial"/>
              </a:rPr>
              <a:t>The Autobench Imperative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" y="4953000"/>
            <a:ext cx="11226800" cy="990600"/>
          </a:xfrm>
          <a:prstGeom prst="roundRect">
            <a:avLst>
              <a:gd name="adj" fmla="val 6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953000"/>
            <a:ext cx="10515600" cy="990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The Solution: </a:t>
            </a:r>
            <a:r>
              <a:rPr sz="1400" b="0" i="0">
                <a:solidFill>
                  <a:srgbClr val="FFFFFF"/>
                </a:solidFill>
                <a:latin typeface="Arial"/>
              </a:rPr>
              <a:t>Autobench v3.0 uses advanced Linear Programming (LP) to enforce absolute privacy compliance while mathematically minimizing distortion.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16" name="Oval 15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355600"/>
            <a:ext cx="112268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71717"/>
                </a:solidFill>
                <a:latin typeface="Arial"/>
              </a:rPr>
              <a:t>Three coordinated phases turn raw data into compliant, audit-ready intelligence.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498600"/>
            <a:ext cx="112268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The Autobench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1803400"/>
            <a:ext cx="11226800" cy="2794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2600" y="2413000"/>
            <a:ext cx="3352800" cy="3683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4200" y="2590800"/>
            <a:ext cx="3149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F2D52"/>
                </a:solidFill>
                <a:latin typeface="Arial"/>
              </a:rPr>
              <a:t>Phase 1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Consolas"/>
              </a:rPr>
              <a:t>Ingestion Interfaces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528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33528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CLI (Automated Pipelines)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910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7400" y="41910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TUI (Textual User Interface for Analysts)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2413000"/>
            <a:ext cx="3352800" cy="3683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1200" y="2590800"/>
            <a:ext cx="3149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37021"/>
                </a:solidFill>
                <a:latin typeface="Arial"/>
              </a:rPr>
              <a:t>Phase 2: Core Engine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Consolas"/>
              </a:rPr>
              <a:t>core/dimensional_analyzer.py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2800" y="33528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4400" y="33528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Data Normalization &amp; Schema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2800" y="41910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00" y="41910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Control 3.2 Privacy Validator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22800" y="50292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4400" y="50292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Global LP Optimization (SciPy linprog + HiGHS)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56600" y="2413000"/>
            <a:ext cx="3352800" cy="3683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590800"/>
            <a:ext cx="31496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F2D52"/>
                </a:solidFill>
                <a:latin typeface="Arial"/>
              </a:rPr>
              <a:t>Phase 3</a:t>
            </a:r>
          </a:p>
          <a:p>
            <a:pPr algn="ctr"/>
            <a:r>
              <a:rPr sz="1000" b="0" i="0">
                <a:solidFill>
                  <a:srgbClr val="595959"/>
                </a:solidFill>
                <a:latin typeface="Consolas"/>
              </a:rPr>
              <a:t>Output Artifacts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59800" y="33528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1400" y="33528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Excel Reporting (Summary, Ranks, Diagnostics)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59800" y="41910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61400" y="41910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Balanced CSV (BI Ready)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9800" y="5029200"/>
            <a:ext cx="29464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61400" y="5029200"/>
            <a:ext cx="274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171717"/>
                </a:solidFill>
                <a:latin typeface="Arial"/>
              </a:rPr>
              <a:t>Comprehensive Audit Packages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911600" y="4025900"/>
            <a:ext cx="431800" cy="457200"/>
          </a:xfrm>
          <a:prstGeom prst="rightArrow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7848600" y="4025900"/>
            <a:ext cx="431800" cy="457200"/>
          </a:xfrm>
          <a:prstGeom prst="rightArrow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32" name="Oval 31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355600"/>
            <a:ext cx="112268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71717"/>
                </a:solidFill>
                <a:latin typeface="Arial"/>
              </a:rPr>
              <a:t>A three-tier solver cascade guarantees an answer — even when strict optimization fails.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498600"/>
            <a:ext cx="112268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Algorithmic resilience: the solver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1803400"/>
            <a:ext cx="11226800" cy="2794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51000" y="2260600"/>
            <a:ext cx="8890000" cy="11684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9050">
            <a:solidFill>
              <a:srgbClr val="FF67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5000" y="2387600"/>
            <a:ext cx="838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71717"/>
                </a:solidFill>
                <a:latin typeface="Arial"/>
              </a:rPr>
              <a:t>Level 1: Global LP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9000" y="2717800"/>
            <a:ext cx="79756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Attempts to solve all dimensions simultaneously.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Objective: minimize deviation from 1.0 + rank penalty + slack.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Outcome: zero privacy violations, lowest system-wide distortion.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30900" y="3467100"/>
            <a:ext cx="330200" cy="279400"/>
          </a:xfrm>
          <a:prstGeom prst="downArrow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400" y="3479800"/>
            <a:ext cx="35560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F37021"/>
                </a:solidFill>
                <a:latin typeface="Arial"/>
              </a:rPr>
              <a:t>If structurally infeasible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1000" y="3810000"/>
            <a:ext cx="8890000" cy="9398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9050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5000" y="3937000"/>
            <a:ext cx="838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71717"/>
                </a:solidFill>
                <a:latin typeface="Arial"/>
              </a:rPr>
              <a:t>Level 2: Subset Search &amp; Per-Dimension 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9000" y="4267200"/>
            <a:ext cx="79756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Greedily finds the largest feasible subset of dimensions.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Drops conflicting dimensions to independent solvers.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30900" y="4787900"/>
            <a:ext cx="330200" cy="279400"/>
          </a:xfrm>
          <a:prstGeom prst="downArrow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400" y="4800600"/>
            <a:ext cx="35560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F37021"/>
                </a:solidFill>
                <a:latin typeface="Arial"/>
              </a:rPr>
              <a:t>If strict LP fails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51000" y="5130800"/>
            <a:ext cx="8890000" cy="11684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9050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05000" y="5257800"/>
            <a:ext cx="838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71717"/>
                </a:solidFill>
                <a:latin typeface="Arial"/>
              </a:rPr>
              <a:t>Level 3: Bayesian / Heuristic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9000" y="5588000"/>
            <a:ext cx="79756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Utilizes L-BFGS-B scipy.minimize.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Engages on edge-case categories.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00" b="0" i="0">
                <a:solidFill>
                  <a:srgbClr val="171717"/>
                </a:solidFill>
                <a:latin typeface="Arial"/>
              </a:rPr>
              <a:t>Guarantees an output under extreme data sparsity.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21" name="Oval 20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Auto-Applied Control 3.2 Caps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The engine autonomously selects the appropriate regulatory rule based on available peer data — no manual configuration required.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82600" y="2260600"/>
          <a:ext cx="11226800" cy="3581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1905000"/>
                <a:gridCol w="3238500"/>
                <a:gridCol w="4178300"/>
              </a:tblGrid>
              <a:tr h="5334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Rule Name</a:t>
                      </a:r>
                    </a:p>
                  </a:txBody>
                  <a:tcPr anchor="ctr" marL="152400" marR="101600">
                    <a:solidFill>
                      <a:srgbClr val="1F2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Min Peers</a:t>
                      </a:r>
                    </a:p>
                  </a:txBody>
                  <a:tcPr anchor="ctr" marL="152400" marR="101600">
                    <a:solidFill>
                      <a:srgbClr val="1F2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Max Concentration Cap</a:t>
                      </a:r>
                    </a:p>
                  </a:txBody>
                  <a:tcPr anchor="ctr" marL="152400" marR="101600">
                    <a:solidFill>
                      <a:srgbClr val="1F2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Trigger Condition</a:t>
                      </a:r>
                    </a:p>
                  </a:txBody>
                  <a:tcPr anchor="ctr" marL="152400" marR="101600">
                    <a:solidFill>
                      <a:srgbClr val="1F2D5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717"/>
                          </a:solidFill>
                          <a:latin typeface="Arial"/>
                        </a:rPr>
                        <a:t>5/25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Baseline standard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717"/>
                          </a:solidFill>
                          <a:latin typeface="Arial"/>
                        </a:rPr>
                        <a:t>6/30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≥ 3 participants at ≥ 7%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717"/>
                          </a:solidFill>
                          <a:latin typeface="Arial"/>
                        </a:rPr>
                        <a:t>7/35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≥ 2 at ≥ 15%, plus ≥ 1 at ≥ 8%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717"/>
                          </a:solidFill>
                          <a:latin typeface="Arial"/>
                        </a:rPr>
                        <a:t>10/40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≥ 2 at ≥ 20%, plus ≥ 1 at ≥ 10%</a:t>
                      </a:r>
                    </a:p>
                  </a:txBody>
                  <a:tcPr anchor="ctr" marL="152400" marR="101600" marT="50800" marB="50800">
                    <a:solidFill>
                      <a:srgbClr val="F7F6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717"/>
                          </a:solidFill>
                          <a:latin typeface="Arial"/>
                        </a:rPr>
                        <a:t>4/35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71717"/>
                          </a:solidFill>
                          <a:latin typeface="Arial"/>
                        </a:rPr>
                        <a:t>Merchant benchmarking mode only</a:t>
                      </a:r>
                    </a:p>
                  </a:txBody>
                  <a:tcPr anchor="ctr" marL="1524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8" name="Oval 7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Tailoring the Engine: Strategic Presets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Out-of-the-box configurations mapped to specific business intents.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2600" y="2133600"/>
            <a:ext cx="2616200" cy="3810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2600" y="2133600"/>
            <a:ext cx="2616200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38400"/>
            <a:ext cx="2209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171717"/>
                </a:solidFill>
                <a:latin typeface="Arial"/>
              </a:rPr>
              <a:t>Balanced Default</a:t>
            </a:r>
          </a:p>
          <a:p>
            <a:r>
              <a:rPr sz="1050" b="0" i="0">
                <a:solidFill>
                  <a:srgbClr val="1F2D52"/>
                </a:solidFill>
                <a:latin typeface="Consolas"/>
              </a:rPr>
              <a:t>balanced_default.yaml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30600"/>
            <a:ext cx="22098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00" b="1" i="0">
                <a:solidFill>
                  <a:srgbClr val="171717"/>
                </a:solidFill>
                <a:latin typeface="Arial"/>
              </a:rPr>
              <a:t>Use Case: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Day-to-day general business analysis.</a:t>
            </a:r>
          </a:p>
          <a:p>
            <a:pPr>
              <a:lnSpc>
                <a:spcPct val="112000"/>
              </a:lnSpc>
            </a:pPr>
            <a:r>
              <a:rPr sz="1200" b="1" i="0">
                <a:solidFill>
                  <a:srgbClr val="171717"/>
                </a:solidFill>
                <a:latin typeface="Arial"/>
              </a:rPr>
              <a:t>Posture: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Optimal mix of speed, compliance, and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2800" y="2133600"/>
            <a:ext cx="2616200" cy="3810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2800" y="2133600"/>
            <a:ext cx="2616200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0" y="2438400"/>
            <a:ext cx="2209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171717"/>
                </a:solidFill>
                <a:latin typeface="Arial"/>
              </a:rPr>
              <a:t>Compliance Strict</a:t>
            </a:r>
          </a:p>
          <a:p>
            <a:r>
              <a:rPr sz="1050" b="0" i="0">
                <a:solidFill>
                  <a:srgbClr val="1F2D52"/>
                </a:solidFill>
                <a:latin typeface="Consolas"/>
              </a:rPr>
              <a:t>compliance_strict.yaml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0" y="3530600"/>
            <a:ext cx="22098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00" b="1" i="0">
                <a:solidFill>
                  <a:srgbClr val="171717"/>
                </a:solidFill>
                <a:latin typeface="Arial"/>
              </a:rPr>
              <a:t>Use Case: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Regulatory and audit-first submissions.</a:t>
            </a:r>
          </a:p>
          <a:p>
            <a:pPr>
              <a:lnSpc>
                <a:spcPct val="112000"/>
              </a:lnSpc>
            </a:pPr>
            <a:r>
              <a:rPr sz="1200" b="1" i="0">
                <a:solidFill>
                  <a:srgbClr val="171717"/>
                </a:solidFill>
                <a:latin typeface="Arial"/>
              </a:rPr>
              <a:t>Posture: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Zero tolerance for threshold deviations; robust audit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000" y="2133600"/>
            <a:ext cx="2616200" cy="3810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3000" y="2133600"/>
            <a:ext cx="2616200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2438400"/>
            <a:ext cx="2209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171717"/>
                </a:solidFill>
                <a:latin typeface="Arial"/>
              </a:rPr>
              <a:t>Strategic Consistency</a:t>
            </a:r>
          </a:p>
          <a:p>
            <a:r>
              <a:rPr sz="1050" b="0" i="0">
                <a:solidFill>
                  <a:srgbClr val="1F2D52"/>
                </a:solidFill>
                <a:latin typeface="Consolas"/>
              </a:rPr>
              <a:t>strategic_consistency.yaml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530600"/>
            <a:ext cx="22098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00" b="1" i="0">
                <a:solidFill>
                  <a:srgbClr val="171717"/>
                </a:solidFill>
                <a:latin typeface="Arial"/>
              </a:rPr>
              <a:t>Use Case: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Executive dashboards and KPI tracking.</a:t>
            </a:r>
          </a:p>
          <a:p>
            <a:pPr>
              <a:lnSpc>
                <a:spcPct val="112000"/>
              </a:lnSpc>
            </a:pPr>
            <a:r>
              <a:rPr sz="1200" b="1" i="0">
                <a:solidFill>
                  <a:srgbClr val="171717"/>
                </a:solidFill>
                <a:latin typeface="Arial"/>
              </a:rPr>
              <a:t>Posture: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Emphasizes consistent global weighting behavior over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3200" y="2133600"/>
            <a:ext cx="2616200" cy="3810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3200" y="2133600"/>
            <a:ext cx="2616200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6400" y="2438400"/>
            <a:ext cx="2209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171717"/>
                </a:solidFill>
                <a:latin typeface="Arial"/>
              </a:rPr>
              <a:t>Research Exploratory</a:t>
            </a:r>
          </a:p>
          <a:p>
            <a:r>
              <a:rPr sz="1050" b="0" i="0">
                <a:solidFill>
                  <a:srgbClr val="1F2D52"/>
                </a:solidFill>
                <a:latin typeface="Consolas"/>
              </a:rPr>
              <a:t>research_exploratory.yaml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6400" y="3530600"/>
            <a:ext cx="22098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00" b="1" i="0">
                <a:solidFill>
                  <a:srgbClr val="171717"/>
                </a:solidFill>
                <a:latin typeface="Arial"/>
              </a:rPr>
              <a:t>Use Case: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Hard, sparse, or highly skewed datasets.</a:t>
            </a:r>
          </a:p>
          <a:p>
            <a:pPr>
              <a:lnSpc>
                <a:spcPct val="112000"/>
              </a:lnSpc>
            </a:pPr>
            <a:r>
              <a:rPr sz="1200" b="1" i="0">
                <a:solidFill>
                  <a:srgbClr val="171717"/>
                </a:solidFill>
                <a:latin typeface="Arial"/>
              </a:rPr>
              <a:t>Posture: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Higher flexibility to uncover underlying market trends.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23" name="Oval 22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The Analyst Experience: Visual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v3.0 introduces a robust TUI, eliminating pure-CLI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0" y="2260600"/>
            <a:ext cx="5588000" cy="368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10000" y="2260600"/>
            <a:ext cx="5588000" cy="431800"/>
          </a:xfrm>
          <a:prstGeom prst="roundRect">
            <a:avLst>
              <a:gd name="adj" fmla="val 6000"/>
            </a:avLst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0" y="2260600"/>
            <a:ext cx="5588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ANALYST VALIDATION DASHBOARD –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4013200" y="2844800"/>
            <a:ext cx="5181600" cy="355600"/>
          </a:xfrm>
          <a:prstGeom prst="rect">
            <a:avLst/>
          </a:prstGeom>
          <a:solidFill>
            <a:srgbClr val="F7F6F4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44800"/>
            <a:ext cx="49784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171717"/>
                </a:solidFill>
                <a:latin typeface="Consolas"/>
              </a:rPr>
              <a:t>SCHEMA CHECK: PASS      NULL DETECTION: PASS      PEER CONSTRAINTS: VALIDATING...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13200" y="3327400"/>
            <a:ext cx="1905000" cy="1905000"/>
          </a:xfrm>
          <a:prstGeom prst="rect">
            <a:avLst/>
          </a:prstGeom>
          <a:solidFill>
            <a:srgbClr val="F7F6F4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3429000"/>
            <a:ext cx="17780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 i="0">
                <a:solidFill>
                  <a:srgbClr val="595959"/>
                </a:solidFill>
                <a:latin typeface="Consolas"/>
              </a:rPr>
              <a:t>CONFIGURATION</a:t>
            </a:r>
          </a:p>
          <a:p>
            <a:pPr>
              <a:spcAft>
                <a:spcPts val="400"/>
              </a:spcAft>
            </a:pPr>
            <a:r>
              <a:rPr sz="850" b="0" i="0">
                <a:solidFill>
                  <a:srgbClr val="171717"/>
                </a:solidFill>
                <a:latin typeface="Consolas"/>
              </a:rPr>
              <a:t>Entity ID: [SELECT]</a:t>
            </a:r>
          </a:p>
          <a:p>
            <a:pPr>
              <a:spcAft>
                <a:spcPts val="400"/>
              </a:spcAft>
            </a:pPr>
            <a:r>
              <a:rPr sz="850" b="0" i="0">
                <a:solidFill>
                  <a:srgbClr val="171717"/>
                </a:solidFill>
                <a:latin typeface="Consolas"/>
              </a:rPr>
              <a:t>Metric:    [SELECT]</a:t>
            </a:r>
          </a:p>
          <a:p>
            <a:r>
              <a:rPr sz="850" b="0" i="0">
                <a:solidFill>
                  <a:srgbClr val="171717"/>
                </a:solidFill>
                <a:latin typeface="Consolas"/>
              </a:rPr>
              <a:t>Dimension: [SELECT]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0600" y="3327400"/>
            <a:ext cx="3124200" cy="1905000"/>
          </a:xfrm>
          <a:prstGeom prst="rect">
            <a:avLst/>
          </a:prstGeom>
          <a:solidFill>
            <a:srgbClr val="F7F6F4"/>
          </a:solidFill>
          <a:ln w="9525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3429000"/>
            <a:ext cx="2921000" cy="177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 i="0">
                <a:solidFill>
                  <a:srgbClr val="595959"/>
                </a:solidFill>
                <a:latin typeface="Consolas"/>
              </a:rPr>
              <a:t>DATA PREVIEW</a:t>
            </a:r>
          </a:p>
          <a:p>
            <a:pPr>
              <a:spcAft>
                <a:spcPts val="300"/>
              </a:spcAft>
            </a:pPr>
            <a:r>
              <a:rPr sz="850" b="0" i="0">
                <a:solidFill>
                  <a:srgbClr val="171717"/>
                </a:solidFill>
                <a:latin typeface="Consolas"/>
              </a:rPr>
              <a:t>E123  2024-05-20  150.5  VALID</a:t>
            </a:r>
          </a:p>
          <a:p>
            <a:pPr>
              <a:spcAft>
                <a:spcPts val="300"/>
              </a:spcAft>
            </a:pPr>
            <a:r>
              <a:rPr sz="850" b="0" i="0">
                <a:solidFill>
                  <a:srgbClr val="171717"/>
                </a:solidFill>
                <a:latin typeface="Consolas"/>
              </a:rPr>
              <a:t>E124  2024-05-20  150.5  VALID</a:t>
            </a:r>
          </a:p>
          <a:p>
            <a:r>
              <a:rPr sz="850" b="0" i="0">
                <a:solidFill>
                  <a:srgbClr val="171717"/>
                </a:solidFill>
                <a:latin typeface="Consolas"/>
              </a:rPr>
              <a:t>E125  2024-05-20  150.5  VALID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13200" y="5359400"/>
            <a:ext cx="5181600" cy="558800"/>
          </a:xfrm>
          <a:prstGeom prst="rect">
            <a:avLst/>
          </a:prstGeom>
          <a:solidFill>
            <a:srgbClr val="1B1B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5359400"/>
            <a:ext cx="49784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F79E1B"/>
                </a:solidFill>
                <a:latin typeface="Consolas"/>
              </a:rPr>
              <a:t>[10:00:02] WARN: schema mismatch, auto-fixing...</a:t>
            </a:r>
          </a:p>
          <a:p>
            <a:r>
              <a:rPr sz="800" b="0" i="0">
                <a:solidFill>
                  <a:srgbClr val="FF6B6B"/>
                </a:solidFill>
                <a:latin typeface="Consolas"/>
              </a:rPr>
              <a:t>[10:00:03] ERROR: peer constraint E456 &lt; min_peers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" y="2413000"/>
            <a:ext cx="31115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F37021"/>
                </a:solidFill>
                <a:latin typeface="Arial"/>
              </a:rPr>
              <a:t>1. Validation-First Workflow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Catches nulls, schema errors, and peer constraints before running heavy optimizations.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600" y="4572000"/>
            <a:ext cx="31115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F37021"/>
                </a:solidFill>
                <a:latin typeface="Arial"/>
              </a:rPr>
              <a:t>2. Intuitive Configuration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Dropdown selections for Entity IDs, Metrics, and Dimensions.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0" y="2413000"/>
            <a:ext cx="20574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F37021"/>
                </a:solidFill>
                <a:latin typeface="Arial"/>
              </a:rPr>
              <a:t>3. Real-time Diagnostics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Integrated log handling prevents UI freezes during background thread processing.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2000" y="4572000"/>
            <a:ext cx="20574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F37021"/>
                </a:solidFill>
                <a:latin typeface="Arial"/>
              </a:rPr>
              <a:t>4. Instant Overrides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Toggle advanced panels (Ctrl+A) to inject custom rules instantly.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22" name="Oval 21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Resource Management: Adaptive Batching &amp; Lean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Engineered for memory-limited environments and massive datasets.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2600" y="2286000"/>
            <a:ext cx="2616200" cy="2921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1200" y="2540000"/>
            <a:ext cx="508000" cy="508000"/>
          </a:xfrm>
          <a:prstGeom prst="ellipse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" y="25400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251200"/>
            <a:ext cx="2159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 i="0">
                <a:solidFill>
                  <a:srgbClr val="171717"/>
                </a:solidFill>
                <a:latin typeface="Arial"/>
              </a:rPr>
              <a:t>Estimate &amp;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3886200"/>
            <a:ext cx="2159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Reads header, drops unused columns, estimates memory load.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36900" y="3619500"/>
            <a:ext cx="177800" cy="2540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52800" y="2286000"/>
            <a:ext cx="2616200" cy="2921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81400" y="2540000"/>
            <a:ext cx="508000" cy="508000"/>
          </a:xfrm>
          <a:prstGeom prst="ellipse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1400" y="25400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3251200"/>
            <a:ext cx="2159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 i="0">
                <a:solidFill>
                  <a:srgbClr val="171717"/>
                </a:solidFill>
                <a:latin typeface="Arial"/>
              </a:rPr>
              <a:t>Adaptive Chunking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400" y="3886200"/>
            <a:ext cx="2159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Streams heavy CSVs in 100k-row chunks.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07100" y="3619500"/>
            <a:ext cx="177800" cy="2540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000" y="2286000"/>
            <a:ext cx="2616200" cy="2921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51600" y="2540000"/>
            <a:ext cx="508000" cy="508000"/>
          </a:xfrm>
          <a:prstGeom prst="ellipse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25400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251200"/>
            <a:ext cx="2159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 i="0">
                <a:solidFill>
                  <a:srgbClr val="171717"/>
                </a:solidFill>
                <a:latin typeface="Arial"/>
              </a:rPr>
              <a:t>Pre-Aggregation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886200"/>
            <a:ext cx="2159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Consolidates duplicate entity/dimension/time rows on the fly.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77300" y="3619500"/>
            <a:ext cx="177800" cy="2540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3200" y="2286000"/>
            <a:ext cx="2616200" cy="2921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21800" y="2540000"/>
            <a:ext cx="508000" cy="508000"/>
          </a:xfrm>
          <a:prstGeom prst="ellipse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1800" y="25400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1800" y="3251200"/>
            <a:ext cx="2159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 i="0">
                <a:solidFill>
                  <a:srgbClr val="171717"/>
                </a:solidFill>
                <a:latin typeface="Arial"/>
              </a:rPr>
              <a:t>Lean Execution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1800" y="3886200"/>
            <a:ext cx="2159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Disables heavy secondary artifacts to focus 100% compute on global optimization.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2600" y="5359400"/>
            <a:ext cx="11226800" cy="736600"/>
          </a:xfrm>
          <a:prstGeom prst="roundRect">
            <a:avLst>
              <a:gd name="adj" fmla="val 6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" y="5359400"/>
            <a:ext cx="112268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Takeaway: </a:t>
            </a:r>
            <a:r>
              <a:rPr sz="1400" b="0" i="0">
                <a:solidFill>
                  <a:srgbClr val="FFFFFF"/>
                </a:solidFill>
                <a:latin typeface="Arial"/>
              </a:rPr>
              <a:t>Uncompromised privacy cap enforcement with a fraction of the memory footprint.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32" name="Oval 31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Unprecedented Visibility into Distortion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is the true cost of meeting privacy caps?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2600" y="2286000"/>
            <a:ext cx="6350000" cy="38100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0600" y="2667000"/>
            <a:ext cx="19050" cy="279400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0600" y="5461000"/>
            <a:ext cx="5334000" cy="1905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327150" y="3517900"/>
            <a:ext cx="885190" cy="603250"/>
          </a:xfrm>
          <a:prstGeom prst="bentConnector3">
            <a:avLst/>
          </a:prstGeom>
          <a:ln w="2857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12340" y="3517900"/>
            <a:ext cx="937260" cy="289560"/>
          </a:xfrm>
          <a:prstGeom prst="bentConnector3">
            <a:avLst/>
          </a:prstGeom>
          <a:ln w="2857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149600" y="3397250"/>
            <a:ext cx="937260" cy="410210"/>
          </a:xfrm>
          <a:prstGeom prst="bentConnector3">
            <a:avLst/>
          </a:prstGeom>
          <a:ln w="2857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086860" y="3397250"/>
            <a:ext cx="1041400" cy="482600"/>
          </a:xfrm>
          <a:prstGeom prst="bentConnector3">
            <a:avLst/>
          </a:prstGeom>
          <a:ln w="2857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28260" y="3879850"/>
            <a:ext cx="885190" cy="361950"/>
          </a:xfrm>
          <a:prstGeom prst="bentConnector3">
            <a:avLst/>
          </a:prstGeom>
          <a:ln w="28575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327150" y="4048760"/>
            <a:ext cx="885190" cy="434340"/>
          </a:xfrm>
          <a:prstGeom prst="bentConnector3">
            <a:avLst/>
          </a:prstGeom>
          <a:ln w="28575">
            <a:solidFill>
              <a:srgbClr val="1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212340" y="4048760"/>
            <a:ext cx="937260" cy="144780"/>
          </a:xfrm>
          <a:prstGeom prst="bentConnector3">
            <a:avLst/>
          </a:prstGeom>
          <a:ln w="28575">
            <a:solidFill>
              <a:srgbClr val="1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49600" y="4000500"/>
            <a:ext cx="937260" cy="193040"/>
          </a:xfrm>
          <a:prstGeom prst="bentConnector3">
            <a:avLst/>
          </a:prstGeom>
          <a:ln w="28575">
            <a:solidFill>
              <a:srgbClr val="1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86860" y="4000500"/>
            <a:ext cx="1041400" cy="289560"/>
          </a:xfrm>
          <a:prstGeom prst="bentConnector3">
            <a:avLst/>
          </a:prstGeom>
          <a:ln w="28575">
            <a:solidFill>
              <a:srgbClr val="1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28260" y="4290060"/>
            <a:ext cx="885190" cy="289560"/>
          </a:xfrm>
          <a:prstGeom prst="bentConnector3">
            <a:avLst/>
          </a:prstGeom>
          <a:ln w="28575">
            <a:solidFill>
              <a:srgbClr val="1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06600" y="2540000"/>
            <a:ext cx="203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595959"/>
                </a:solidFill>
                <a:latin typeface="Arial"/>
              </a:rPr>
              <a:t>Raw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876800"/>
            <a:ext cx="2286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F2D52"/>
                </a:solidFill>
                <a:latin typeface="Arial"/>
              </a:rPr>
              <a:t>Balanced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4191000"/>
            <a:ext cx="203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71717"/>
                </a:solidFill>
                <a:latin typeface="Arial"/>
              </a:rPr>
              <a:t>Δ Distortion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3600" y="2286000"/>
            <a:ext cx="4495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13600" y="2286000"/>
            <a:ext cx="63500" cy="9144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200" y="2387600"/>
            <a:ext cx="40640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171717"/>
                </a:solidFill>
                <a:latin typeface="Arial"/>
              </a:rPr>
              <a:t>Distortion Analysis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595959"/>
                </a:solidFill>
                <a:latin typeface="Arial"/>
              </a:rPr>
              <a:t>v3.0 automatically calculates the percentage-point delta between raw market truth and compliant reporting.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3600" y="3327400"/>
            <a:ext cx="4495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13600" y="3327400"/>
            <a:ext cx="63500" cy="9144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2200" y="3429000"/>
            <a:ext cx="40640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171717"/>
                </a:solidFill>
                <a:latin typeface="Arial"/>
              </a:rPr>
              <a:t>Rank Change Tracking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595959"/>
                </a:solidFill>
                <a:latin typeface="Arial"/>
              </a:rPr>
              <a:t>A dedicated output sheet tracks exact rank shifts before and after weighting.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13600" y="4368800"/>
            <a:ext cx="4495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13600" y="4368800"/>
            <a:ext cx="63500" cy="9144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2200" y="4470400"/>
            <a:ext cx="40640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171717"/>
                </a:solidFill>
                <a:latin typeface="Arial"/>
              </a:rPr>
              <a:t>Preset Comparison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595959"/>
                </a:solidFill>
                <a:latin typeface="Arial"/>
              </a:rPr>
              <a:t>Run --compare-presets to generate a matrix showing which configuration yields the lowest mean distortion for a dataset.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13600" y="5410200"/>
            <a:ext cx="4495800" cy="7366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16800" y="5410200"/>
            <a:ext cx="40894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 i="0">
                <a:solidFill>
                  <a:srgbClr val="1F2D52"/>
                </a:solidFill>
                <a:latin typeface="Arial"/>
              </a:rPr>
              <a:t>Insight: </a:t>
            </a:r>
            <a:r>
              <a:rPr sz="1150" b="0" i="0">
                <a:solidFill>
                  <a:srgbClr val="171717"/>
                </a:solidFill>
                <a:latin typeface="Arial"/>
              </a:rPr>
              <a:t>We don't just enforce rules; we quantify the mathematical impact of those rules on our intelligence.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34" name="Oval 33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Embedded Policy Enforcement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The system actively guards against unauthorized data combinations.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600" y="2286000"/>
            <a:ext cx="3302000" cy="508000"/>
          </a:xfrm>
          <a:prstGeom prst="rect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0400" y="2286000"/>
            <a:ext cx="304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Arial"/>
              </a:rPr>
              <a:t>Data 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3784600" y="2286000"/>
            <a:ext cx="5334000" cy="508000"/>
          </a:xfrm>
          <a:prstGeom prst="rect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2400" y="2286000"/>
            <a:ext cx="5080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Arial"/>
              </a:rPr>
              <a:t>Policy Condition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18600" y="2286000"/>
            <a:ext cx="2794000" cy="508000"/>
          </a:xfrm>
          <a:prstGeom prst="rect">
            <a:avLst/>
          </a:prstGeom>
          <a:solidFill>
            <a:srgbClr val="1F2D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96400" y="2286000"/>
            <a:ext cx="2540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Arial"/>
              </a:rPr>
              <a:t>Status Badge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600" y="2794000"/>
            <a:ext cx="33020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84600" y="2794000"/>
            <a:ext cx="53340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18600" y="2794000"/>
            <a:ext cx="27940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2794000"/>
            <a:ext cx="3048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Fraud/Chargebacks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2794000"/>
            <a:ext cx="5080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171717"/>
                </a:solidFill>
                <a:latin typeface="Consolas"/>
              </a:rPr>
              <a:t>Must set privacy_basis: clearing_spend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6780" y="2997200"/>
            <a:ext cx="1437640" cy="33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96780" y="2997200"/>
            <a:ext cx="143764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F2D52"/>
                </a:solidFill>
                <a:latin typeface="Consolas"/>
              </a:rPr>
              <a:t>[ENFORCED]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600" y="3530600"/>
            <a:ext cx="3302000" cy="7366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84600" y="3530600"/>
            <a:ext cx="5334000" cy="7366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600" y="3530600"/>
            <a:ext cx="2794000" cy="7366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400" y="3530600"/>
            <a:ext cx="3048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Digital Wallets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2400" y="3530600"/>
            <a:ext cx="5080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171717"/>
                </a:solidFill>
                <a:latin typeface="Consolas"/>
              </a:rPr>
              <a:t>Requires explicit Privacy team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48140" y="3733800"/>
            <a:ext cx="2534920" cy="33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3702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8140" y="3733800"/>
            <a:ext cx="253492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37021"/>
                </a:solidFill>
                <a:latin typeface="Consolas"/>
              </a:rPr>
              <a:t>[MANUAL APPROVAL REQUIRED]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2600" y="4267200"/>
            <a:ext cx="33020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84600" y="4267200"/>
            <a:ext cx="53340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18600" y="4267200"/>
            <a:ext cx="27940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400" y="4267200"/>
            <a:ext cx="3048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Dual-Entity-Axis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4267200"/>
            <a:ext cx="5080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171717"/>
                </a:solidFill>
                <a:latin typeface="Consolas"/>
              </a:rPr>
              <a:t>Requires explicit Privacy team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48140" y="4470400"/>
            <a:ext cx="2534920" cy="33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3702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8140" y="4470400"/>
            <a:ext cx="253492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37021"/>
                </a:solidFill>
                <a:latin typeface="Consolas"/>
              </a:rPr>
              <a:t>[MANUAL APPROVAL REQUIRED]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2600" y="5003800"/>
            <a:ext cx="3302000" cy="7366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84600" y="5003800"/>
            <a:ext cx="5334000" cy="7366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18600" y="5003800"/>
            <a:ext cx="2794000" cy="7366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400" y="5003800"/>
            <a:ext cx="3048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171717"/>
                </a:solidFill>
                <a:latin typeface="Arial"/>
              </a:rPr>
              <a:t>Top-Merchant Lists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2400" y="5003800"/>
            <a:ext cx="50800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171717"/>
                </a:solidFill>
                <a:latin typeface="Consolas"/>
              </a:rPr>
              <a:t>Strictly prohibited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59620" y="5207000"/>
            <a:ext cx="1711960" cy="330200"/>
          </a:xfrm>
          <a:prstGeom prst="roundRect">
            <a:avLst>
              <a:gd name="adj" fmla="val 6000"/>
            </a:avLst>
          </a:prstGeom>
          <a:solidFill>
            <a:srgbClr val="333333"/>
          </a:solidFill>
          <a:ln w="15875">
            <a:solidFill>
              <a:srgbClr val="3333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59620" y="5207000"/>
            <a:ext cx="171196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onsolas"/>
              </a:rPr>
              <a:t>[HARD BLOCKED]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41" name="Oval 40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Actionable Intelligence &amp; Audit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Three deliverables move compliant data straight into decisions and audits.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2600" y="2260600"/>
            <a:ext cx="3539066" cy="37592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2600" y="2260600"/>
            <a:ext cx="3539066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600" y="2616200"/>
            <a:ext cx="3031066" cy="8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171717"/>
                </a:solidFill>
                <a:latin typeface="Arial"/>
              </a:rPr>
              <a:t>1. The Excel Report</a:t>
            </a:r>
          </a:p>
          <a:p>
            <a:r>
              <a:rPr sz="1300" b="0" i="0">
                <a:solidFill>
                  <a:srgbClr val="1F2D52"/>
                </a:solidFill>
                <a:latin typeface="Consolas"/>
              </a:rPr>
              <a:t>(.xlsx)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600" y="3479800"/>
            <a:ext cx="3031066" cy="1524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3683000"/>
            <a:ext cx="3031066" cy="266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Executive Summary &amp; Metadata.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Category-level comparisons (Target vs. Best-in-Class).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Rank Changes &amp; Weight Methods.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466" y="2260600"/>
            <a:ext cx="3539066" cy="37592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6466" y="2260600"/>
            <a:ext cx="3539066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0466" y="2616200"/>
            <a:ext cx="3031066" cy="8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171717"/>
                </a:solidFill>
                <a:latin typeface="Arial"/>
              </a:rPr>
              <a:t>2. The Balanced Export</a:t>
            </a:r>
          </a:p>
          <a:p>
            <a:r>
              <a:rPr sz="1300" b="0" i="0">
                <a:solidFill>
                  <a:srgbClr val="1F2D52"/>
                </a:solidFill>
                <a:latin typeface="Consolas"/>
              </a:rPr>
              <a:t>(.csv)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0466" y="3479800"/>
            <a:ext cx="3031066" cy="1524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0466" y="3683000"/>
            <a:ext cx="3031066" cy="266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BI-Ready (Tableau, Power BI).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Enriched with calculated metrics (Distortion_PP, Raw_Share).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Schema-validated for parity with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0332" y="2260600"/>
            <a:ext cx="3539066" cy="37592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2700">
            <a:solidFill>
              <a:srgbClr val="E3E1D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0332" y="2260600"/>
            <a:ext cx="3539066" cy="762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4332" y="2616200"/>
            <a:ext cx="3031066" cy="8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171717"/>
                </a:solidFill>
                <a:latin typeface="Arial"/>
              </a:rPr>
              <a:t>3. The Audit Package</a:t>
            </a:r>
          </a:p>
          <a:p>
            <a:r>
              <a:rPr sz="1300" b="0" i="0">
                <a:solidFill>
                  <a:srgbClr val="1F2D52"/>
                </a:solidFill>
                <a:latin typeface="Consolas"/>
              </a:rPr>
              <a:t>(.zip)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24332" y="3479800"/>
            <a:ext cx="3031066" cy="1524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4332" y="3683000"/>
            <a:ext cx="3031066" cy="266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Immutable snapshot of inputs, config, and validation logs.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250" b="0" i="0">
                <a:solidFill>
                  <a:srgbClr val="171717"/>
                </a:solidFill>
                <a:latin typeface="Arial"/>
              </a:rPr>
              <a:t>Ready for immediate regulatory submission.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22" name="Oval 21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Zero Trust, Verified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219200"/>
            <a:ext cx="11226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Our release pipeline ensures absolute mathematical integrity.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6900" y="2286000"/>
            <a:ext cx="2387600" cy="6858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6900" y="2286000"/>
            <a:ext cx="238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71717"/>
                </a:solidFill>
                <a:latin typeface="Arial"/>
              </a:rPr>
              <a:t>Code Commit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1500" y="2514600"/>
            <a:ext cx="228600" cy="2286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67100" y="2286000"/>
            <a:ext cx="2387600" cy="6858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7100" y="2286000"/>
            <a:ext cx="238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71717"/>
                </a:solidFill>
                <a:latin typeface="Arial"/>
              </a:rPr>
              <a:t>GitHub Actions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1700" y="2514600"/>
            <a:ext cx="228600" cy="2286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37300" y="2286000"/>
            <a:ext cx="2387600" cy="6858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7300" y="2286000"/>
            <a:ext cx="238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71717"/>
                </a:solidFill>
                <a:latin typeface="Arial"/>
              </a:rPr>
              <a:t>Gate Tests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51900" y="2514600"/>
            <a:ext cx="228600" cy="228600"/>
          </a:xfrm>
          <a:prstGeom prst="rightArrow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07500" y="2286000"/>
            <a:ext cx="2387600" cy="685800"/>
          </a:xfrm>
          <a:prstGeom prst="roundRect">
            <a:avLst>
              <a:gd name="adj" fmla="val 6000"/>
            </a:avLst>
          </a:prstGeom>
          <a:solidFill>
            <a:srgbClr val="F7F6F4"/>
          </a:solidFill>
          <a:ln w="15875">
            <a:solidFill>
              <a:srgbClr val="1F2D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2286000"/>
            <a:ext cx="238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71717"/>
                </a:solidFill>
                <a:latin typeface="Arial"/>
              </a:rPr>
              <a:t>Validated Release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990600" y="3276600"/>
            <a:ext cx="10210800" cy="203200"/>
          </a:xfrm>
          <a:prstGeom prst="leftArrow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00" y="3556000"/>
            <a:ext cx="1122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C8C8C"/>
                </a:solidFill>
                <a:latin typeface="Arial"/>
              </a:rPr>
              <a:t>continuous validation loop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600" y="3962400"/>
            <a:ext cx="3742266" cy="482600"/>
          </a:xfrm>
          <a:prstGeom prst="rect">
            <a:avLst/>
          </a:prstGeom>
          <a:solidFill>
            <a:srgbClr val="1F2D52"/>
          </a:solidFill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" y="3962400"/>
            <a:ext cx="3437466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Gate Test Suite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2600" y="4445000"/>
            <a:ext cx="3742266" cy="15240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400" y="4597400"/>
            <a:ext cx="3386666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71717"/>
                </a:solidFill>
                <a:latin typeface="Arial"/>
              </a:rPr>
              <a:t>17+ representative scenarios running on every commit.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866" y="3962400"/>
            <a:ext cx="3742266" cy="482600"/>
          </a:xfrm>
          <a:prstGeom prst="rect">
            <a:avLst/>
          </a:prstGeom>
          <a:solidFill>
            <a:srgbClr val="1F2D52"/>
          </a:solidFill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2666" y="3962400"/>
            <a:ext cx="3437466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Mathematical Parity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4866" y="4445000"/>
            <a:ext cx="3742266" cy="15240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2666" y="4597400"/>
            <a:ext cx="3386666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71717"/>
                </a:solidFill>
                <a:latin typeface="Arial"/>
              </a:rPr>
              <a:t>Automated cross-checking ensures CSV exports match Control 3.2 compliant Excel outputs to an exact 0.01% tolerance threshold.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67132" y="3962400"/>
            <a:ext cx="3742266" cy="482600"/>
          </a:xfrm>
          <a:prstGeom prst="rect">
            <a:avLst/>
          </a:prstGeom>
          <a:solidFill>
            <a:srgbClr val="1F2D52"/>
          </a:solidFill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44932" y="3962400"/>
            <a:ext cx="3437466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Immutable Offline Deployments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67132" y="4445000"/>
            <a:ext cx="3742266" cy="1524000"/>
          </a:xfrm>
          <a:prstGeom prst="rect">
            <a:avLst/>
          </a:prstGeom>
          <a:solidFill>
            <a:srgbClr val="F7F6F4"/>
          </a:solidFill>
          <a:ln w="6350">
            <a:solidFill>
              <a:srgbClr val="D2D2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44932" y="4597400"/>
            <a:ext cx="3386666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71717"/>
                </a:solidFill>
                <a:latin typeface="Arial"/>
              </a:rPr>
              <a:t>Secure, checksum-verified offline bundling (offline_packages/) for air-gapped or restricted server environments.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32" name="Oval 31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2600" y="5080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1717"/>
                </a:solidFill>
                <a:latin typeface="Arial"/>
              </a:rPr>
              <a:t>Autobench v3.0: Value Realization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1778000"/>
            <a:ext cx="34036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1F2D52"/>
                </a:solidFill>
                <a:latin typeface="Arial"/>
              </a:rPr>
              <a:t>Absolute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2768600"/>
            <a:ext cx="3403600" cy="266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100% adherence to Control 3.2 privacy caps.</a:t>
            </a:r>
          </a:p>
          <a:p>
            <a:pPr>
              <a:lnSpc>
                <a:spcPct val="116000"/>
              </a:lnSpc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Cryptographically verifiable audit trails.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40200" y="1828800"/>
            <a:ext cx="15240" cy="285750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4200" y="1778000"/>
            <a:ext cx="34036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1F2D52"/>
                </a:solidFill>
                <a:latin typeface="Arial"/>
              </a:rPr>
              <a:t>Mathematical Superiority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4200" y="2768600"/>
            <a:ext cx="3403600" cy="266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Industry-leading LP solvers ensure the lowest possible data distortion.</a:t>
            </a:r>
          </a:p>
          <a:p>
            <a:pPr>
              <a:lnSpc>
                <a:spcPct val="116000"/>
              </a:lnSpc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Unlocks insights in sparse datasets that legacy tools abandon.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51800" y="1828800"/>
            <a:ext cx="15240" cy="2857500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5800" y="1778000"/>
            <a:ext cx="34036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1F2D52"/>
                </a:solidFill>
                <a:latin typeface="Arial"/>
              </a:rPr>
              <a:t>Operational Agility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5800" y="2768600"/>
            <a:ext cx="3403600" cy="266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TUI and Lean Mode democratize access and scale to massive datasets.</a:t>
            </a:r>
          </a:p>
          <a:p>
            <a:pPr>
              <a:lnSpc>
                <a:spcPct val="116000"/>
              </a:lnSpc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Arial"/>
              </a:rPr>
              <a:t>• 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Requires no infrastructure bloat.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600" y="5359400"/>
            <a:ext cx="11226800" cy="787400"/>
          </a:xfrm>
          <a:prstGeom prst="roundRect">
            <a:avLst>
              <a:gd name="adj" fmla="val 6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600" y="5359400"/>
            <a:ext cx="112268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Compliant Data is no longer a compromise. It is an exact science.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" y="6477000"/>
            <a:ext cx="152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38000" y="1524000"/>
            <a:ext cx="203200" cy="3556000"/>
          </a:xfrm>
          <a:prstGeom prst="rect">
            <a:avLst/>
          </a:prstGeom>
          <a:noFill/>
        </p:spPr>
        <p:txBody>
          <a:bodyPr wrap="none" lIns="0" rIns="0" vert="vert270">
            <a:spAutoFit/>
          </a:bodyPr>
          <a:lstStyle/>
          <a:p>
            <a:r>
              <a:rPr sz="600">
                <a:solidFill>
                  <a:srgbClr val="8C8C8C"/>
                </a:solidFill>
                <a:latin typeface="Arial"/>
              </a:rPr>
              <a:t>©2025 Mastercard. Proprietary and Confidential</a:t>
            </a:r>
          </a:p>
        </p:txBody>
      </p:sp>
      <p:sp>
        <p:nvSpPr>
          <p:cNvPr id="16" name="Oval 15"/>
          <p:cNvSpPr/>
          <p:nvPr/>
        </p:nvSpPr>
        <p:spPr>
          <a:xfrm>
            <a:off x="11107420" y="6172200"/>
            <a:ext cx="381000" cy="381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28400" y="6172200"/>
            <a:ext cx="381000" cy="381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28400" y="6172200"/>
            <a:ext cx="160020" cy="381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91050" y="2222500"/>
            <a:ext cx="1905000" cy="1905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95950" y="2222500"/>
            <a:ext cx="1905000" cy="1905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95950" y="2222500"/>
            <a:ext cx="800100" cy="1905000"/>
          </a:xfrm>
          <a:prstGeom prst="ellipse">
            <a:avLst/>
          </a:prstGeom>
          <a:solidFill>
            <a:srgbClr val="FF5F00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2600" y="4457700"/>
            <a:ext cx="112268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Autobench v3.0 — Precision. Compliance.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4940300"/>
            <a:ext cx="112268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B0B0B0"/>
                </a:solidFill>
                <a:latin typeface="Arial"/>
              </a:rPr>
              <a:t>Mastercard Advisors – Performance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