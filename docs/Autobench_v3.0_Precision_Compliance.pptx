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embeddings/Microsoft_Excel_Binary_Worksheet.xlsb" ContentType="application/vnd.ms-excel.sheet.binary.macroEnabled.12"/>
  <Override PartName="/ppt/embeddings/oleObject1.bin" ContentType="application/vnd.openxmlformats-officedocument.oleObject"/>
  <Override PartName="/ppt/embeddings/oleObject2.bin" ContentType="application/vnd.openxmlformats-officedocument.oleObject"/>
  <Override PartName="/ppt/media/image10.svg" ContentType="image/svg+xml"/>
  <Override PartName="/ppt/media/image11.svg" ContentType="image/svg+xml"/>
  <Override PartName="/ppt/media/image1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20"/>
  </p:notesMasterIdLst>
  <p:sldIdLst>
    <p:sldId id="256" r:id="rId5"/>
    <p:sldId id="257" r:id="rId6"/>
    <p:sldId id="258" r:id="rId7"/>
    <p:sldId id="259" r:id="rId8"/>
    <p:sldId id="260" r:id="rId9"/>
    <p:sldId id="262" r:id="rId10"/>
    <p:sldId id="263" r:id="rId11"/>
    <p:sldId id="264" r:id="rId12"/>
    <p:sldId id="265" r:id="rId13"/>
    <p:sldId id="266" r:id="rId14"/>
    <p:sldId id="267" r:id="rId15"/>
    <p:sldId id="268" r:id="rId16"/>
    <p:sldId id="2147377205" r:id="rId17"/>
    <p:sldId id="2147377206" r:id="rId18"/>
    <p:sldId id="2147377203" r:id="rId19"/>
  </p:sldIdLst>
  <p:sldSz cx="12192000" cy="6858000"/>
  <p:notesSz cx="6858000" cy="9144000"/>
  <p:embeddedFontLst>
    <p:embeddedFont>
      <p:font typeface="Inter"/>
      <p:regular r:id="rId21"/>
      <p:bold r:id="rId22"/>
    </p:embeddedFont>
    <p:embeddedFont>
      <p:font typeface="Inter Display"/>
      <p:regular r:id="rId23"/>
      <p:bold r:id="rId24"/>
    </p:embeddedFont>
    <p:embeddedFont>
      <p:font typeface="Inter Medium"/>
      <p:regular r:id="rId25"/>
    </p:embeddedFont>
    <p:embeddedFont>
      <p:font typeface="Inter SemiBold"/>
      <p:regular r:id="rId26"/>
    </p:embeddedFont>
    <p:embeddedFont>
      <p:font typeface="Mark Offc For MC" panose="020B0504020101010102" pitchFamily="34" charset="0"/>
      <p:regular r:id="rId27"/>
      <p:bold r:id="rId28"/>
      <p:italic r:id="rId29"/>
      <p:boldItalic r:id="rId30"/>
    </p:embeddedFont>
    <p:embeddedFont>
      <p:font typeface="Mark Offc For MC Heavy" panose="020B0904020101010102" pitchFamily="34" charset="0"/>
      <p:bold r:id="rId31"/>
      <p:boldItalic r:id="rId32"/>
    </p:embeddedFont>
    <p:embeddedFont>
      <p:font typeface="Mark Offc For MC Light" panose="020B0504020101010102" pitchFamily="34" charset="0"/>
      <p:regular r:id="rId33"/>
      <p:italic r:id="rId34"/>
    </p:embeddedFont>
    <p:embeddedFont>
      <p:font typeface="Mark Offc For MC Medium" panose="020B0604020101010102" pitchFamily="34" charset="0"/>
      <p:regular r:id="rId35"/>
      <p:italic r:id="rId36"/>
    </p:embeddedFont>
    <p:embeddedFont>
      <p:font typeface="MarkForMC Nrw O" panose="020B0506020201010104" pitchFamily="34" charset="0"/>
      <p:regular r:id="rId37"/>
      <p:bold r:id="rId38"/>
      <p:italic r:id="rId39"/>
      <p:boldItalic r:id="rId40"/>
    </p:embeddedFont>
  </p:embeddedFontLst>
  <p:custDataLst>
    <p:tags r:id="rId4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D5B5"/>
    <a:srgbClr val="FF671B"/>
    <a:srgbClr val="F9C59A"/>
    <a:srgbClr val="FE7530"/>
    <a:srgbClr val="5B563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E7A127-15AD-4D10-B92A-1AEE57318DB1}" v="328" dt="2026-06-16T15:20:40.190"/>
    <p1510:client id="{F494D550-31E9-4F0C-B3F0-BC92C658B281}" v="23" dt="2026-06-16T14:00:49.901"/>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0" d="100"/>
          <a:sy n="90" d="100"/>
        </p:scale>
        <p:origin x="37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notesMaster" Target="notesMasters/notesMaster1.xml"/><Relationship Id="rId21" Type="http://schemas.openxmlformats.org/officeDocument/2006/relationships/font" Target="fonts/font1.fntdata"/><Relationship Id="rId22" Type="http://schemas.openxmlformats.org/officeDocument/2006/relationships/font" Target="fonts/font2.fntdata"/><Relationship Id="rId23" Type="http://schemas.openxmlformats.org/officeDocument/2006/relationships/font" Target="fonts/font3.fntdata"/><Relationship Id="rId24" Type="http://schemas.openxmlformats.org/officeDocument/2006/relationships/font" Target="fonts/font4.fntdata"/><Relationship Id="rId25" Type="http://schemas.openxmlformats.org/officeDocument/2006/relationships/font" Target="fonts/font5.fntdata"/><Relationship Id="rId26" Type="http://schemas.openxmlformats.org/officeDocument/2006/relationships/font" Target="fonts/font6.fntdata"/><Relationship Id="rId27" Type="http://schemas.openxmlformats.org/officeDocument/2006/relationships/font" Target="fonts/font7.fntdata"/><Relationship Id="rId28" Type="http://schemas.openxmlformats.org/officeDocument/2006/relationships/font" Target="fonts/font8.fntdata"/><Relationship Id="rId29" Type="http://schemas.openxmlformats.org/officeDocument/2006/relationships/font" Target="fonts/font9.fntdata"/><Relationship Id="rId30" Type="http://schemas.openxmlformats.org/officeDocument/2006/relationships/font" Target="fonts/font10.fntdata"/><Relationship Id="rId31" Type="http://schemas.openxmlformats.org/officeDocument/2006/relationships/font" Target="fonts/font11.fntdata"/><Relationship Id="rId32" Type="http://schemas.openxmlformats.org/officeDocument/2006/relationships/font" Target="fonts/font12.fntdata"/><Relationship Id="rId33" Type="http://schemas.openxmlformats.org/officeDocument/2006/relationships/font" Target="fonts/font13.fntdata"/><Relationship Id="rId34" Type="http://schemas.openxmlformats.org/officeDocument/2006/relationships/font" Target="fonts/font14.fntdata"/><Relationship Id="rId35" Type="http://schemas.openxmlformats.org/officeDocument/2006/relationships/font" Target="fonts/font15.fntdata"/><Relationship Id="rId36" Type="http://schemas.openxmlformats.org/officeDocument/2006/relationships/font" Target="fonts/font16.fntdata"/><Relationship Id="rId37" Type="http://schemas.openxmlformats.org/officeDocument/2006/relationships/font" Target="fonts/font17.fntdata"/><Relationship Id="rId38" Type="http://schemas.openxmlformats.org/officeDocument/2006/relationships/font" Target="fonts/font18.fntdata"/><Relationship Id="rId39" Type="http://schemas.openxmlformats.org/officeDocument/2006/relationships/font" Target="fonts/font19.fntdata"/><Relationship Id="rId40" Type="http://schemas.openxmlformats.org/officeDocument/2006/relationships/font" Target="fonts/font20.fntdata"/><Relationship Id="rId41" Type="http://schemas.openxmlformats.org/officeDocument/2006/relationships/tags" Target="tags/tag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46"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1090225563909771E-3"/>
          <c:y val="0.13686026451983899"/>
          <c:w val="0.98778195488721809"/>
          <c:h val="0.76653248993674528"/>
        </c:manualLayout>
      </c:layout>
      <c:barChart>
        <c:barDir val="col"/>
        <c:grouping val="clustered"/>
        <c:varyColors val="0"/>
        <c:ser>
          <c:idx val="0"/>
          <c:order val="0"/>
          <c:spPr>
            <a:solidFill>
              <a:schemeClr val="accent6">
                <a:lumMod val="40000"/>
                <a:lumOff val="60000"/>
              </a:schemeClr>
            </a:solidFill>
            <a:ln>
              <a:noFill/>
            </a:ln>
          </c:spPr>
          <c:invertIfNegative val="0"/>
          <c:dLbls>
            <c:dLbl>
              <c:idx val="0"/>
              <c:layout>
                <c:manualLayout>
                  <c:x val="0"/>
                  <c:y val="-9.2581943645773435E-2"/>
                </c:manualLayout>
              </c:layout>
              <c:numFmt formatCode="#,##0;&quot;-&quot;#,##0" sourceLinked="0"/>
              <c:spPr>
                <a:noFill/>
                <a:ln>
                  <a:noFill/>
                </a:ln>
              </c:spPr>
              <c:txPr>
                <a:bodyPr wrap="none"/>
                <a:lstStyle/>
                <a:p>
                  <a:pPr>
                    <a:defRPr sz="12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E9A8-403A-839F-45B4BFFC5230}"/>
                </c:ext>
              </c:extLst>
            </c:dLbl>
            <c:dLbl>
              <c:idx val="1"/>
              <c:layout>
                <c:manualLayout>
                  <c:x val="0"/>
                  <c:y val="-0.1046578493387004"/>
                </c:manualLayout>
              </c:layout>
              <c:numFmt formatCode="#,##0;&quot;-&quot;#,##0" sourceLinked="0"/>
              <c:spPr>
                <a:noFill/>
                <a:ln>
                  <a:noFill/>
                </a:ln>
              </c:spPr>
              <c:txPr>
                <a:bodyPr wrap="none"/>
                <a:lstStyle/>
                <a:p>
                  <a:pPr>
                    <a:defRPr sz="12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E9A8-403A-839F-45B4BFFC5230}"/>
                </c:ext>
              </c:extLst>
            </c:dLbl>
            <c:dLbl>
              <c:idx val="2"/>
              <c:layout>
                <c:manualLayout>
                  <c:x val="0"/>
                  <c:y val="-0.11500862564692352"/>
                </c:manualLayout>
              </c:layout>
              <c:numFmt formatCode="#,##0;&quot;-&quot;#,##0" sourceLinked="0"/>
              <c:spPr>
                <a:noFill/>
                <a:ln>
                  <a:noFill/>
                </a:ln>
              </c:spPr>
              <c:txPr>
                <a:bodyPr wrap="none"/>
                <a:lstStyle/>
                <a:p>
                  <a:pPr>
                    <a:defRPr sz="12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E9A8-403A-839F-45B4BFFC5230}"/>
                </c:ext>
              </c:extLst>
            </c:dLbl>
            <c:dLbl>
              <c:idx val="3"/>
              <c:layout>
                <c:manualLayout>
                  <c:x val="0"/>
                  <c:y val="-0.36055204140310521"/>
                </c:manualLayout>
              </c:layout>
              <c:numFmt formatCode="#,##0;&quot;-&quot;#,##0" sourceLinked="0"/>
              <c:spPr>
                <a:noFill/>
                <a:ln>
                  <a:noFill/>
                </a:ln>
              </c:spPr>
              <c:txPr>
                <a:bodyPr wrap="none"/>
                <a:lstStyle/>
                <a:p>
                  <a:pPr>
                    <a:defRPr sz="12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E9A8-403A-839F-45B4BFFC5230}"/>
                </c:ext>
              </c:extLst>
            </c:dLbl>
            <c:dLbl>
              <c:idx val="4"/>
              <c:layout>
                <c:manualLayout>
                  <c:x val="0"/>
                  <c:y val="-0.4243818286371478"/>
                </c:manualLayout>
              </c:layout>
              <c:numFmt formatCode="#,##0;&quot;-&quot;#,##0" sourceLinked="0"/>
              <c:spPr>
                <a:noFill/>
                <a:ln>
                  <a:noFill/>
                </a:ln>
              </c:spPr>
              <c:txPr>
                <a:bodyPr wrap="none"/>
                <a:lstStyle/>
                <a:p>
                  <a:pPr>
                    <a:defRPr sz="12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E9A8-403A-839F-45B4BFFC523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Sheet1!$A$1:$E$1</c:f>
              <c:numCache>
                <c:formatCode>General</c:formatCode>
                <c:ptCount val="5"/>
                <c:pt idx="0">
                  <c:v>5</c:v>
                </c:pt>
                <c:pt idx="1">
                  <c:v>6</c:v>
                </c:pt>
                <c:pt idx="2">
                  <c:v>7</c:v>
                </c:pt>
                <c:pt idx="3">
                  <c:v>30</c:v>
                </c:pt>
                <c:pt idx="4">
                  <c:v>36</c:v>
                </c:pt>
              </c:numCache>
            </c:numRef>
          </c:val>
          <c:extLst>
            <c:ext xmlns:c16="http://schemas.microsoft.com/office/drawing/2014/chart" uri="{C3380CC4-5D6E-409C-BE32-E72D297353CC}">
              <c16:uniqueId val="{00000005-E9A8-403A-839F-45B4BFFC5230}"/>
            </c:ext>
          </c:extLst>
        </c:ser>
        <c:ser>
          <c:idx val="1"/>
          <c:order val="1"/>
          <c:spPr>
            <a:solidFill>
              <a:schemeClr val="accent6">
                <a:lumMod val="75000"/>
              </a:schemeClr>
            </a:solidFill>
            <a:ln>
              <a:noFill/>
            </a:ln>
          </c:spPr>
          <c:invertIfNegative val="0"/>
          <c:dLbls>
            <c:dLbl>
              <c:idx val="0"/>
              <c:layout>
                <c:manualLayout>
                  <c:x val="0"/>
                  <c:y val="-7.4755606670500289E-3"/>
                </c:manualLayout>
              </c:layout>
              <c:numFmt formatCode="#,##0;&quot;-&quot;#,##0" sourceLinked="0"/>
              <c:spPr>
                <a:noFill/>
                <a:ln>
                  <a:noFill/>
                </a:ln>
              </c:spPr>
              <c:txPr>
                <a:bodyPr wrap="none"/>
                <a:lstStyle/>
                <a:p>
                  <a:pPr>
                    <a:defRPr sz="12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E9A8-403A-839F-45B4BFFC5230}"/>
                </c:ext>
              </c:extLst>
            </c:dLbl>
            <c:dLbl>
              <c:idx val="1"/>
              <c:layout>
                <c:manualLayout>
                  <c:x val="0"/>
                  <c:y val="-1.8401380103507763E-2"/>
                </c:manualLayout>
              </c:layout>
              <c:numFmt formatCode="#,##0;&quot;-&quot;#,##0" sourceLinked="0"/>
              <c:spPr>
                <a:noFill/>
                <a:ln>
                  <a:noFill/>
                </a:ln>
              </c:spPr>
              <c:txPr>
                <a:bodyPr wrap="none"/>
                <a:lstStyle/>
                <a:p>
                  <a:pPr>
                    <a:defRPr sz="12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E9A8-403A-839F-45B4BFFC5230}"/>
                </c:ext>
              </c:extLst>
            </c:dLbl>
            <c:dLbl>
              <c:idx val="2"/>
              <c:layout>
                <c:manualLayout>
                  <c:x val="0"/>
                  <c:y val="-2.8752156411730879E-2"/>
                </c:manualLayout>
              </c:layout>
              <c:numFmt formatCode="#,##0;&quot;-&quot;#,##0" sourceLinked="0"/>
              <c:spPr>
                <a:noFill/>
                <a:ln>
                  <a:noFill/>
                </a:ln>
              </c:spPr>
              <c:txPr>
                <a:bodyPr wrap="none"/>
                <a:lstStyle/>
                <a:p>
                  <a:pPr>
                    <a:defRPr sz="12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E9A8-403A-839F-45B4BFFC5230}"/>
                </c:ext>
              </c:extLst>
            </c:dLbl>
            <c:dLbl>
              <c:idx val="3"/>
              <c:layout>
                <c:manualLayout>
                  <c:x val="0"/>
                  <c:y val="-0.12075905692926969"/>
                </c:manualLayout>
              </c:layout>
              <c:numFmt formatCode="#,##0;&quot;-&quot;#,##0" sourceLinked="0"/>
              <c:spPr>
                <a:noFill/>
                <a:ln>
                  <a:noFill/>
                </a:ln>
              </c:spPr>
              <c:txPr>
                <a:bodyPr wrap="none"/>
                <a:lstStyle/>
                <a:p>
                  <a:pPr>
                    <a:defRPr sz="12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E9A8-403A-839F-45B4BFFC5230}"/>
                </c:ext>
              </c:extLst>
            </c:dLbl>
            <c:dLbl>
              <c:idx val="4"/>
              <c:layout>
                <c:manualLayout>
                  <c:x val="0"/>
                  <c:y val="-0.13628522139160437"/>
                </c:manualLayout>
              </c:layout>
              <c:numFmt formatCode="#,##0;&quot;-&quot;#,##0" sourceLinked="0"/>
              <c:spPr>
                <a:noFill/>
                <a:ln>
                  <a:noFill/>
                </a:ln>
              </c:spPr>
              <c:txPr>
                <a:bodyPr wrap="none"/>
                <a:lstStyle/>
                <a:p>
                  <a:pPr>
                    <a:defRPr sz="12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E9A8-403A-839F-45B4BFFC523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Sheet1!$A$2:$E$2</c:f>
              <c:numCache>
                <c:formatCode>General</c:formatCode>
                <c:ptCount val="5"/>
                <c:pt idx="0">
                  <c:v>1</c:v>
                </c:pt>
                <c:pt idx="1">
                  <c:v>1.5</c:v>
                </c:pt>
                <c:pt idx="2">
                  <c:v>2</c:v>
                </c:pt>
                <c:pt idx="3">
                  <c:v>7.5</c:v>
                </c:pt>
                <c:pt idx="4">
                  <c:v>9</c:v>
                </c:pt>
              </c:numCache>
            </c:numRef>
          </c:val>
          <c:extLst>
            <c:ext xmlns:c16="http://schemas.microsoft.com/office/drawing/2014/chart" uri="{C3380CC4-5D6E-409C-BE32-E72D297353CC}">
              <c16:uniqueId val="{0000000B-E9A8-403A-839F-45B4BFFC5230}"/>
            </c:ext>
          </c:extLst>
        </c:ser>
        <c:dLbls>
          <c:showLegendKey val="0"/>
          <c:showVal val="0"/>
          <c:showCatName val="0"/>
          <c:showSerName val="0"/>
          <c:showPercent val="0"/>
          <c:showBubbleSize val="0"/>
        </c:dLbls>
        <c:gapWidth val="80"/>
        <c:axId val="409833248"/>
        <c:axId val="1"/>
      </c:barChart>
      <c:catAx>
        <c:axId val="409833248"/>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6"/>
          <c:min val="0"/>
        </c:scaling>
        <c:delete val="1"/>
        <c:axPos val="l"/>
        <c:numFmt formatCode="General" sourceLinked="1"/>
        <c:majorTickMark val="out"/>
        <c:minorTickMark val="none"/>
        <c:tickLblPos val="nextTo"/>
        <c:crossAx val="409833248"/>
        <c:crosses val="min"/>
        <c:crossBetween val="between"/>
      </c:valAx>
    </c:plotArea>
    <c:plotVisOnly val="0"/>
    <c:dispBlanksAs val="gap"/>
    <c:showDLblsOverMax val="1"/>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BB3DAA-0FC4-4F21-8F8E-977715A5FC00}" type="datetimeFigureOut">
              <a:rPr lang="pt-BR" smtClean="0"/>
              <a:t>16/06/2026</a:t>
            </a:fld>
            <a:endParaRPr lang="pt-B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D80FE3-EC8F-4F73-AED0-926AAE50B235}" type="slidenum">
              <a:rPr lang="pt-BR" smtClean="0"/>
              <a:t>‹#›</a:t>
            </a:fld>
            <a:endParaRPr lang="pt-BR"/>
          </a:p>
        </p:txBody>
      </p:sp>
    </p:spTree>
    <p:extLst>
      <p:ext uri="{BB962C8B-B14F-4D97-AF65-F5344CB8AC3E}">
        <p14:creationId xmlns:p14="http://schemas.microsoft.com/office/powerpoint/2010/main" val="29423474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1C581-4271-C6B0-D73A-048E9B8D84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7D5077-1DB4-E204-72AC-E1322566DB48}"/>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A41D54F7-6BEC-F7DE-6F37-25AC810A5929}"/>
              </a:ext>
            </a:extLst>
          </p:cNvPr>
          <p:cNvSpPr>
            <a:spLocks noGrp="1"/>
          </p:cNvSpPr>
          <p:nvPr>
            <p:ph type="body" idx="1"/>
          </p:nvPr>
        </p:nvSpPr>
        <p:spPr/>
        <p:txBody>
          <a:bodyPr/>
          <a:lstStyle/>
          <a:p>
            <a:r>
              <a:t>SPEAKER SCRIPT:</a:t>
            </a:r>
          </a:p>
          <a:p>
            <a:r>
              <a:t>"This slide shows the operating impact.</a:t>
            </a:r>
          </a:p>
          <a:p/>
          <a:p>
            <a:r>
              <a:t>The extraction step still exists. We still need the right source data and the right peer definitions. The major gain is in balancing, which was previously the most manual and senior-dependent part of the process.</a:t>
            </a:r>
          </a:p>
          <a:p/>
          <a:p>
            <a:r>
              <a:t>Before Autobench, balancing one peer could take roughly five to seven days. With the tool, that becomes roughly one to two days. On average, that is about a 75% reduction in balancing time per peer.</a:t>
            </a:r>
          </a:p>
          <a:p/>
          <a:p>
            <a:r>
              <a:t>The effect compounds when we move from one peer to a market-wide study. A five-peer project that previously required about 30 days of balancing effort can move toward about 7.5 days. A six-peer project can move from roughly 36 days to about 9 days.</a:t>
            </a:r>
          </a:p>
          <a:p/>
          <a:p>
            <a:r>
              <a:t>That changes the operating model. Large benchmark studies no longer need to be treated as bespoke spreadsheet exercises. They can be executed as repeatable analytical runs, with senior time redirected toward interpretation, client strategy, and higher-value advisory work."</a:t>
            </a:r>
          </a:p>
          <a:p/>
          <a:p>
            <a:r>
              <a:t>NUMBERS TO KNOW COLD: ~5-7 days -&gt; ~1-2 days per peer (avg 6 -&gt; 1.5); ~75% average reduction; 5 peers ~30 -&gt; ~7.5 days; 6 peers ~36 -&gt; ~9 days. These are balancing-phase gains; extraction time is unchanged.</a:t>
            </a:r>
          </a:p>
          <a:p>
            <a:r>
              <a:t>EMPHASIZE: this is not just cycle-time reduction; it is a staffing and scale change.</a:t>
            </a:r>
          </a:p>
          <a:p>
            <a:r>
              <a:t>TRANSITION: "The final content slide shows what this looks like in a field use case."</a:t>
            </a:r>
          </a:p>
        </p:txBody>
      </p:sp>
      <p:sp>
        <p:nvSpPr>
          <p:cNvPr id="4" name="Slide Number Placeholder 3">
            <a:extLst>
              <a:ext uri="{FF2B5EF4-FFF2-40B4-BE49-F238E27FC236}">
                <a16:creationId xmlns:a16="http://schemas.microsoft.com/office/drawing/2014/main" id="{46F85F6F-CF35-1F55-7AD2-A7765C3723B0}"/>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200061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r>
              <a:t>BLANK FINAL PAGE - no spoken content is required.</a:t>
            </a:r>
          </a:p>
          <a:p/>
          <a:p>
            <a:r>
              <a:t>If the blank page appears, use it as a neutral Q&amp;A screen:</a:t>
            </a:r>
          </a:p>
          <a:p>
            <a:r>
              <a:t>"I will pause there and take questions."</a:t>
            </a:r>
          </a:p>
        </p:txBody>
      </p:sp>
      <p:sp>
        <p:nvSpPr>
          <p:cNvPr id="4" name="Slide Number Placeholder 3"/>
          <p:cNvSpPr>
            <a:spLocks noGrp="1"/>
          </p:cNvSpPr>
          <p:nvPr>
            <p:ph type="sldNum" sz="quarter" idx="5"/>
          </p:nvPr>
        </p:nvSpPr>
        <p:spPr/>
        <p:txBody>
          <a:bodyPr/>
          <a:lstStyle/>
          <a:p>
            <a:fld id="{9D321C93-C6C5-43C9-BDBB-3B3926036F61}" type="slidenum">
              <a:rPr lang="pt-BR" smtClean="0"/>
              <a:pPr/>
              <a:t>15</a:t>
            </a:fld>
            <a:endParaRPr lang="pt-BR"/>
          </a:p>
        </p:txBody>
      </p:sp>
      <p:sp>
        <p:nvSpPr>
          <p:cNvPr id="5" name="Date Placeholder 4"/>
          <p:cNvSpPr>
            <a:spLocks noGrp="1"/>
          </p:cNvSpPr>
          <p:nvPr>
            <p:ph type="dt" idx="1"/>
          </p:nvPr>
        </p:nvSpPr>
        <p:spPr/>
        <p:txBody>
          <a:bodyPr/>
          <a:lstStyle/>
          <a:p>
            <a:r>
              <a:rPr lang="pt-BR"/>
              <a:t>fevereiro 13, 2017</a:t>
            </a:r>
          </a:p>
        </p:txBody>
      </p:sp>
    </p:spTree>
    <p:extLst>
      <p:ext uri="{BB962C8B-B14F-4D97-AF65-F5344CB8AC3E}">
        <p14:creationId xmlns:p14="http://schemas.microsoft.com/office/powerpoint/2010/main" val="856997950"/>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(deliver before advancing, or as the first lines on this slide):</a:t>
            </a:r>
          </a:p>
          <a:p>
            <a:r>
              <a:t>"Today I will walk through Autobench v3.0, our precision compliance engine for peer benchmarking. The simple version is this: Autobench lets us compare an entity against a peer group while enforcing privacy rules mathematically. It protects peer confidentiality, preserves as much market signal as possible, and creates the evidence trail needed to defend the result."</a:t>
            </a:r>
          </a:p>
          <a:p/>
          <a:p>
            <a:r>
              <a:t>SPEAKER SCRIPT:</a:t>
            </a:r>
          </a:p>
          <a:p>
            <a:r>
              <a:t>"Autobench exists because peer benchmarking has become too important to run as a manual balancing exercise.</a:t>
            </a:r>
          </a:p>
          <a:p/>
          <a:p>
            <a:r>
              <a:t>When we benchmark an issuer, acquirer, merchant, or market segment, we need two things at the same time. The result has to be analytically useful, and it has to protect the confidentiality of every peer in the comparison.</a:t>
            </a:r>
          </a:p>
          <a:p/>
          <a:p>
            <a:r>
              <a:t>Those requirements can pull against each other. If we enforce privacy too bluntly, we lose market truth. If we preserve market truth too casually, we risk violating concentration caps.</a:t>
            </a:r>
          </a:p>
          <a:p/>
          <a:p>
            <a:r>
              <a:t>Autobench is the engine built for that exact tension. It takes raw peer data, applies Control 3 privacy constraints, solves the balancing problem mathematically, and produces outputs that analysts can explain and auditors can review.</a:t>
            </a:r>
          </a:p>
          <a:p/>
          <a:p>
            <a:r>
              <a:t>So the promise of this deck is the subtitle: next-generation benchmarking, minimal distortion, and absolute control."</a:t>
            </a:r>
          </a:p>
          <a:p/>
          <a:p>
            <a:r>
              <a:t>EMPHASIZE: "engine" and "mathematically" - this frames Autobench as governed infrastructure, not a convenience script.</a:t>
            </a:r>
          </a:p>
          <a:p>
            <a:r>
              <a:t>TRANSITION: "The reason this matters starts with the compliance paradox."</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"This is the core problem.</a:t>
            </a:r>
          </a:p>
          <a:p/>
          <a:p>
            <a:r>
              <a:t>Control 3 constraints exist to prevent a benchmark from exposing or over-weighting any individual peer. We need concentration caps. We need minimum participant thresholds. And we need confidence that the published benchmark is not only useful, but compliant.</a:t>
            </a:r>
          </a:p>
          <a:p/>
          <a:p>
            <a:r>
              <a:t>At the same time, the business needs market reality. The benchmark has to preserve positioning, rank integrity, and performance differences that matter for commercial decisions.</a:t>
            </a:r>
          </a:p>
          <a:p/>
          <a:p>
            <a:r>
              <a:t>That creates the paradox. The privacy rules protect the benchmark, but applying them manually can distort the benchmark.</a:t>
            </a:r>
          </a:p>
          <a:p/>
          <a:p>
            <a:r>
              <a:t>In a manual workflow, an analyst adjusts peer weights, checks the caps, adjusts again, checks again, and then has to explain why the final result is still representative. That process is slow, inconsistent, and hard to audit.</a:t>
            </a:r>
          </a:p>
          <a:p/>
          <a:p>
            <a:r>
              <a:t>Autobench changes the operating model. It treats compliance as a constrained optimization problem. The engine searches for weights that satisfy the privacy caps while keeping the balanced result as close as possible to the raw market data.</a:t>
            </a:r>
          </a:p>
          <a:p/>
          <a:p>
            <a:r>
              <a:t>That is the shift: compliance is not a final inspection step. It is embedded in the calculation itself."</a:t>
            </a:r>
          </a:p>
          <a:p/>
          <a:p>
            <a:r>
              <a:t>EMPHASIZE: the phrase "not a final inspection step" - the main executive takeaway.</a:t>
            </a:r>
          </a:p>
          <a:p>
            <a:r>
              <a:t>TRANSITION: "The architecture is built around that idea: ingest, enforce, and publish evidence."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"The architecture is deliberately simple at the top level.</a:t>
            </a:r>
          </a:p>
          <a:p/>
          <a:p>
            <a:r>
              <a:t>Phase one is ingestion. The tool can be used through automated pipelines, the CLI, or the analyst workbench. The goal is to bring the data into a normalized, validated structure before any benchmark is calculated.</a:t>
            </a:r>
          </a:p>
          <a:p/>
          <a:p>
            <a:r>
              <a:t>Phase two is the core engine. This is where Autobench applies schema validation, Control 3.2 privacy validation, and global linear-programming optimization. The important point is that the solver is not calculating a simple peer average. It is solving for compliant peer weights across the categories in scope.</a:t>
            </a:r>
          </a:p>
          <a:p/>
          <a:p>
            <a:r>
              <a:t>Phase three is output. Autobench produces Excel reports, diagnostic sheets, balanced CSV exports, and audit packages. That turns the analysis from a result into a defensible artifact.</a:t>
            </a:r>
          </a:p>
          <a:p/>
          <a:p>
            <a:r>
              <a:t>This gives us a clean chain of custody. We know what data went in, what privacy rules were applied, how the weights were chosen, and what evidence was produced for review."</a:t>
            </a:r>
          </a:p>
          <a:p/>
          <a:p>
            <a:r>
              <a:t>EMPHASIZE: "chain of custody" - it connects architecture to auditability.</a:t>
            </a:r>
          </a:p>
          <a:p>
            <a:r>
              <a:t>TRANSITION: "The next question is how analysts interact with that engine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 DETAIL SLIDE - not part of the 11-slide PDF flow the presentation script covers.</a:t>
            </a:r>
          </a:p>
          <a:p/>
          <a:p>
            <a:r>
              <a:t>Skip in the standard 10-12 minute talk. Use on demand if the audience drills into HOW the solver guarantees an answer: the three-tier cascade of Global LP optimization, then subset search with per-dimension LP, then a Bayesian / heuristic (L-BFGS-B) fallback for sparse edge cases.</a:t>
            </a:r>
          </a:p>
          <a:p/>
          <a:p>
            <a:r>
              <a:t>If you do present it, the one-liner is: "Strict optimization is tried first; structured fallbacks guarantee a usable, still-compliant result even when the data is hard."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 DETAIL SLIDE - not part of the 11-slide PDF flow the presentation script covers.</a:t>
            </a:r>
          </a:p>
          <a:p/>
          <a:p>
            <a:r>
              <a:t>Skip in the standard talk. Use on demand if someone asks exactly how the privacy rule is chosen: the engine auto-selects the cap rule from the peer count (5/25, 6/30, 7/35, 10/40, and 4/35 for merchant benchmarking), and higher tiers add participation requirements. No manual configuration.</a:t>
            </a:r>
          </a:p>
          <a:p/>
          <a:p>
            <a:r>
              <a:t>Reinforces the Q&amp;A answer "Does Autobench ever bypass a privacy cap?" - it does not; caps are constraints, and infeasibility is surfaced rather than bypassed.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"The analyst experience matters because compliance only scales if the workflow is repeatable.</a:t>
            </a:r>
          </a:p>
          <a:p/>
          <a:p>
            <a:r>
              <a:t>The TUI gives analysts a guided path through the run. First, it is validation-first. Before the heavy computation starts, it checks for nulls, schema errors, and peer-constraint issues. That catches bad inputs before they become bad outputs.</a:t>
            </a:r>
          </a:p>
          <a:p/>
          <a:p>
            <a:r>
              <a:t>Second, configuration is controlled. Analysts select the file, entity, metrics, dimensions, presets, and output mode in a structured interface rather than rebuilding a command from memory.</a:t>
            </a:r>
          </a:p>
          <a:p/>
          <a:p>
            <a:r>
              <a:t>Third, diagnostics are visible while the run is happening. The analysis executes in the background, the interface remains responsive, and logs are surfaced in the tool.</a:t>
            </a:r>
          </a:p>
          <a:p/>
          <a:p>
            <a:r>
              <a:t>Fourth, advanced overrides are still available for expert users. The difference is that those overrides live inside a governed workflow.</a:t>
            </a:r>
          </a:p>
          <a:p/>
          <a:p>
            <a:r>
              <a:t>The business benefit is consistency. The same analysis intent produces the same behavior, even when different analysts run it."</a:t>
            </a:r>
          </a:p>
          <a:p/>
          <a:p>
            <a:r>
              <a:t>PRESENTER NOTE: if someone asks how expert overrides are exposed, the TUI's advanced panel toggles on with Ctrl+A. The point is that expert controls live inside the guided workflow, not beside it.</a:t>
            </a:r>
          </a:p>
          <a:p>
            <a:r>
              <a:t>EMPHASIZE: the TUI is not only usability; it is standardization.</a:t>
            </a:r>
          </a:p>
          <a:p>
            <a:r>
              <a:t>TRANSITION: "Once the benchmark is produced, the next question is how much the privacy balancing moved the market signal."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 DETAIL SLIDE - not part of the 11-slide PDF flow the presentation script covers.</a:t>
            </a:r>
          </a:p>
          <a:p/>
          <a:p>
            <a:r>
              <a:t>Skip in the standard talk. Use on demand if the audience asks how Autobench runs in memory-limited or large-data environments: it estimates and projects memory load, streams heavy CSVs in chunks, pre-aggregates duplicate rows, and offers a lean execution mode that focuses compute on the global optimization.</a:t>
            </a:r>
          </a:p>
          <a:p/>
          <a:p>
            <a:r>
              <a:t>Ties to the "Operational Agility" pillar on the Value slide ("lean execution keeps it practical in memory-limited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"This is one of the most important parts of the tool.</a:t>
            </a:r>
          </a:p>
          <a:p/>
          <a:p>
            <a:r>
              <a:t>Autobench does not just say, 'the benchmark is compliant.' It also tells us what compliance cost analytically.</a:t>
            </a:r>
          </a:p>
          <a:p/>
          <a:p>
            <a:r>
              <a:t>For each category, the tool compares raw market share with the balanced, compliant share. The difference is reported as distortion in percentage points. That gives analysts a direct way to answer: how much did the privacy constraint move the result?</a:t>
            </a:r>
          </a:p>
          <a:p/>
          <a:p>
            <a:r>
              <a:t>The tool also tracks rank changes. If weighting changes the ordering of peers or categories, that is recorded. That matters because rank movement is often where stakeholders first challenge the result.</a:t>
            </a:r>
          </a:p>
          <a:p/>
          <a:p>
            <a:r>
              <a:t>Preset comparison adds another layer. Analysts can compare configurations and see which one produces the lowest mean distortion while still respecting the rules.</a:t>
            </a:r>
          </a:p>
          <a:p/>
          <a:p>
            <a:r>
              <a:t>The takeaway is that Autobench makes the trade-off visible. It does not hide the cost of compliance inside a black box. It exposes the cost so the team can make a better decision and defend that decision later."</a:t>
            </a:r>
          </a:p>
          <a:p/>
          <a:p>
            <a:r>
              <a:t>EMPHASIZE: "what compliance cost analytically" - the sharpest framing for this slide.</a:t>
            </a:r>
          </a:p>
          <a:p>
            <a:r>
              <a:t>TRANSITION: "Mathematical compliance is necessary, but it is not the whole policy picture. Some cases require governance controls."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"This slide is about policy controls beyond the numeric cap calculation.</a:t>
            </a:r>
          </a:p>
          <a:p/>
          <a:p>
            <a:r>
              <a:t>Some requirements can be enforced directly by the system. Fraud and chargeback analysis is an example. The run must declare the correct privacy basis: clearing spend. If that condition is not present, the workflow blocks the run.</a:t>
            </a:r>
          </a:p>
          <a:p/>
          <a:p>
            <a:r>
              <a:t>Some requirements need explicit Privacy review. Digital wallet analysis and dual-entity-axis analysis fall into that category. The tool cannot replace the governance decision, but it can require evidence that the decision happened.</a:t>
            </a:r>
          </a:p>
          <a:p/>
          <a:p>
            <a:r>
              <a:t>And some outputs are simply not allowed. Top-merchant lists are hard-blocked because they are outside the permitted policy posture.</a:t>
            </a:r>
          </a:p>
          <a:p/>
          <a:p>
            <a:r>
              <a:t>That separation is important. Autobench does not pretend every compliance question can be reduced to a formula. It separates enforceable controls, manual approval gates, and prohibited outputs.</a:t>
            </a:r>
          </a:p>
          <a:p/>
          <a:p>
            <a:r>
              <a:t>That is what makes the workflow credible. The tool automates what should be automated, and it forces explicit review where human governance is required."</a:t>
            </a:r>
          </a:p>
          <a:p/>
          <a:p>
            <a:r>
              <a:t>EMPHASIZE: "automates what should be automated" - this avoids overclaiming.</a:t>
            </a:r>
          </a:p>
          <a:p>
            <a:r>
              <a:t>TRANSITION: "Once the run clears those controls, the output has to serve multiple audiences."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"Autobench produces three deliverable types.</a:t>
            </a:r>
          </a:p>
          <a:p/>
          <a:p>
            <a:r>
              <a:t>The Excel report is the primary decision artifact. It gives stakeholders the summary, run metadata, category comparisons, target versus best-in-class views, rank changes, and weight methods.</a:t>
            </a:r>
          </a:p>
          <a:p/>
          <a:p>
            <a:r>
              <a:t>The balanced CSV is the data product. It is designed for Tableau, Power BI, and other downstream workflows. It can carry raw share, balanced share, distortion, and other calculated metrics. Just as important, it is validated for parity with the Excel report.</a:t>
            </a:r>
          </a:p>
          <a:p/>
          <a:p>
            <a:r>
              <a:t>The audit package is the evidence layer. It captures inputs, configuration, and logs so the run can be reproduced and reviewed.</a:t>
            </a:r>
          </a:p>
          <a:p/>
          <a:p>
            <a:r>
              <a:t>The point is that Autobench does not stop at calculation. It packages the result for the people who need to use it: executives who need a conclusion, analysts who need data, and reviewers who need evidence."</a:t>
            </a:r>
          </a:p>
          <a:p/>
          <a:p>
            <a:r>
              <a:t>EMPHASIZE: "decision artifact, data product, evidence layer."</a:t>
            </a:r>
          </a:p>
          <a:p>
            <a:r>
              <a:t>TRANSITION: "Those deliverables are what convert the engine into business value."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 DETAIL SLIDE - not part of the 11-slide PDF flow the presentation script covers.</a:t>
            </a:r>
          </a:p>
          <a:p/>
          <a:p>
            <a:r>
              <a:t>Skip in the standard talk. Use on demand if the audience asks how the tool itself is trusted: a gate-test suite of representative scenarios runs on every commit, CSV exports are cross-checked against the compliant Excel outputs, and offline deploys are checksum-verified.</a:t>
            </a:r>
          </a:p>
          <a:p/>
          <a:p>
            <a:r>
              <a:t>CAUTION: this slide leans on strong wording. Pair it with the honest framing from the Value slide and Q&amp;A - verification today is reproducibility and parity-checking, not cryptographic signing.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"The value realization comes from three places.</a:t>
            </a:r>
          </a:p>
          <a:p/>
          <a:p>
            <a:r>
              <a:t>First, absolute compliance. The engine is built around Control 3.2 privacy caps, and the output trail is designed for review. That lowers the risk of inconsistent manual application.</a:t>
            </a:r>
          </a:p>
          <a:p/>
          <a:p>
            <a:r>
              <a:t>Second, mathematical superiority. The solver minimizes distortion instead of relying on manual balancing judgment. That lets us keep more of the market signal while still enforcing the privacy rules.</a:t>
            </a:r>
          </a:p>
          <a:p/>
          <a:p>
            <a:r>
              <a:t>Third, operational agility. The TUI makes the workflow accessible. Lean execution keeps it practical in memory-limited environments. And the deliverables are ready for both stakeholder review and downstream analysis.</a:t>
            </a:r>
          </a:p>
          <a:p/>
          <a:p>
            <a:r>
              <a:t>So the larger point is this: compliant data is no longer a compromise. If we can measure the constraint, optimize around it, and document the result, compliance becomes part of analytical quality."</a:t>
            </a:r>
          </a:p>
          <a:p/>
          <a:p>
            <a:r>
              <a:t>PRESENTER NOTE: the slide reads "cryptographically verifiable audit trails." The script deliberately says the output trail is "designed for review" because today the audit package is verified through completeness and reproducibility, not a cryptographic signature. If anyone presses on the slide wording, use the audit-trail answer in Q&amp;A instead of defending a signing claim.</a:t>
            </a:r>
          </a:p>
          <a:p>
            <a:r>
              <a:t>EMPHASIZE: the final sentence - it is the strategic claim of the presentation.</a:t>
            </a:r>
          </a:p>
          <a:p>
            <a:r>
              <a:t>TRANSITION: "The next slide quantifies the operational side of that value."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A&amp;F = Authorization &amp; Fraud (auth rates and fraud rates are the dashboard's core metric families). Confirm the house definition before presenting.</a:t>
            </a:r>
          </a:p>
          <a:p/>
          <a:p>
            <a:r>
              <a:t>SPEAKER SCRIPT:</a:t>
            </a:r>
          </a:p>
          <a:p>
            <a:r>
              <a:t>"The A&amp;F dashboard is where the story becomes concrete.</a:t>
            </a:r>
          </a:p>
          <a:p/>
          <a:p>
            <a:r>
              <a:t>The first foundation is peer readiness. The dashboard uses pre-defined peer groups for issuers and acquirers, with 14 months of history from January 2025 through February 2026. Brazil is live, and the broader LAC rollout is underway.</a:t>
            </a:r>
          </a:p>
          <a:p/>
          <a:p>
            <a:r>
              <a:t>The second foundation is metric depth. The dashboard can support raw and clean authorization rates, fraud rates, declined-reason share, count and amount views, credit and debit splits, card-present and card-not-present cuts, domestic and cross-border cuts, tokenization, 3DS, MCC, ticket size, and more.</a:t>
            </a:r>
          </a:p>
          <a:p/>
          <a:p>
            <a:r>
              <a:t>The third foundation is ACS impact. Autobench reduces effort on the hardest parts of the workflow: extraction, peer grouping, compliant balancing, and repeatable output production. That frees senior people to focus on diagnosis, recommendations, and client value.</a:t>
            </a:r>
          </a:p>
          <a:p/>
          <a:p>
            <a:r>
              <a:t>This also opens the door to a stronger commercial model: A&amp;F Report as a Service. Instead of rebuilding each benchmark manually, we can scale a governed benchmarking engine across markets and peer groups.</a:t>
            </a:r>
          </a:p>
          <a:p/>
          <a:p>
            <a:r>
              <a:t>That is the broader significance of Autobench. It is not only improving one analysis process. It creates reusable infrastructure for privacy-compliant performance analytics."</a:t>
            </a:r>
          </a:p>
          <a:p/>
          <a:p>
            <a:r>
              <a:t>CLOSING SCRIPT:</a:t>
            </a:r>
          </a:p>
          <a:p>
            <a:r>
              <a:t>"To close: Autobench solves the core tension in peer benchmarking. It protects privacy, preserves market signal, quantifies distortion, creates audit evidence, and reduces the manual effort required to scale. That is why it is best thought of as a precision compliance engine, not just a reporting tool."</a:t>
            </a:r>
          </a:p>
          <a:p/>
          <a:p>
            <a:r>
              <a:t>TRANSITION TO Q&amp;A: "I will pause there. I am happy to go deeper on the optimization method, the Control 3 policy gates, or the A&amp;F dashboard rollout."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Last page">
    <p:bg bwMode="gray">
      <p:bgPr>
        <a:solidFill>
          <a:srgbClr val="171717"/>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67139" y="1929715"/>
            <a:ext cx="3657724" cy="2998571"/>
          </a:xfrm>
          <a:prstGeom prst="rect">
            <a:avLst/>
          </a:prstGeom>
        </p:spPr>
      </p:pic>
    </p:spTree>
    <p:extLst>
      <p:ext uri="{BB962C8B-B14F-4D97-AF65-F5344CB8AC3E}">
        <p14:creationId xmlns:p14="http://schemas.microsoft.com/office/powerpoint/2010/main" val="2818451885"/>
      </p:ext>
    </p:extLst>
  </p:cSld>
  <p:clrMapOvr>
    <a:masterClrMapping/>
  </p:clrMapOvr>
  <p:hf sldNum="0"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alpha val="95000"/>
            </a:srgbClr>
          </a:solidFill>
          <a:ln/>
        </p:spPr>
        <p:txBody>
          <a:bodyPr/>
          <a:lstStyle/>
          <a:p>
            <a:endParaRPr lang="pt-BR" sz="1500"/>
          </a:p>
        </p:txBody>
      </p:sp>
    </p:spTree>
    <p:extLst>
      <p:ext uri="{BB962C8B-B14F-4D97-AF65-F5344CB8AC3E}">
        <p14:creationId xmlns:p14="http://schemas.microsoft.com/office/powerpoint/2010/main" val="83318810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tags" Target="../tags/tag2.xml"/><Relationship Id="rId16" Type="http://schemas.openxmlformats.org/officeDocument/2006/relationships/oleObject" Target="../embeddings/oleObject1.bin"/><Relationship Id="rId17"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C9793B25-96CF-8543-E848-659A67138A15}"/>
              </a:ext>
            </a:extLst>
          </p:cNvPr>
          <p:cNvGraphicFramePr>
            <a:graphicFrameLocks noChangeAspect="1"/>
          </p:cNvGraphicFramePr>
          <p:nvPr userDrawn="1">
            <p:custDataLst>
              <p:tags r:id="rId15"/>
            </p:custDataLst>
            <p:extLst>
              <p:ext uri="{D42A27DB-BD31-4B8C-83A1-F6EECF244321}">
                <p14:modId xmlns:p14="http://schemas.microsoft.com/office/powerpoint/2010/main" val="34770847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435" imgH="435" progId="TCLayout.ActiveDocument.1">
                  <p:embed/>
                </p:oleObj>
              </mc:Choice>
              <mc:Fallback>
                <p:oleObj name="think-cell Slide" r:id="rId16" imgW="435" imgH="435" progId="TCLayout.ActiveDocument.1">
                  <p:embed/>
                  <p:pic>
                    <p:nvPicPr>
                      <p:cNvPr id="7" name="think-cell data - do not delete" hidden="1">
                        <a:extLst>
                          <a:ext uri="{FF2B5EF4-FFF2-40B4-BE49-F238E27FC236}">
                            <a16:creationId xmlns:a16="http://schemas.microsoft.com/office/drawing/2014/main" id="{C9793B25-96CF-8543-E848-659A67138A15}"/>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svg"/><Relationship Id="rId6"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sv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sv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notesSlide" Target="../notesSlides/notesSlide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notesSlide" Target="../notesSlides/notesSlide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notesSlide" Target="../notesSlides/notesSlide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notesSlide" Target="../notesSlides/notesSlide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notesSlide" Target="../notesSlides/notesSlide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image" Target="../media/image40.png"/><Relationship Id="rId8" Type="http://schemas.openxmlformats.org/officeDocument/2006/relationships/image" Target="../media/image41.png"/><Relationship Id="rId9" Type="http://schemas.openxmlformats.org/officeDocument/2006/relationships/notesSlide" Target="../notesSlides/notesSlide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notesSlide" Target="../notesSlides/notesSlide14.xml"/></Relationships>
</file>

<file path=ppt/slides/_rels/slide13.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tags" Target="../tags/tag4.xml"/><Relationship Id="rId3" Type="http://schemas.openxmlformats.org/officeDocument/2006/relationships/tags" Target="../tags/tag5.xml"/><Relationship Id="rId4" Type="http://schemas.openxmlformats.org/officeDocument/2006/relationships/tags" Target="../tags/tag6.xml"/><Relationship Id="rId5" Type="http://schemas.openxmlformats.org/officeDocument/2006/relationships/tags" Target="../tags/tag7.xml"/><Relationship Id="rId6" Type="http://schemas.openxmlformats.org/officeDocument/2006/relationships/tags" Target="../tags/tag8.xml"/><Relationship Id="rId7" Type="http://schemas.openxmlformats.org/officeDocument/2006/relationships/tags" Target="../tags/tag9.xml"/><Relationship Id="rId8" Type="http://schemas.openxmlformats.org/officeDocument/2006/relationships/tags" Target="../tags/tag10.xml"/><Relationship Id="rId9" Type="http://schemas.openxmlformats.org/officeDocument/2006/relationships/tags" Target="../tags/tag11.xml"/><Relationship Id="rId10" Type="http://schemas.openxmlformats.org/officeDocument/2006/relationships/tags" Target="../tags/tag12.xml"/><Relationship Id="rId11" Type="http://schemas.openxmlformats.org/officeDocument/2006/relationships/tags" Target="../tags/tag13.xml"/><Relationship Id="rId12" Type="http://schemas.openxmlformats.org/officeDocument/2006/relationships/slideLayout" Target="../slideLayouts/slideLayout13.xml"/><Relationship Id="rId13" Type="http://schemas.openxmlformats.org/officeDocument/2006/relationships/notesSlide" Target="../notesSlides/notesSlide1.xml"/><Relationship Id="rId14" Type="http://schemas.openxmlformats.org/officeDocument/2006/relationships/oleObject" Target="../embeddings/oleObject2.bin"/><Relationship Id="rId15" Type="http://schemas.openxmlformats.org/officeDocument/2006/relationships/image" Target="../media/image1.emf"/><Relationship Id="rId16" Type="http://schemas.openxmlformats.org/officeDocument/2006/relationships/chart" Target="../charts/chart1.xml"/><Relationship Id="rId17" Type="http://schemas.openxmlformats.org/officeDocument/2006/relationships/image" Target="../media/image4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27.png"/><Relationship Id="rId4" Type="http://schemas.openxmlformats.org/officeDocument/2006/relationships/image" Target="../media/image43.png"/><Relationship Id="rId5"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4F2EF"/>
          </a:solidFill>
          <a:ln>
            <a:noFill/>
          </a:ln>
          <a:effectLst/>
        </p:spPr>
        <p:txBody>
          <a:bodyPr rtlCol="0" anchor="ctr"/>
          <a:lstStyle/>
          <a:p>
            <a:pPr algn="ctr"/>
            <a:endParaRPr dirty="0">
              <a:latin typeface="Mark Offc For MC" panose="020B0504020101010102" pitchFamily="34" charset="0"/>
            </a:endParaRPr>
          </a:p>
        </p:txBody>
      </p:sp>
      <p:sp>
        <p:nvSpPr>
          <p:cNvPr id="3" name="Oval 2"/>
          <p:cNvSpPr/>
          <p:nvPr/>
        </p:nvSpPr>
        <p:spPr>
          <a:xfrm>
            <a:off x="7950200" y="-3431489"/>
            <a:ext cx="12192000" cy="13716000"/>
          </a:xfrm>
          <a:prstGeom prst="ellipse">
            <a:avLst/>
          </a:prstGeom>
          <a:solidFill>
            <a:srgbClr val="FBFAF7"/>
          </a:solidFill>
          <a:ln>
            <a:noFill/>
          </a:ln>
          <a:effectLst/>
        </p:spPr>
        <p:txBody>
          <a:bodyPr rtlCol="0" anchor="ctr"/>
          <a:lstStyle/>
          <a:p>
            <a:pPr algn="ctr"/>
            <a:endParaRPr>
              <a:latin typeface="Mark Offc For MC" panose="020B0504020101010102" pitchFamily="34" charset="0"/>
            </a:endParaRPr>
          </a:p>
        </p:txBody>
      </p:sp>
      <p:sp>
        <p:nvSpPr>
          <p:cNvPr id="4" name="Oval 3"/>
          <p:cNvSpPr/>
          <p:nvPr/>
        </p:nvSpPr>
        <p:spPr>
          <a:xfrm>
            <a:off x="8559800" y="-2882850"/>
            <a:ext cx="11216640" cy="12618720"/>
          </a:xfrm>
          <a:prstGeom prst="ellipse">
            <a:avLst/>
          </a:prstGeom>
          <a:noFill/>
          <a:ln w="12700">
            <a:solidFill>
              <a:srgbClr val="E6E2DC"/>
            </a:solidFill>
          </a:ln>
          <a:effectLst/>
        </p:spPr>
        <p:txBody>
          <a:bodyPr rtlCol="0" anchor="ctr"/>
          <a:lstStyle/>
          <a:p>
            <a:pPr algn="ctr"/>
            <a:endParaRPr>
              <a:latin typeface="Mark Offc For MC" panose="020B0504020101010102" pitchFamily="34" charset="0"/>
            </a:endParaRPr>
          </a:p>
        </p:txBody>
      </p:sp>
      <p:sp>
        <p:nvSpPr>
          <p:cNvPr id="5" name="Oval 4"/>
          <p:cNvSpPr/>
          <p:nvPr/>
        </p:nvSpPr>
        <p:spPr>
          <a:xfrm>
            <a:off x="10810240" y="508000"/>
            <a:ext cx="508000" cy="508000"/>
          </a:xfrm>
          <a:prstGeom prst="ellipse">
            <a:avLst/>
          </a:prstGeom>
          <a:solidFill>
            <a:srgbClr val="EB001B"/>
          </a:solidFill>
          <a:ln>
            <a:noFill/>
          </a:ln>
          <a:effectLst/>
        </p:spPr>
        <p:txBody>
          <a:bodyPr rtlCol="0" anchor="ctr"/>
          <a:lstStyle/>
          <a:p>
            <a:pPr algn="ctr"/>
            <a:endParaRPr/>
          </a:p>
        </p:txBody>
      </p:sp>
      <p:sp>
        <p:nvSpPr>
          <p:cNvPr id="6" name="Oval 5"/>
          <p:cNvSpPr/>
          <p:nvPr/>
        </p:nvSpPr>
        <p:spPr>
          <a:xfrm>
            <a:off x="11074400" y="508000"/>
            <a:ext cx="508000" cy="508000"/>
          </a:xfrm>
          <a:prstGeom prst="ellipse">
            <a:avLst/>
          </a:prstGeom>
          <a:solidFill>
            <a:srgbClr val="F79E1B"/>
          </a:solidFill>
          <a:ln>
            <a:noFill/>
          </a:ln>
          <a:effectLst/>
        </p:spPr>
        <p:txBody>
          <a:bodyPr rtlCol="0" anchor="ctr"/>
          <a:lstStyle/>
          <a:p>
            <a:pPr algn="ctr"/>
            <a:endParaRPr/>
          </a:p>
        </p:txBody>
      </p:sp>
      <p:sp>
        <p:nvSpPr>
          <p:cNvPr id="7" name="Oval 6"/>
          <p:cNvSpPr/>
          <p:nvPr/>
        </p:nvSpPr>
        <p:spPr>
          <a:xfrm>
            <a:off x="11074400" y="544830"/>
            <a:ext cx="243840" cy="434340"/>
          </a:xfrm>
          <a:prstGeom prst="ellipse">
            <a:avLst/>
          </a:prstGeom>
          <a:solidFill>
            <a:srgbClr val="FF5F00"/>
          </a:solidFill>
          <a:ln>
            <a:noFill/>
          </a:ln>
          <a:effectLst/>
        </p:spPr>
        <p:txBody>
          <a:bodyPr rtlCol="0" anchor="ctr"/>
          <a:lstStyle/>
          <a:p>
            <a:pPr algn="ctr"/>
            <a:endParaRPr/>
          </a:p>
        </p:txBody>
      </p:sp>
      <p:sp>
        <p:nvSpPr>
          <p:cNvPr id="8" name="TextBox 7"/>
          <p:cNvSpPr txBox="1"/>
          <p:nvPr/>
        </p:nvSpPr>
        <p:spPr>
          <a:xfrm>
            <a:off x="609600" y="1905000"/>
            <a:ext cx="7112000" cy="169277"/>
          </a:xfrm>
          <a:prstGeom prst="rect">
            <a:avLst/>
          </a:prstGeom>
          <a:noFill/>
        </p:spPr>
        <p:txBody>
          <a:bodyPr wrap="square" lIns="0" tIns="0" rIns="0" bIns="0" anchor="t">
            <a:spAutoFit/>
          </a:bodyPr>
          <a:lstStyle/>
          <a:p>
            <a:r>
              <a:rPr sz="1100" b="0" i="0" spc="200" dirty="0">
                <a:solidFill>
                  <a:srgbClr val="FF671B"/>
                </a:solidFill>
                <a:latin typeface="Mark Offc For MC Light" panose="020B0504020101010102" pitchFamily="34" charset="0"/>
              </a:rPr>
              <a:t>MASTERCARD ADVISORS  •  PERFORMANCE ANALYTICS</a:t>
            </a:r>
          </a:p>
        </p:txBody>
      </p:sp>
      <p:sp>
        <p:nvSpPr>
          <p:cNvPr id="9" name="TextBox 8"/>
          <p:cNvSpPr txBox="1"/>
          <p:nvPr/>
        </p:nvSpPr>
        <p:spPr>
          <a:xfrm>
            <a:off x="584200" y="2692400"/>
            <a:ext cx="10414000" cy="1468222"/>
          </a:xfrm>
          <a:prstGeom prst="rect">
            <a:avLst/>
          </a:prstGeom>
          <a:noFill/>
        </p:spPr>
        <p:txBody>
          <a:bodyPr wrap="square" lIns="0" tIns="0" rIns="0" bIns="0" anchor="t">
            <a:spAutoFit/>
          </a:bodyPr>
          <a:lstStyle/>
          <a:p>
            <a:pPr>
              <a:lnSpc>
                <a:spcPct val="100000"/>
              </a:lnSpc>
            </a:pPr>
            <a:r>
              <a:rPr sz="5800" b="0" i="0" dirty="0" err="1">
                <a:solidFill>
                  <a:srgbClr val="1A1A1A"/>
                </a:solidFill>
                <a:latin typeface="Mark Offc For MC" panose="020B0504020101010102" pitchFamily="34" charset="0"/>
              </a:rPr>
              <a:t>Autobenc</a:t>
            </a:r>
            <a:r>
              <a:rPr lang="pt-BR" sz="5800" b="0" i="0" dirty="0">
                <a:solidFill>
                  <a:srgbClr val="1A1A1A"/>
                </a:solidFill>
                <a:latin typeface="Mark Offc For MC" panose="020B0504020101010102" pitchFamily="34" charset="0"/>
              </a:rPr>
              <a:t>h</a:t>
            </a:r>
            <a:endParaRPr sz="5800" b="0" i="0" dirty="0">
              <a:solidFill>
                <a:srgbClr val="1A1A1A"/>
              </a:solidFill>
              <a:latin typeface="Mark Offc For MC" panose="020B0504020101010102" pitchFamily="34" charset="0"/>
            </a:endParaRPr>
          </a:p>
          <a:p>
            <a:pPr>
              <a:lnSpc>
                <a:spcPct val="105000"/>
              </a:lnSpc>
              <a:spcBef>
                <a:spcPts val="600"/>
              </a:spcBef>
            </a:pPr>
            <a:r>
              <a:rPr sz="3400" b="0" i="0" dirty="0">
                <a:solidFill>
                  <a:srgbClr val="1A1A1A"/>
                </a:solidFill>
                <a:latin typeface="Mark Offc For MC Light" panose="020B0504020101010102" pitchFamily="34" charset="0"/>
              </a:rPr>
              <a:t>The Precision Compliance Engine</a:t>
            </a:r>
          </a:p>
        </p:txBody>
      </p:sp>
      <p:cxnSp>
        <p:nvCxnSpPr>
          <p:cNvPr id="10" name="Connector 9"/>
          <p:cNvCxnSpPr/>
          <p:nvPr/>
        </p:nvCxnSpPr>
        <p:spPr>
          <a:xfrm>
            <a:off x="609600" y="4723310"/>
            <a:ext cx="4572000" cy="0"/>
          </a:xfrm>
          <a:prstGeom prst="line">
            <a:avLst/>
          </a:prstGeom>
          <a:ln w="27940">
            <a:solidFill>
              <a:srgbClr val="FF671B"/>
            </a:solidFill>
          </a:ln>
        </p:spPr>
      </p:cxnSp>
      <p:sp>
        <p:nvSpPr>
          <p:cNvPr id="11" name="TextBox 10"/>
          <p:cNvSpPr txBox="1"/>
          <p:nvPr/>
        </p:nvSpPr>
        <p:spPr>
          <a:xfrm>
            <a:off x="609600" y="4926510"/>
            <a:ext cx="7874000" cy="262380"/>
          </a:xfrm>
          <a:prstGeom prst="rect">
            <a:avLst/>
          </a:prstGeom>
          <a:noFill/>
        </p:spPr>
        <p:txBody>
          <a:bodyPr wrap="square" lIns="0" tIns="0" rIns="0" bIns="0" anchor="t">
            <a:spAutoFit/>
          </a:bodyPr>
          <a:lstStyle/>
          <a:p>
            <a:pPr>
              <a:lnSpc>
                <a:spcPct val="120000"/>
              </a:lnSpc>
            </a:pPr>
            <a:r>
              <a:rPr sz="1600" b="0" i="0" dirty="0">
                <a:solidFill>
                  <a:srgbClr val="3C3F44"/>
                </a:solidFill>
                <a:latin typeface="Mark Offc For MC Medium" panose="020B0604020101010102" pitchFamily="34" charset="0"/>
              </a:rPr>
              <a:t>Next-generation benchmarking. Minimal distortion. Absolute control.</a:t>
            </a:r>
          </a:p>
        </p:txBody>
      </p:sp>
      <p:sp>
        <p:nvSpPr>
          <p:cNvPr id="12" name="TextBox 11"/>
          <p:cNvSpPr txBox="1"/>
          <p:nvPr/>
        </p:nvSpPr>
        <p:spPr>
          <a:xfrm>
            <a:off x="609600" y="6015738"/>
            <a:ext cx="7874000" cy="553998"/>
          </a:xfrm>
          <a:prstGeom prst="rect">
            <a:avLst/>
          </a:prstGeom>
          <a:noFill/>
        </p:spPr>
        <p:txBody>
          <a:bodyPr wrap="square" lIns="0" tIns="0" rIns="0" bIns="0" anchor="t">
            <a:spAutoFit/>
          </a:bodyPr>
          <a:lstStyle/>
          <a:p>
            <a:r>
              <a:rPr lang="pt-BR" sz="1200" b="0" i="0" dirty="0">
                <a:solidFill>
                  <a:srgbClr val="656A71"/>
                </a:solidFill>
                <a:latin typeface="Mark Offc For MC" panose="020B0504020101010102" pitchFamily="34" charset="0"/>
              </a:rPr>
              <a:t>Pedro Chagas</a:t>
            </a:r>
          </a:p>
          <a:p>
            <a:r>
              <a:rPr lang="pt-BR" sz="1200" b="0" i="0" dirty="0">
                <a:solidFill>
                  <a:srgbClr val="656A71"/>
                </a:solidFill>
                <a:latin typeface="Mark Offc For MC" panose="020B0504020101010102" pitchFamily="34" charset="0"/>
              </a:rPr>
              <a:t>Associate Managing Consultant, ACS</a:t>
            </a:r>
          </a:p>
          <a:p>
            <a:r>
              <a:rPr lang="pt-BR" sz="1200" b="0" i="0" dirty="0">
                <a:solidFill>
                  <a:srgbClr val="656A71"/>
                </a:solidFill>
                <a:latin typeface="Mark Offc For MC" panose="020B0504020101010102" pitchFamily="34" charset="0"/>
              </a:rPr>
              <a:t>Performance Analytics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endParaRPr>
              <a:latin typeface="Mark Offc For MC" panose="020B0504020101010102" pitchFamily="34" charset="0"/>
            </a:endParaRPr>
          </a:p>
        </p:txBody>
      </p:sp>
      <p:sp>
        <p:nvSpPr>
          <p:cNvPr id="3" name="TextBox 2"/>
          <p:cNvSpPr txBox="1"/>
          <p:nvPr/>
        </p:nvSpPr>
        <p:spPr>
          <a:xfrm>
            <a:off x="609600" y="508000"/>
            <a:ext cx="6350000" cy="161583"/>
          </a:xfrm>
          <a:prstGeom prst="rect">
            <a:avLst/>
          </a:prstGeom>
          <a:noFill/>
        </p:spPr>
        <p:txBody>
          <a:bodyPr wrap="square" lIns="0" tIns="0" rIns="0" bIns="0" anchor="t">
            <a:spAutoFit/>
          </a:bodyPr>
          <a:lstStyle/>
          <a:p>
            <a:r>
              <a:rPr sz="1050" b="0" i="0" spc="160" dirty="0">
                <a:solidFill>
                  <a:srgbClr val="FF671B"/>
                </a:solidFill>
                <a:latin typeface="Mark Offc For MC Light" panose="020B0504020101010102" pitchFamily="34" charset="0"/>
              </a:rPr>
              <a:t>THE COMPLIANCE PARADOX</a:t>
            </a:r>
          </a:p>
        </p:txBody>
      </p:sp>
      <p:sp>
        <p:nvSpPr>
          <p:cNvPr id="4" name="TextBox 3"/>
          <p:cNvSpPr txBox="1"/>
          <p:nvPr/>
        </p:nvSpPr>
        <p:spPr>
          <a:xfrm>
            <a:off x="609600" y="736600"/>
            <a:ext cx="10972800" cy="325282"/>
          </a:xfrm>
          <a:prstGeom prst="rect">
            <a:avLst/>
          </a:prstGeom>
          <a:noFill/>
        </p:spPr>
        <p:txBody>
          <a:bodyPr wrap="square" lIns="0" tIns="0" rIns="0" bIns="0" anchor="t">
            <a:spAutoFit/>
          </a:bodyPr>
          <a:lstStyle/>
          <a:p>
            <a:pPr>
              <a:lnSpc>
                <a:spcPct val="106000"/>
              </a:lnSpc>
            </a:pPr>
            <a:r>
              <a:rPr sz="2200" b="0" i="0" dirty="0">
                <a:solidFill>
                  <a:srgbClr val="1A1A1A"/>
                </a:solidFill>
                <a:latin typeface="Mark Offc For MC" panose="020B0504020101010102" pitchFamily="34" charset="0"/>
              </a:rPr>
              <a:t>Compliant benchmarking forces a trade-off between privacy and market truth.</a:t>
            </a:r>
          </a:p>
        </p:txBody>
      </p:sp>
      <p:sp>
        <p:nvSpPr>
          <p:cNvPr id="5" name="TextBox 4"/>
          <p:cNvSpPr txBox="1"/>
          <p:nvPr/>
        </p:nvSpPr>
        <p:spPr>
          <a:xfrm>
            <a:off x="609600" y="1295400"/>
            <a:ext cx="10972800" cy="208968"/>
          </a:xfrm>
          <a:prstGeom prst="rect">
            <a:avLst/>
          </a:prstGeom>
          <a:noFill/>
        </p:spPr>
        <p:txBody>
          <a:bodyPr wrap="square" lIns="0" tIns="0" rIns="0" bIns="0" anchor="t">
            <a:spAutoFit/>
          </a:bodyPr>
          <a:lstStyle/>
          <a:p>
            <a:pPr>
              <a:lnSpc>
                <a:spcPct val="112000"/>
              </a:lnSpc>
            </a:pPr>
            <a:r>
              <a:rPr sz="1350" b="0" i="0" dirty="0">
                <a:solidFill>
                  <a:srgbClr val="656A71"/>
                </a:solidFill>
                <a:latin typeface="Mark Offc For MC" panose="020B0504020101010102" pitchFamily="34" charset="0"/>
              </a:rPr>
              <a:t>Autobench resolves it mathematically</a:t>
            </a:r>
            <a:r>
              <a:rPr lang="pt-BR" sz="1350" b="0" i="0" dirty="0">
                <a:solidFill>
                  <a:srgbClr val="656A71"/>
                </a:solidFill>
                <a:latin typeface="Mark Offc For MC" panose="020B0504020101010102" pitchFamily="34" charset="0"/>
              </a:rPr>
              <a:t>,</a:t>
            </a:r>
            <a:r>
              <a:rPr sz="1350" b="0" i="0" dirty="0">
                <a:solidFill>
                  <a:srgbClr val="656A71"/>
                </a:solidFill>
                <a:latin typeface="Mark Offc For MC" panose="020B0504020101010102" pitchFamily="34" charset="0"/>
              </a:rPr>
              <a:t> not manually.</a:t>
            </a:r>
          </a:p>
        </p:txBody>
      </p:sp>
      <p:cxnSp>
        <p:nvCxnSpPr>
          <p:cNvPr id="6" name="Connector 5"/>
          <p:cNvCxnSpPr/>
          <p:nvPr/>
        </p:nvCxnSpPr>
        <p:spPr>
          <a:xfrm>
            <a:off x="609600" y="1701800"/>
            <a:ext cx="10972800" cy="0"/>
          </a:xfrm>
          <a:prstGeom prst="line">
            <a:avLst/>
          </a:prstGeom>
          <a:ln w="12700">
            <a:solidFill>
              <a:srgbClr val="E6E2DC"/>
            </a:solidFill>
          </a:ln>
        </p:spPr>
      </p:cxnSp>
      <p:sp>
        <p:nvSpPr>
          <p:cNvPr id="7" name="Rectangle 6"/>
          <p:cNvSpPr/>
          <p:nvPr/>
        </p:nvSpPr>
        <p:spPr>
          <a:xfrm>
            <a:off x="609600" y="1686560"/>
            <a:ext cx="685800" cy="30480"/>
          </a:xfrm>
          <a:prstGeom prst="rect">
            <a:avLst/>
          </a:prstGeom>
          <a:solidFill>
            <a:srgbClr val="FF671B"/>
          </a:solidFill>
          <a:ln>
            <a:noFill/>
          </a:ln>
          <a:effectLst/>
        </p:spPr>
        <p:txBody>
          <a:bodyPr rtlCol="0" anchor="ctr"/>
          <a:lstStyle/>
          <a:p>
            <a:pPr algn="ctr"/>
            <a:endParaRPr>
              <a:latin typeface="Mark Offc For MC" panose="020B0504020101010102" pitchFamily="34" charset="0"/>
            </a:endParaRPr>
          </a:p>
        </p:txBody>
      </p:sp>
      <p:sp>
        <p:nvSpPr>
          <p:cNvPr id="8" name="Rounded Rectangle 7"/>
          <p:cNvSpPr/>
          <p:nvPr/>
        </p:nvSpPr>
        <p:spPr>
          <a:xfrm>
            <a:off x="609600" y="2006600"/>
            <a:ext cx="4724400" cy="2692400"/>
          </a:xfrm>
          <a:prstGeom prst="roundRect">
            <a:avLst>
              <a:gd name="adj" fmla="val 4500"/>
            </a:avLst>
          </a:prstGeom>
          <a:solidFill>
            <a:srgbClr val="FBFAF8"/>
          </a:solidFill>
          <a:ln w="12700">
            <a:solidFill>
              <a:srgbClr val="E6E2DC"/>
            </a:solidFill>
          </a:ln>
          <a:effectLst/>
        </p:spPr>
        <p:txBody>
          <a:bodyPr rtlCol="0" anchor="ctr"/>
          <a:lstStyle/>
          <a:p>
            <a:pPr algn="ctr"/>
            <a:endParaRPr>
              <a:latin typeface="Mark Offc For MC" panose="020B0504020101010102" pitchFamily="34" charset="0"/>
            </a:endParaRPr>
          </a:p>
        </p:txBody>
      </p:sp>
      <p:sp>
        <p:nvSpPr>
          <p:cNvPr id="9" name="Rounded Rectangle 8"/>
          <p:cNvSpPr/>
          <p:nvPr/>
        </p:nvSpPr>
        <p:spPr>
          <a:xfrm>
            <a:off x="889000" y="2286000"/>
            <a:ext cx="482600" cy="482600"/>
          </a:xfrm>
          <a:prstGeom prst="roundRect">
            <a:avLst>
              <a:gd name="adj" fmla="val 26000"/>
            </a:avLst>
          </a:prstGeom>
          <a:solidFill>
            <a:srgbClr val="ECEEF2"/>
          </a:solidFill>
          <a:ln>
            <a:noFill/>
          </a:ln>
          <a:effectLst/>
        </p:spPr>
        <p:txBody>
          <a:bodyPr rtlCol="0" anchor="ctr"/>
          <a:lstStyle/>
          <a:p>
            <a:pPr algn="ctr"/>
            <a:endParaRPr>
              <a:latin typeface="Mark Offc For MC" panose="020B0504020101010102" pitchFamily="34" charset="0"/>
            </a:endParaRPr>
          </a:p>
        </p:txBody>
      </p:sp>
      <p:sp>
        <p:nvSpPr>
          <p:cNvPr id="11" name="TextBox 10"/>
          <p:cNvSpPr txBox="1"/>
          <p:nvPr/>
        </p:nvSpPr>
        <p:spPr>
          <a:xfrm>
            <a:off x="1524000" y="2336800"/>
            <a:ext cx="6350000" cy="161583"/>
          </a:xfrm>
          <a:prstGeom prst="rect">
            <a:avLst/>
          </a:prstGeom>
          <a:noFill/>
        </p:spPr>
        <p:txBody>
          <a:bodyPr wrap="square" lIns="0" tIns="0" rIns="0" bIns="0" anchor="t">
            <a:spAutoFit/>
          </a:bodyPr>
          <a:lstStyle/>
          <a:p>
            <a:r>
              <a:rPr sz="1050" b="0" i="0" spc="160" dirty="0">
                <a:solidFill>
                  <a:srgbClr val="1D2735"/>
                </a:solidFill>
                <a:latin typeface="Mark Offc For MC" panose="020B0504020101010102" pitchFamily="34" charset="0"/>
              </a:rPr>
              <a:t>THE RISK</a:t>
            </a:r>
          </a:p>
        </p:txBody>
      </p:sp>
      <p:sp>
        <p:nvSpPr>
          <p:cNvPr id="12" name="TextBox 11"/>
          <p:cNvSpPr txBox="1"/>
          <p:nvPr/>
        </p:nvSpPr>
        <p:spPr>
          <a:xfrm>
            <a:off x="1524000" y="2540000"/>
            <a:ext cx="3530600" cy="238527"/>
          </a:xfrm>
          <a:prstGeom prst="rect">
            <a:avLst/>
          </a:prstGeom>
          <a:noFill/>
        </p:spPr>
        <p:txBody>
          <a:bodyPr wrap="square" lIns="0" tIns="0" rIns="0" bIns="0" anchor="t">
            <a:spAutoFit/>
          </a:bodyPr>
          <a:lstStyle/>
          <a:p>
            <a:r>
              <a:rPr sz="1550" b="0" i="0">
                <a:solidFill>
                  <a:srgbClr val="1A1A1A"/>
                </a:solidFill>
                <a:latin typeface="Mark Offc For MC" panose="020B0504020101010102" pitchFamily="34" charset="0"/>
              </a:rPr>
              <a:t>Control 3 constraints</a:t>
            </a:r>
          </a:p>
        </p:txBody>
      </p:sp>
      <p:sp>
        <p:nvSpPr>
          <p:cNvPr id="13" name="TextBox 12"/>
          <p:cNvSpPr txBox="1"/>
          <p:nvPr/>
        </p:nvSpPr>
        <p:spPr>
          <a:xfrm>
            <a:off x="914400" y="3098800"/>
            <a:ext cx="4114800" cy="1422400"/>
          </a:xfrm>
          <a:prstGeom prst="rect">
            <a:avLst/>
          </a:prstGeom>
          <a:noFill/>
        </p:spPr>
        <p:txBody>
          <a:bodyPr wrap="square" lIns="0" tIns="0" rIns="0" bIns="0" anchor="t">
            <a:spAutoFit/>
          </a:bodyPr>
          <a:lstStyle/>
          <a:p>
            <a:pPr>
              <a:lnSpc>
                <a:spcPct val="118000"/>
              </a:lnSpc>
              <a:spcAft>
                <a:spcPts val="700"/>
              </a:spcAft>
            </a:pPr>
            <a:r>
              <a:rPr sz="1250" b="0" i="0" dirty="0">
                <a:solidFill>
                  <a:srgbClr val="1D2735"/>
                </a:solidFill>
                <a:latin typeface="Mark Offc For MC" panose="020B0504020101010102" pitchFamily="34" charset="0"/>
              </a:rPr>
              <a:t>—  </a:t>
            </a:r>
            <a:r>
              <a:rPr sz="1250" b="0" i="0" dirty="0">
                <a:solidFill>
                  <a:srgbClr val="3C3F44"/>
                </a:solidFill>
                <a:latin typeface="Mark Offc For MC" panose="020B0504020101010102" pitchFamily="34" charset="0"/>
              </a:rPr>
              <a:t>Strict concentration caps (no peer above 25% share).</a:t>
            </a:r>
          </a:p>
          <a:p>
            <a:pPr>
              <a:lnSpc>
                <a:spcPct val="118000"/>
              </a:lnSpc>
              <a:spcAft>
                <a:spcPts val="700"/>
              </a:spcAft>
            </a:pPr>
            <a:r>
              <a:rPr sz="1250" b="0" i="0" dirty="0">
                <a:solidFill>
                  <a:srgbClr val="1D2735"/>
                </a:solidFill>
                <a:latin typeface="Mark Offc For MC" panose="020B0504020101010102" pitchFamily="34" charset="0"/>
              </a:rPr>
              <a:t>—  </a:t>
            </a:r>
            <a:r>
              <a:rPr sz="1250" b="0" i="0" dirty="0">
                <a:solidFill>
                  <a:srgbClr val="3C3F44"/>
                </a:solidFill>
                <a:latin typeface="Mark Offc For MC" panose="020B0504020101010102" pitchFamily="34" charset="0"/>
              </a:rPr>
              <a:t>Minimum participant thresholds per category.</a:t>
            </a:r>
          </a:p>
          <a:p>
            <a:pPr>
              <a:lnSpc>
                <a:spcPct val="118000"/>
              </a:lnSpc>
              <a:spcAft>
                <a:spcPts val="700"/>
              </a:spcAft>
            </a:pPr>
            <a:r>
              <a:rPr sz="1250" b="0" i="0" dirty="0">
                <a:solidFill>
                  <a:srgbClr val="1D2735"/>
                </a:solidFill>
                <a:latin typeface="Mark Offc For MC" panose="020B0504020101010102" pitchFamily="34" charset="0"/>
              </a:rPr>
              <a:t>—  </a:t>
            </a:r>
            <a:r>
              <a:rPr sz="1250" b="0" i="0" dirty="0">
                <a:solidFill>
                  <a:srgbClr val="3C3F44"/>
                </a:solidFill>
                <a:latin typeface="Mark Offc For MC" panose="020B0504020101010102" pitchFamily="34" charset="0"/>
              </a:rPr>
              <a:t>Zero-tolerance regulatory environment.</a:t>
            </a:r>
          </a:p>
          <a:p>
            <a:pPr>
              <a:lnSpc>
                <a:spcPct val="118000"/>
              </a:lnSpc>
              <a:spcAft>
                <a:spcPts val="700"/>
              </a:spcAft>
            </a:pPr>
            <a:r>
              <a:rPr sz="1250" b="0" i="0" dirty="0">
                <a:solidFill>
                  <a:srgbClr val="1D2735"/>
                </a:solidFill>
                <a:latin typeface="Mark Offc For MC" panose="020B0504020101010102" pitchFamily="34" charset="0"/>
              </a:rPr>
              <a:t>—  </a:t>
            </a:r>
            <a:r>
              <a:rPr sz="1250" b="0" i="0" dirty="0">
                <a:solidFill>
                  <a:srgbClr val="3C3F44"/>
                </a:solidFill>
                <a:latin typeface="Mark Offc For MC" panose="020B0504020101010102" pitchFamily="34" charset="0"/>
              </a:rPr>
              <a:t>Manual weighting silently destroys data fidelity.</a:t>
            </a:r>
          </a:p>
        </p:txBody>
      </p:sp>
      <p:sp>
        <p:nvSpPr>
          <p:cNvPr id="14" name="Rounded Rectangle 13"/>
          <p:cNvSpPr/>
          <p:nvPr/>
        </p:nvSpPr>
        <p:spPr>
          <a:xfrm>
            <a:off x="6858000" y="2006600"/>
            <a:ext cx="4724400" cy="2692400"/>
          </a:xfrm>
          <a:prstGeom prst="roundRect">
            <a:avLst>
              <a:gd name="adj" fmla="val 4500"/>
            </a:avLst>
          </a:prstGeom>
          <a:solidFill>
            <a:srgbClr val="FBFAF8"/>
          </a:solidFill>
          <a:ln w="12700">
            <a:solidFill>
              <a:srgbClr val="E6E2DC"/>
            </a:solidFill>
          </a:ln>
          <a:effectLst/>
        </p:spPr>
        <p:txBody>
          <a:bodyPr rtlCol="0" anchor="ctr"/>
          <a:lstStyle/>
          <a:p>
            <a:pPr algn="ctr"/>
            <a:endParaRPr>
              <a:latin typeface="Mark Offc For MC" panose="020B0504020101010102" pitchFamily="34" charset="0"/>
            </a:endParaRPr>
          </a:p>
        </p:txBody>
      </p:sp>
      <p:sp>
        <p:nvSpPr>
          <p:cNvPr id="15" name="Rounded Rectangle 14"/>
          <p:cNvSpPr/>
          <p:nvPr/>
        </p:nvSpPr>
        <p:spPr>
          <a:xfrm>
            <a:off x="7137400" y="2286000"/>
            <a:ext cx="482600" cy="482600"/>
          </a:xfrm>
          <a:prstGeom prst="roundRect">
            <a:avLst>
              <a:gd name="adj" fmla="val 26000"/>
            </a:avLst>
          </a:prstGeom>
          <a:solidFill>
            <a:srgbClr val="FFEDE2"/>
          </a:solidFill>
          <a:ln>
            <a:noFill/>
          </a:ln>
          <a:effectLst/>
        </p:spPr>
        <p:txBody>
          <a:bodyPr rtlCol="0" anchor="ctr"/>
          <a:lstStyle/>
          <a:p>
            <a:pPr algn="ctr"/>
            <a:endParaRPr>
              <a:latin typeface="Mark Offc For MC" panose="020B0504020101010102" pitchFamily="34" charset="0"/>
            </a:endParaRPr>
          </a:p>
        </p:txBody>
      </p:sp>
      <p:sp>
        <p:nvSpPr>
          <p:cNvPr id="17" name="TextBox 16"/>
          <p:cNvSpPr txBox="1"/>
          <p:nvPr/>
        </p:nvSpPr>
        <p:spPr>
          <a:xfrm>
            <a:off x="7772400" y="2336800"/>
            <a:ext cx="6350000" cy="161583"/>
          </a:xfrm>
          <a:prstGeom prst="rect">
            <a:avLst/>
          </a:prstGeom>
          <a:noFill/>
        </p:spPr>
        <p:txBody>
          <a:bodyPr wrap="square" lIns="0" tIns="0" rIns="0" bIns="0" anchor="t">
            <a:spAutoFit/>
          </a:bodyPr>
          <a:lstStyle/>
          <a:p>
            <a:r>
              <a:rPr sz="1050" b="0" i="0" spc="160">
                <a:solidFill>
                  <a:srgbClr val="FF671B"/>
                </a:solidFill>
                <a:latin typeface="Mark Offc For MC" panose="020B0504020101010102" pitchFamily="34" charset="0"/>
              </a:rPr>
              <a:t>THE GOAL</a:t>
            </a:r>
          </a:p>
        </p:txBody>
      </p:sp>
      <p:sp>
        <p:nvSpPr>
          <p:cNvPr id="18" name="TextBox 17"/>
          <p:cNvSpPr txBox="1"/>
          <p:nvPr/>
        </p:nvSpPr>
        <p:spPr>
          <a:xfrm>
            <a:off x="7772400" y="2540000"/>
            <a:ext cx="3530600" cy="238527"/>
          </a:xfrm>
          <a:prstGeom prst="rect">
            <a:avLst/>
          </a:prstGeom>
          <a:noFill/>
        </p:spPr>
        <p:txBody>
          <a:bodyPr wrap="square" lIns="0" tIns="0" rIns="0" bIns="0" anchor="t">
            <a:spAutoFit/>
          </a:bodyPr>
          <a:lstStyle/>
          <a:p>
            <a:r>
              <a:rPr sz="1550" b="0" i="0">
                <a:solidFill>
                  <a:srgbClr val="1A1A1A"/>
                </a:solidFill>
                <a:latin typeface="Mark Offc For MC" panose="020B0504020101010102" pitchFamily="34" charset="0"/>
              </a:rPr>
              <a:t>Market reality</a:t>
            </a:r>
          </a:p>
        </p:txBody>
      </p:sp>
      <p:sp>
        <p:nvSpPr>
          <p:cNvPr id="19" name="TextBox 18"/>
          <p:cNvSpPr txBox="1"/>
          <p:nvPr/>
        </p:nvSpPr>
        <p:spPr>
          <a:xfrm>
            <a:off x="7162800" y="3098800"/>
            <a:ext cx="4114800" cy="1062599"/>
          </a:xfrm>
          <a:prstGeom prst="rect">
            <a:avLst/>
          </a:prstGeom>
          <a:noFill/>
        </p:spPr>
        <p:txBody>
          <a:bodyPr wrap="square" lIns="0" tIns="0" rIns="0" bIns="0" anchor="t">
            <a:spAutoFit/>
          </a:bodyPr>
          <a:lstStyle/>
          <a:p>
            <a:pPr>
              <a:lnSpc>
                <a:spcPct val="118000"/>
              </a:lnSpc>
              <a:spcAft>
                <a:spcPts val="700"/>
              </a:spcAft>
            </a:pPr>
            <a:r>
              <a:rPr sz="1250" b="0" i="0" dirty="0">
                <a:solidFill>
                  <a:srgbClr val="FF671B"/>
                </a:solidFill>
                <a:latin typeface="Mark Offc For MC" panose="020B0504020101010102" pitchFamily="34" charset="0"/>
              </a:rPr>
              <a:t>—  </a:t>
            </a:r>
            <a:r>
              <a:rPr sz="1250" b="0" i="0" dirty="0">
                <a:solidFill>
                  <a:srgbClr val="3C3F44"/>
                </a:solidFill>
                <a:latin typeface="Mark Offc For MC" panose="020B0504020101010102" pitchFamily="34" charset="0"/>
              </a:rPr>
              <a:t>Maintain exact market positioning.</a:t>
            </a:r>
          </a:p>
          <a:p>
            <a:pPr>
              <a:lnSpc>
                <a:spcPct val="118000"/>
              </a:lnSpc>
              <a:spcAft>
                <a:spcPts val="700"/>
              </a:spcAft>
            </a:pPr>
            <a:r>
              <a:rPr sz="1250" b="0" i="0" dirty="0">
                <a:solidFill>
                  <a:srgbClr val="FF671B"/>
                </a:solidFill>
                <a:latin typeface="Mark Offc For MC" panose="020B0504020101010102" pitchFamily="34" charset="0"/>
              </a:rPr>
              <a:t>—  </a:t>
            </a:r>
            <a:r>
              <a:rPr sz="1250" b="0" i="0" dirty="0">
                <a:solidFill>
                  <a:srgbClr val="3C3F44"/>
                </a:solidFill>
                <a:latin typeface="Mark Offc For MC" panose="020B0504020101010102" pitchFamily="34" charset="0"/>
              </a:rPr>
              <a:t>Preserve rank integrity across every dimension.</a:t>
            </a:r>
          </a:p>
          <a:p>
            <a:pPr>
              <a:lnSpc>
                <a:spcPct val="118000"/>
              </a:lnSpc>
              <a:spcAft>
                <a:spcPts val="700"/>
              </a:spcAft>
            </a:pPr>
            <a:r>
              <a:rPr sz="1250" b="0" i="0" dirty="0">
                <a:solidFill>
                  <a:srgbClr val="FF671B"/>
                </a:solidFill>
                <a:latin typeface="Mark Offc For MC" panose="020B0504020101010102" pitchFamily="34" charset="0"/>
              </a:rPr>
              <a:t>—  </a:t>
            </a:r>
            <a:r>
              <a:rPr sz="1250" b="0" i="0" dirty="0">
                <a:solidFill>
                  <a:srgbClr val="3C3F44"/>
                </a:solidFill>
                <a:latin typeface="Mark Offc For MC" panose="020B0504020101010102" pitchFamily="34" charset="0"/>
              </a:rPr>
              <a:t>Deliver actionable merchant and issuer performance.</a:t>
            </a:r>
          </a:p>
        </p:txBody>
      </p:sp>
      <p:sp>
        <p:nvSpPr>
          <p:cNvPr id="20" name="Chevron 19"/>
          <p:cNvSpPr/>
          <p:nvPr/>
        </p:nvSpPr>
        <p:spPr>
          <a:xfrm>
            <a:off x="5689600" y="3098800"/>
            <a:ext cx="812800" cy="508000"/>
          </a:xfrm>
          <a:prstGeom prst="chevron">
            <a:avLst/>
          </a:prstGeom>
          <a:solidFill>
            <a:srgbClr val="FF671B"/>
          </a:solidFill>
          <a:ln>
            <a:noFill/>
          </a:ln>
          <a:effectLst/>
        </p:spPr>
        <p:txBody>
          <a:bodyPr rtlCol="0" anchor="ctr"/>
          <a:lstStyle/>
          <a:p>
            <a:pPr algn="ctr"/>
            <a:endParaRPr>
              <a:latin typeface="Mark Offc For MC" panose="020B0504020101010102" pitchFamily="34" charset="0"/>
            </a:endParaRPr>
          </a:p>
        </p:txBody>
      </p:sp>
      <p:sp>
        <p:nvSpPr>
          <p:cNvPr id="21" name="TextBox 20"/>
          <p:cNvSpPr txBox="1"/>
          <p:nvPr/>
        </p:nvSpPr>
        <p:spPr>
          <a:xfrm>
            <a:off x="5334000" y="3683000"/>
            <a:ext cx="1524000" cy="153888"/>
          </a:xfrm>
          <a:prstGeom prst="rect">
            <a:avLst/>
          </a:prstGeom>
          <a:noFill/>
        </p:spPr>
        <p:txBody>
          <a:bodyPr wrap="square" lIns="0" tIns="0" rIns="0" bIns="0" anchor="t">
            <a:spAutoFit/>
          </a:bodyPr>
          <a:lstStyle/>
          <a:p>
            <a:pPr algn="ctr"/>
            <a:r>
              <a:rPr sz="1000" b="0" i="0" spc="120" dirty="0">
                <a:solidFill>
                  <a:srgbClr val="D84E0C"/>
                </a:solidFill>
                <a:latin typeface="Mark Offc For MC Heavy" panose="020B0904020101010102" pitchFamily="34" charset="0"/>
              </a:rPr>
              <a:t>AUTOBENCH</a:t>
            </a:r>
          </a:p>
        </p:txBody>
      </p:sp>
      <p:sp>
        <p:nvSpPr>
          <p:cNvPr id="22" name="Rounded Rectangle 21"/>
          <p:cNvSpPr/>
          <p:nvPr/>
        </p:nvSpPr>
        <p:spPr>
          <a:xfrm>
            <a:off x="609600" y="5130800"/>
            <a:ext cx="10972800" cy="939800"/>
          </a:xfrm>
          <a:prstGeom prst="roundRect">
            <a:avLst>
              <a:gd name="adj" fmla="val 8000"/>
            </a:avLst>
          </a:prstGeom>
          <a:solidFill>
            <a:srgbClr val="FF671B"/>
          </a:solidFill>
          <a:ln>
            <a:noFill/>
          </a:ln>
          <a:effectLst/>
        </p:spPr>
        <p:txBody>
          <a:bodyPr rtlCol="0" anchor="ctr"/>
          <a:lstStyle/>
          <a:p>
            <a:pPr algn="ctr"/>
            <a:endParaRPr>
              <a:latin typeface="Mark Offc For MC" panose="020B0504020101010102" pitchFamily="34" charset="0"/>
            </a:endParaRPr>
          </a:p>
        </p:txBody>
      </p:sp>
      <p:sp>
        <p:nvSpPr>
          <p:cNvPr id="24" name="TextBox 23"/>
          <p:cNvSpPr txBox="1"/>
          <p:nvPr/>
        </p:nvSpPr>
        <p:spPr>
          <a:xfrm>
            <a:off x="1549400" y="5371855"/>
            <a:ext cx="9448800" cy="457689"/>
          </a:xfrm>
          <a:prstGeom prst="rect">
            <a:avLst/>
          </a:prstGeom>
          <a:noFill/>
        </p:spPr>
        <p:txBody>
          <a:bodyPr wrap="square" lIns="0" tIns="0" rIns="0" bIns="0" anchor="ctr">
            <a:spAutoFit/>
          </a:bodyPr>
          <a:lstStyle/>
          <a:p>
            <a:pPr>
              <a:lnSpc>
                <a:spcPct val="114000"/>
              </a:lnSpc>
            </a:pPr>
            <a:r>
              <a:rPr sz="1400" b="0" i="0">
                <a:solidFill>
                  <a:srgbClr val="FFFFFF"/>
                </a:solidFill>
                <a:latin typeface="Mark Offc For MC" panose="020B0504020101010102" pitchFamily="34" charset="0"/>
              </a:rPr>
              <a:t>The solution.  </a:t>
            </a:r>
            <a:r>
              <a:rPr sz="1350" b="0" i="0">
                <a:solidFill>
                  <a:srgbClr val="FFFFFF"/>
                </a:solidFill>
                <a:latin typeface="Mark Offc For MC" panose="020B0504020101010102" pitchFamily="34" charset="0"/>
              </a:rPr>
              <a:t>Advanced Linear Programming enforces absolute privacy compliance while mathematically minimizing distortion.</a:t>
            </a:r>
          </a:p>
        </p:txBody>
      </p:sp>
      <p:sp>
        <p:nvSpPr>
          <p:cNvPr id="25" name="TextBox 24"/>
          <p:cNvSpPr txBox="1"/>
          <p:nvPr/>
        </p:nvSpPr>
        <p:spPr>
          <a:xfrm>
            <a:off x="609600" y="6509350"/>
            <a:ext cx="2540000" cy="138499"/>
          </a:xfrm>
          <a:prstGeom prst="rect">
            <a:avLst/>
          </a:prstGeom>
          <a:noFill/>
        </p:spPr>
        <p:txBody>
          <a:bodyPr wrap="square" lIns="0" tIns="0" rIns="0" bIns="0" anchor="ctr">
            <a:spAutoFit/>
          </a:bodyPr>
          <a:lstStyle/>
          <a:p>
            <a:r>
              <a:rPr sz="900" b="0" i="0">
                <a:solidFill>
                  <a:srgbClr val="FF671B"/>
                </a:solidFill>
                <a:latin typeface="Mark Offc For MC" panose="020B0504020101010102" pitchFamily="34" charset="0"/>
              </a:rPr>
              <a:t>02</a:t>
            </a:r>
            <a:r>
              <a:rPr sz="900" b="0" i="0">
                <a:solidFill>
                  <a:srgbClr val="9CA0A6"/>
                </a:solidFill>
                <a:latin typeface="Mark Offc For MC" panose="020B0504020101010102" pitchFamily="34" charset="0"/>
              </a:rPr>
              <a:t>  /  13</a:t>
            </a:r>
          </a:p>
        </p:txBody>
      </p:sp>
      <p:sp>
        <p:nvSpPr>
          <p:cNvPr id="26" name="TextBox 25"/>
          <p:cNvSpPr txBox="1"/>
          <p:nvPr/>
        </p:nvSpPr>
        <p:spPr>
          <a:xfrm>
            <a:off x="11912600" y="2931613"/>
            <a:ext cx="100027" cy="2021387"/>
          </a:xfrm>
          <a:prstGeom prst="rect">
            <a:avLst/>
          </a:prstGeom>
          <a:noFill/>
        </p:spPr>
        <p:txBody>
          <a:bodyPr vert="vert270" wrap="none" lIns="0" tIns="0" rIns="0" bIns="0">
            <a:spAutoFit/>
          </a:bodyPr>
          <a:lstStyle/>
          <a:p>
            <a:r>
              <a:rPr sz="650">
                <a:solidFill>
                  <a:srgbClr val="9CA0A6"/>
                </a:solidFill>
                <a:latin typeface="Mark Offc For MC" panose="020B0504020101010102" pitchFamily="34" charset="0"/>
              </a:rPr>
              <a:t>© 2025 Mastercard. Proprietary and Confidential.</a:t>
            </a:r>
          </a:p>
        </p:txBody>
      </p:sp>
      <p:sp>
        <p:nvSpPr>
          <p:cNvPr id="27" name="Oval 26"/>
          <p:cNvSpPr/>
          <p:nvPr/>
        </p:nvSpPr>
        <p:spPr>
          <a:xfrm>
            <a:off x="11080496" y="6248400"/>
            <a:ext cx="330200" cy="330200"/>
          </a:xfrm>
          <a:prstGeom prst="ellipse">
            <a:avLst/>
          </a:prstGeom>
          <a:solidFill>
            <a:srgbClr val="EB001B"/>
          </a:solidFill>
          <a:ln>
            <a:noFill/>
          </a:ln>
          <a:effectLst/>
        </p:spPr>
        <p:txBody>
          <a:bodyPr rtlCol="0" anchor="ctr"/>
          <a:lstStyle/>
          <a:p>
            <a:pPr algn="ctr"/>
            <a:endParaRPr>
              <a:latin typeface="Mark Offc For MC" panose="020B0504020101010102" pitchFamily="34" charset="0"/>
            </a:endParaRPr>
          </a:p>
        </p:txBody>
      </p:sp>
      <p:sp>
        <p:nvSpPr>
          <p:cNvPr id="28" name="Oval 27"/>
          <p:cNvSpPr/>
          <p:nvPr/>
        </p:nvSpPr>
        <p:spPr>
          <a:xfrm>
            <a:off x="11252200" y="6248400"/>
            <a:ext cx="330200" cy="330200"/>
          </a:xfrm>
          <a:prstGeom prst="ellipse">
            <a:avLst/>
          </a:prstGeom>
          <a:solidFill>
            <a:srgbClr val="F79E1B"/>
          </a:solidFill>
          <a:ln>
            <a:noFill/>
          </a:ln>
          <a:effectLst/>
        </p:spPr>
        <p:txBody>
          <a:bodyPr rtlCol="0" anchor="ctr"/>
          <a:lstStyle/>
          <a:p>
            <a:pPr algn="ctr"/>
            <a:endParaRPr>
              <a:latin typeface="Mark Offc For MC" panose="020B0504020101010102" pitchFamily="34" charset="0"/>
            </a:endParaRPr>
          </a:p>
        </p:txBody>
      </p:sp>
      <p:sp>
        <p:nvSpPr>
          <p:cNvPr id="29" name="Oval 28"/>
          <p:cNvSpPr/>
          <p:nvPr/>
        </p:nvSpPr>
        <p:spPr>
          <a:xfrm>
            <a:off x="11252200" y="6272339"/>
            <a:ext cx="158496" cy="282321"/>
          </a:xfrm>
          <a:prstGeom prst="ellipse">
            <a:avLst/>
          </a:prstGeom>
          <a:solidFill>
            <a:srgbClr val="FF5F00"/>
          </a:solidFill>
          <a:ln>
            <a:noFill/>
          </a:ln>
          <a:effectLst/>
        </p:spPr>
        <p:txBody>
          <a:bodyPr rtlCol="0" anchor="ctr"/>
          <a:lstStyle/>
          <a:p>
            <a:pPr algn="ctr"/>
            <a:endParaRPr>
              <a:latin typeface="Mark Offc For MC" panose="020B0504020101010102" pitchFamily="34" charset="0"/>
            </a:endParaRPr>
          </a:p>
        </p:txBody>
      </p:sp>
      <p:pic>
        <p:nvPicPr>
          <p:cNvPr id="31" name="Picture 30">
            <a:extLst>
              <a:ext uri="{FF2B5EF4-FFF2-40B4-BE49-F238E27FC236}">
                <a16:creationId xmlns:a16="http://schemas.microsoft.com/office/drawing/2014/main" id="{E4FD276B-C635-DC64-7BBC-B69F53B52C78}"/>
              </a:ext>
            </a:extLst>
          </p:cNvPr>
          <p:cNvPicPr>
            <a:picLocks noChangeAspect="1"/>
          </p:cNvPicPr>
          <p:nvPr/>
        </p:nvPicPr>
        <p:blipFill>
          <a:blip r:embed="rId2"/>
          <a:stretch>
            <a:fillRect/>
          </a:stretch>
        </p:blipFill>
        <p:spPr>
          <a:xfrm>
            <a:off x="914400" y="2329064"/>
            <a:ext cx="406400" cy="406400"/>
          </a:xfrm>
          <a:prstGeom prst="rect">
            <a:avLst/>
          </a:prstGeom>
        </p:spPr>
      </p:pic>
      <p:pic>
        <p:nvPicPr>
          <p:cNvPr id="33" name="Picture 32">
            <a:extLst>
              <a:ext uri="{FF2B5EF4-FFF2-40B4-BE49-F238E27FC236}">
                <a16:creationId xmlns:a16="http://schemas.microsoft.com/office/drawing/2014/main" id="{183FAF65-CBAC-AA22-D7AA-52E9708C9955}"/>
              </a:ext>
            </a:extLst>
          </p:cNvPr>
          <p:cNvPicPr>
            <a:picLocks noChangeAspect="1"/>
          </p:cNvPicPr>
          <p:nvPr/>
        </p:nvPicPr>
        <p:blipFill>
          <a:blip r:embed="rId3"/>
          <a:stretch>
            <a:fillRect/>
          </a:stretch>
        </p:blipFill>
        <p:spPr>
          <a:xfrm>
            <a:off x="7197586" y="2336800"/>
            <a:ext cx="374743" cy="374743"/>
          </a:xfrm>
          <a:prstGeom prst="rect">
            <a:avLst/>
          </a:prstGeom>
        </p:spPr>
      </p:pic>
      <p:pic>
        <p:nvPicPr>
          <p:cNvPr id="35" name="Picture 34">
            <a:extLst>
              <a:ext uri="{FF2B5EF4-FFF2-40B4-BE49-F238E27FC236}">
                <a16:creationId xmlns:a16="http://schemas.microsoft.com/office/drawing/2014/main" id="{324707B9-6B16-7C21-52AE-5DC323F40313}"/>
              </a:ext>
            </a:extLst>
          </p:cNvPr>
          <p:cNvPicPr>
            <a:picLocks noChangeAspect="1"/>
          </p:cNvPicPr>
          <p:nvPr/>
        </p:nvPicPr>
        <p:blipFill>
          <a:blip r:embed="rId4"/>
          <a:stretch>
            <a:fillRect/>
          </a:stretch>
        </p:blipFill>
        <p:spPr>
          <a:xfrm>
            <a:off x="959550" y="5386286"/>
            <a:ext cx="428826" cy="42882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r>
              <a:rPr lang="pt-BR" dirty="0">
                <a:latin typeface="Mark Offc For MC" panose="020B0504020101010102" pitchFamily="34" charset="0"/>
              </a:rPr>
              <a:t>‘</a:t>
            </a:r>
            <a:endParaRPr dirty="0">
              <a:latin typeface="Mark Offc For MC" panose="020B0504020101010102" pitchFamily="34" charset="0"/>
            </a:endParaRPr>
          </a:p>
        </p:txBody>
      </p:sp>
      <p:sp>
        <p:nvSpPr>
          <p:cNvPr id="3" name="TextBox 2"/>
          <p:cNvSpPr txBox="1"/>
          <p:nvPr/>
        </p:nvSpPr>
        <p:spPr>
          <a:xfrm>
            <a:off x="609600" y="508000"/>
            <a:ext cx="6350000" cy="161583"/>
          </a:xfrm>
          <a:prstGeom prst="rect">
            <a:avLst/>
          </a:prstGeom>
          <a:noFill/>
        </p:spPr>
        <p:txBody>
          <a:bodyPr wrap="square" lIns="0" tIns="0" rIns="0" bIns="0" anchor="t">
            <a:spAutoFit/>
          </a:bodyPr>
          <a:lstStyle/>
          <a:p>
            <a:r>
              <a:rPr sz="1050" b="0" i="0" spc="160" dirty="0">
                <a:solidFill>
                  <a:srgbClr val="FF671B"/>
                </a:solidFill>
                <a:latin typeface="Mark Offc For MC Light" panose="020B0504020101010102" pitchFamily="34" charset="0"/>
              </a:rPr>
              <a:t>ARCHITECTURE</a:t>
            </a:r>
          </a:p>
        </p:txBody>
      </p:sp>
      <p:sp>
        <p:nvSpPr>
          <p:cNvPr id="4" name="TextBox 3"/>
          <p:cNvSpPr txBox="1"/>
          <p:nvPr/>
        </p:nvSpPr>
        <p:spPr>
          <a:xfrm>
            <a:off x="609600" y="736600"/>
            <a:ext cx="10972800" cy="340029"/>
          </a:xfrm>
          <a:prstGeom prst="rect">
            <a:avLst/>
          </a:prstGeom>
          <a:noFill/>
        </p:spPr>
        <p:txBody>
          <a:bodyPr wrap="square" lIns="0" tIns="0" rIns="0" bIns="0" anchor="t">
            <a:spAutoFit/>
          </a:bodyPr>
          <a:lstStyle/>
          <a:p>
            <a:pPr>
              <a:lnSpc>
                <a:spcPct val="106000"/>
              </a:lnSpc>
            </a:pPr>
            <a:r>
              <a:rPr sz="2300" b="0" i="0" dirty="0">
                <a:solidFill>
                  <a:srgbClr val="1A1A1A"/>
                </a:solidFill>
                <a:latin typeface="Mark Offc For MC" panose="020B0504020101010102" pitchFamily="34" charset="0"/>
              </a:rPr>
              <a:t>Three coordinated phases turn raw data into audit-ready intelligence.</a:t>
            </a:r>
          </a:p>
        </p:txBody>
      </p:sp>
      <p:cxnSp>
        <p:nvCxnSpPr>
          <p:cNvPr id="5" name="Connector 4"/>
          <p:cNvCxnSpPr/>
          <p:nvPr/>
        </p:nvCxnSpPr>
        <p:spPr>
          <a:xfrm>
            <a:off x="609600" y="1625600"/>
            <a:ext cx="10972800" cy="0"/>
          </a:xfrm>
          <a:prstGeom prst="line">
            <a:avLst/>
          </a:prstGeom>
          <a:ln w="12700">
            <a:solidFill>
              <a:srgbClr val="E6E2DC"/>
            </a:solidFill>
          </a:ln>
        </p:spPr>
      </p:cxnSp>
      <p:sp>
        <p:nvSpPr>
          <p:cNvPr id="6" name="Rectangle 5"/>
          <p:cNvSpPr/>
          <p:nvPr/>
        </p:nvSpPr>
        <p:spPr>
          <a:xfrm>
            <a:off x="609600" y="1610360"/>
            <a:ext cx="685800" cy="30480"/>
          </a:xfrm>
          <a:prstGeom prst="rect">
            <a:avLst/>
          </a:prstGeom>
          <a:solidFill>
            <a:srgbClr val="FF671B"/>
          </a:solidFill>
          <a:ln>
            <a:noFill/>
          </a:ln>
          <a:effectLst/>
        </p:spPr>
        <p:txBody>
          <a:bodyPr rtlCol="0" anchor="ctr"/>
          <a:lstStyle/>
          <a:p>
            <a:pPr algn="ctr"/>
            <a:endParaRPr>
              <a:latin typeface="Mark Offc For MC" panose="020B0504020101010102" pitchFamily="34" charset="0"/>
            </a:endParaRPr>
          </a:p>
        </p:txBody>
      </p:sp>
      <p:sp>
        <p:nvSpPr>
          <p:cNvPr id="7" name="Rounded Rectangle 6"/>
          <p:cNvSpPr/>
          <p:nvPr/>
        </p:nvSpPr>
        <p:spPr>
          <a:xfrm>
            <a:off x="609600" y="1930400"/>
            <a:ext cx="3318933" cy="3759200"/>
          </a:xfrm>
          <a:prstGeom prst="roundRect">
            <a:avLst>
              <a:gd name="adj" fmla="val 4000"/>
            </a:avLst>
          </a:prstGeom>
          <a:solidFill>
            <a:srgbClr val="FBFAF8"/>
          </a:solidFill>
          <a:ln w="12700">
            <a:solidFill>
              <a:srgbClr val="E6E2DC"/>
            </a:solidFill>
          </a:ln>
          <a:effectLst/>
        </p:spPr>
        <p:txBody>
          <a:bodyPr rtlCol="0" anchor="ctr"/>
          <a:lstStyle/>
          <a:p>
            <a:pPr algn="ctr"/>
            <a:endParaRPr>
              <a:latin typeface="Mark Offc For MC" panose="020B0504020101010102" pitchFamily="34" charset="0"/>
            </a:endParaRPr>
          </a:p>
        </p:txBody>
      </p:sp>
      <p:sp>
        <p:nvSpPr>
          <p:cNvPr id="9" name="Rounded Rectangle 8"/>
          <p:cNvSpPr/>
          <p:nvPr/>
        </p:nvSpPr>
        <p:spPr>
          <a:xfrm>
            <a:off x="863600" y="2209800"/>
            <a:ext cx="508000" cy="508000"/>
          </a:xfrm>
          <a:prstGeom prst="roundRect">
            <a:avLst>
              <a:gd name="adj" fmla="val 26000"/>
            </a:avLst>
          </a:prstGeom>
          <a:solidFill>
            <a:srgbClr val="ECEEF2"/>
          </a:solidFill>
          <a:ln>
            <a:noFill/>
          </a:ln>
          <a:effectLst/>
        </p:spPr>
        <p:txBody>
          <a:bodyPr rtlCol="0" anchor="ctr"/>
          <a:lstStyle/>
          <a:p>
            <a:pPr algn="ctr"/>
            <a:endParaRPr>
              <a:latin typeface="Mark Offc For MC" panose="020B0504020101010102" pitchFamily="34" charset="0"/>
            </a:endParaRPr>
          </a:p>
        </p:txBody>
      </p:sp>
      <p:sp>
        <p:nvSpPr>
          <p:cNvPr id="11" name="TextBox 10"/>
          <p:cNvSpPr txBox="1"/>
          <p:nvPr/>
        </p:nvSpPr>
        <p:spPr>
          <a:xfrm>
            <a:off x="1524000" y="2235200"/>
            <a:ext cx="6350000" cy="161583"/>
          </a:xfrm>
          <a:prstGeom prst="rect">
            <a:avLst/>
          </a:prstGeom>
          <a:noFill/>
        </p:spPr>
        <p:txBody>
          <a:bodyPr wrap="square" lIns="0" tIns="0" rIns="0" bIns="0" anchor="t">
            <a:spAutoFit/>
          </a:bodyPr>
          <a:lstStyle/>
          <a:p>
            <a:r>
              <a:rPr sz="1050" b="0" i="0" spc="160" dirty="0">
                <a:solidFill>
                  <a:srgbClr val="1D2735"/>
                </a:solidFill>
                <a:latin typeface="Mark Offc For MC" panose="020B0504020101010102" pitchFamily="34" charset="0"/>
              </a:rPr>
              <a:t>PHASE 1</a:t>
            </a:r>
          </a:p>
        </p:txBody>
      </p:sp>
      <p:sp>
        <p:nvSpPr>
          <p:cNvPr id="12" name="TextBox 11"/>
          <p:cNvSpPr txBox="1"/>
          <p:nvPr/>
        </p:nvSpPr>
        <p:spPr>
          <a:xfrm>
            <a:off x="1524000" y="2438400"/>
            <a:ext cx="2175933" cy="230832"/>
          </a:xfrm>
          <a:prstGeom prst="rect">
            <a:avLst/>
          </a:prstGeom>
          <a:noFill/>
        </p:spPr>
        <p:txBody>
          <a:bodyPr wrap="square" lIns="0" tIns="0" rIns="0" bIns="0" anchor="t">
            <a:spAutoFit/>
          </a:bodyPr>
          <a:lstStyle/>
          <a:p>
            <a:pPr>
              <a:lnSpc>
                <a:spcPct val="100000"/>
              </a:lnSpc>
            </a:pPr>
            <a:r>
              <a:rPr sz="1500" i="0" dirty="0">
                <a:solidFill>
                  <a:srgbClr val="1A1A1A"/>
                </a:solidFill>
                <a:latin typeface="Mark Offc For MC Medium" panose="020B0604020101010102" pitchFamily="34" charset="0"/>
              </a:rPr>
              <a:t>Ingestion Interfaces</a:t>
            </a:r>
          </a:p>
        </p:txBody>
      </p:sp>
      <p:sp>
        <p:nvSpPr>
          <p:cNvPr id="13" name="Rounded Rectangle 12"/>
          <p:cNvSpPr/>
          <p:nvPr/>
        </p:nvSpPr>
        <p:spPr>
          <a:xfrm>
            <a:off x="863600" y="3302000"/>
            <a:ext cx="2810933" cy="609600"/>
          </a:xfrm>
          <a:prstGeom prst="roundRect">
            <a:avLst>
              <a:gd name="adj" fmla="val 12000"/>
            </a:avLst>
          </a:prstGeom>
          <a:solidFill>
            <a:srgbClr val="FFFFFF"/>
          </a:solidFill>
          <a:ln w="12700">
            <a:solidFill>
              <a:srgbClr val="EFECE7"/>
            </a:solidFill>
          </a:ln>
          <a:effectLst/>
        </p:spPr>
        <p:txBody>
          <a:bodyPr rtlCol="0" anchor="ctr"/>
          <a:lstStyle/>
          <a:p>
            <a:pPr algn="ctr"/>
            <a:endParaRPr>
              <a:latin typeface="Mark Offc For MC" panose="020B0504020101010102" pitchFamily="34" charset="0"/>
            </a:endParaRPr>
          </a:p>
        </p:txBody>
      </p:sp>
      <p:sp>
        <p:nvSpPr>
          <p:cNvPr id="14" name="TextBox 13"/>
          <p:cNvSpPr txBox="1"/>
          <p:nvPr/>
        </p:nvSpPr>
        <p:spPr>
          <a:xfrm>
            <a:off x="1016000" y="3528028"/>
            <a:ext cx="2506133" cy="157544"/>
          </a:xfrm>
          <a:prstGeom prst="rect">
            <a:avLst/>
          </a:prstGeom>
          <a:noFill/>
        </p:spPr>
        <p:txBody>
          <a:bodyPr wrap="square" lIns="0" tIns="0" rIns="0" bIns="0" anchor="ctr">
            <a:spAutoFit/>
          </a:bodyPr>
          <a:lstStyle/>
          <a:p>
            <a:pPr>
              <a:lnSpc>
                <a:spcPct val="102000"/>
              </a:lnSpc>
            </a:pPr>
            <a:r>
              <a:rPr sz="1100" b="0" i="0">
                <a:solidFill>
                  <a:srgbClr val="3C3F44"/>
                </a:solidFill>
                <a:latin typeface="Mark Offc For MC" panose="020B0504020101010102" pitchFamily="34" charset="0"/>
              </a:rPr>
              <a:t>CLI · automated pipelines</a:t>
            </a:r>
          </a:p>
        </p:txBody>
      </p:sp>
      <p:sp>
        <p:nvSpPr>
          <p:cNvPr id="15" name="Rounded Rectangle 14"/>
          <p:cNvSpPr/>
          <p:nvPr/>
        </p:nvSpPr>
        <p:spPr>
          <a:xfrm>
            <a:off x="863600" y="4038600"/>
            <a:ext cx="2810933" cy="609600"/>
          </a:xfrm>
          <a:prstGeom prst="roundRect">
            <a:avLst>
              <a:gd name="adj" fmla="val 12000"/>
            </a:avLst>
          </a:prstGeom>
          <a:solidFill>
            <a:srgbClr val="FFFFFF"/>
          </a:solidFill>
          <a:ln w="12700">
            <a:solidFill>
              <a:srgbClr val="EFECE7"/>
            </a:solidFill>
          </a:ln>
          <a:effectLst/>
        </p:spPr>
        <p:txBody>
          <a:bodyPr rtlCol="0" anchor="ctr"/>
          <a:lstStyle/>
          <a:p>
            <a:pPr algn="ctr"/>
            <a:endParaRPr>
              <a:latin typeface="Mark Offc For MC" panose="020B0504020101010102" pitchFamily="34" charset="0"/>
            </a:endParaRPr>
          </a:p>
        </p:txBody>
      </p:sp>
      <p:sp>
        <p:nvSpPr>
          <p:cNvPr id="16" name="TextBox 15"/>
          <p:cNvSpPr txBox="1"/>
          <p:nvPr/>
        </p:nvSpPr>
        <p:spPr>
          <a:xfrm>
            <a:off x="1016000" y="4264628"/>
            <a:ext cx="2506133" cy="157544"/>
          </a:xfrm>
          <a:prstGeom prst="rect">
            <a:avLst/>
          </a:prstGeom>
          <a:noFill/>
        </p:spPr>
        <p:txBody>
          <a:bodyPr wrap="square" lIns="0" tIns="0" rIns="0" bIns="0" anchor="ctr">
            <a:spAutoFit/>
          </a:bodyPr>
          <a:lstStyle/>
          <a:p>
            <a:pPr>
              <a:lnSpc>
                <a:spcPct val="102000"/>
              </a:lnSpc>
            </a:pPr>
            <a:r>
              <a:rPr sz="1100" b="0" i="0">
                <a:solidFill>
                  <a:srgbClr val="3C3F44"/>
                </a:solidFill>
                <a:latin typeface="Mark Offc For MC" panose="020B0504020101010102" pitchFamily="34" charset="0"/>
              </a:rPr>
              <a:t>TUI · analyst workbench</a:t>
            </a:r>
          </a:p>
        </p:txBody>
      </p:sp>
      <p:sp>
        <p:nvSpPr>
          <p:cNvPr id="17" name="Rounded Rectangle 16"/>
          <p:cNvSpPr/>
          <p:nvPr/>
        </p:nvSpPr>
        <p:spPr>
          <a:xfrm>
            <a:off x="4436533" y="1930400"/>
            <a:ext cx="3318933" cy="3759200"/>
          </a:xfrm>
          <a:prstGeom prst="roundRect">
            <a:avLst>
              <a:gd name="adj" fmla="val 4000"/>
            </a:avLst>
          </a:prstGeom>
          <a:solidFill>
            <a:srgbClr val="FFFFFF"/>
          </a:solidFill>
          <a:ln w="19050">
            <a:solidFill>
              <a:srgbClr val="FF671B"/>
            </a:solidFill>
          </a:ln>
          <a:effectLst>
            <a:outerShdw blurRad="114300" dist="38100" dir="5400000" rotWithShape="0">
              <a:srgbClr val="1A1A1A">
                <a:alpha val="22000"/>
              </a:srgbClr>
            </a:outerShdw>
          </a:effectLst>
        </p:spPr>
        <p:txBody>
          <a:bodyPr rtlCol="0" anchor="ctr"/>
          <a:lstStyle/>
          <a:p>
            <a:pPr algn="ctr"/>
            <a:endParaRPr>
              <a:latin typeface="Mark Offc For MC" panose="020B0504020101010102" pitchFamily="34" charset="0"/>
            </a:endParaRPr>
          </a:p>
        </p:txBody>
      </p:sp>
      <p:sp>
        <p:nvSpPr>
          <p:cNvPr id="19" name="Rounded Rectangle 18"/>
          <p:cNvSpPr/>
          <p:nvPr/>
        </p:nvSpPr>
        <p:spPr>
          <a:xfrm>
            <a:off x="4690533" y="2209800"/>
            <a:ext cx="508000" cy="508000"/>
          </a:xfrm>
          <a:prstGeom prst="roundRect">
            <a:avLst>
              <a:gd name="adj" fmla="val 26000"/>
            </a:avLst>
          </a:prstGeom>
          <a:solidFill>
            <a:srgbClr val="FFEDE2"/>
          </a:solidFill>
          <a:ln>
            <a:noFill/>
          </a:ln>
          <a:effectLst/>
        </p:spPr>
        <p:txBody>
          <a:bodyPr rtlCol="0" anchor="ctr"/>
          <a:lstStyle/>
          <a:p>
            <a:pPr algn="ctr"/>
            <a:endParaRPr>
              <a:latin typeface="Mark Offc For MC" panose="020B0504020101010102" pitchFamily="34" charset="0"/>
            </a:endParaRPr>
          </a:p>
        </p:txBody>
      </p:sp>
      <p:sp>
        <p:nvSpPr>
          <p:cNvPr id="21" name="TextBox 20"/>
          <p:cNvSpPr txBox="1"/>
          <p:nvPr/>
        </p:nvSpPr>
        <p:spPr>
          <a:xfrm>
            <a:off x="5350933" y="2235200"/>
            <a:ext cx="6350000" cy="161583"/>
          </a:xfrm>
          <a:prstGeom prst="rect">
            <a:avLst/>
          </a:prstGeom>
          <a:noFill/>
        </p:spPr>
        <p:txBody>
          <a:bodyPr wrap="square" lIns="0" tIns="0" rIns="0" bIns="0" anchor="t">
            <a:spAutoFit/>
          </a:bodyPr>
          <a:lstStyle/>
          <a:p>
            <a:r>
              <a:rPr sz="1050" b="0" i="0" spc="160">
                <a:solidFill>
                  <a:srgbClr val="FF671B"/>
                </a:solidFill>
                <a:latin typeface="Mark Offc For MC" panose="020B0504020101010102" pitchFamily="34" charset="0"/>
              </a:rPr>
              <a:t>PHASE 2</a:t>
            </a:r>
          </a:p>
        </p:txBody>
      </p:sp>
      <p:sp>
        <p:nvSpPr>
          <p:cNvPr id="22" name="TextBox 21"/>
          <p:cNvSpPr txBox="1"/>
          <p:nvPr/>
        </p:nvSpPr>
        <p:spPr>
          <a:xfrm>
            <a:off x="5350933" y="2438400"/>
            <a:ext cx="2175933" cy="230832"/>
          </a:xfrm>
          <a:prstGeom prst="rect">
            <a:avLst/>
          </a:prstGeom>
          <a:noFill/>
        </p:spPr>
        <p:txBody>
          <a:bodyPr wrap="square" lIns="0" tIns="0" rIns="0" bIns="0" anchor="t">
            <a:spAutoFit/>
          </a:bodyPr>
          <a:lstStyle/>
          <a:p>
            <a:pPr>
              <a:lnSpc>
                <a:spcPct val="100000"/>
              </a:lnSpc>
            </a:pPr>
            <a:r>
              <a:rPr sz="1500" b="0" i="0" dirty="0">
                <a:solidFill>
                  <a:srgbClr val="1A1A1A"/>
                </a:solidFill>
                <a:latin typeface="Mark Offc For MC Medium" panose="020B0604020101010102" pitchFamily="34" charset="0"/>
              </a:rPr>
              <a:t>Core Engine</a:t>
            </a:r>
          </a:p>
        </p:txBody>
      </p:sp>
      <p:sp>
        <p:nvSpPr>
          <p:cNvPr id="24" name="Rounded Rectangle 23"/>
          <p:cNvSpPr/>
          <p:nvPr/>
        </p:nvSpPr>
        <p:spPr>
          <a:xfrm>
            <a:off x="4690533" y="3302000"/>
            <a:ext cx="2810933" cy="609600"/>
          </a:xfrm>
          <a:prstGeom prst="roundRect">
            <a:avLst>
              <a:gd name="adj" fmla="val 12000"/>
            </a:avLst>
          </a:prstGeom>
          <a:solidFill>
            <a:srgbClr val="FBFAF8"/>
          </a:solidFill>
          <a:ln w="12700">
            <a:solidFill>
              <a:srgbClr val="EFECE7"/>
            </a:solidFill>
          </a:ln>
          <a:effectLst/>
        </p:spPr>
        <p:txBody>
          <a:bodyPr rtlCol="0" anchor="ctr"/>
          <a:lstStyle/>
          <a:p>
            <a:pPr algn="ctr"/>
            <a:endParaRPr>
              <a:latin typeface="Mark Offc For MC" panose="020B0504020101010102" pitchFamily="34" charset="0"/>
            </a:endParaRPr>
          </a:p>
        </p:txBody>
      </p:sp>
      <p:sp>
        <p:nvSpPr>
          <p:cNvPr id="25" name="TextBox 24"/>
          <p:cNvSpPr txBox="1"/>
          <p:nvPr/>
        </p:nvSpPr>
        <p:spPr>
          <a:xfrm>
            <a:off x="4842933" y="3528028"/>
            <a:ext cx="2506133" cy="157544"/>
          </a:xfrm>
          <a:prstGeom prst="rect">
            <a:avLst/>
          </a:prstGeom>
          <a:noFill/>
        </p:spPr>
        <p:txBody>
          <a:bodyPr wrap="square" lIns="0" tIns="0" rIns="0" bIns="0" anchor="ctr">
            <a:spAutoFit/>
          </a:bodyPr>
          <a:lstStyle/>
          <a:p>
            <a:pPr>
              <a:lnSpc>
                <a:spcPct val="102000"/>
              </a:lnSpc>
            </a:pPr>
            <a:r>
              <a:rPr sz="1100" b="0" i="0" dirty="0">
                <a:solidFill>
                  <a:srgbClr val="3C3F44"/>
                </a:solidFill>
                <a:latin typeface="Mark Offc For MC" panose="020B0504020101010102" pitchFamily="34" charset="0"/>
              </a:rPr>
              <a:t>Normalization &amp; schema validation</a:t>
            </a:r>
          </a:p>
        </p:txBody>
      </p:sp>
      <p:sp>
        <p:nvSpPr>
          <p:cNvPr id="26" name="Rounded Rectangle 25"/>
          <p:cNvSpPr/>
          <p:nvPr/>
        </p:nvSpPr>
        <p:spPr>
          <a:xfrm>
            <a:off x="4690533" y="4038600"/>
            <a:ext cx="2810933" cy="609600"/>
          </a:xfrm>
          <a:prstGeom prst="roundRect">
            <a:avLst>
              <a:gd name="adj" fmla="val 12000"/>
            </a:avLst>
          </a:prstGeom>
          <a:solidFill>
            <a:srgbClr val="FBFAF8"/>
          </a:solidFill>
          <a:ln w="12700">
            <a:solidFill>
              <a:srgbClr val="EFECE7"/>
            </a:solidFill>
          </a:ln>
          <a:effectLst/>
        </p:spPr>
        <p:txBody>
          <a:bodyPr rtlCol="0" anchor="ctr"/>
          <a:lstStyle/>
          <a:p>
            <a:pPr algn="ctr"/>
            <a:endParaRPr>
              <a:latin typeface="Mark Offc For MC" panose="020B0504020101010102" pitchFamily="34" charset="0"/>
            </a:endParaRPr>
          </a:p>
        </p:txBody>
      </p:sp>
      <p:sp>
        <p:nvSpPr>
          <p:cNvPr id="27" name="TextBox 26"/>
          <p:cNvSpPr txBox="1"/>
          <p:nvPr/>
        </p:nvSpPr>
        <p:spPr>
          <a:xfrm>
            <a:off x="4842933" y="4264628"/>
            <a:ext cx="2506133" cy="157544"/>
          </a:xfrm>
          <a:prstGeom prst="rect">
            <a:avLst/>
          </a:prstGeom>
          <a:noFill/>
        </p:spPr>
        <p:txBody>
          <a:bodyPr wrap="square" lIns="0" tIns="0" rIns="0" bIns="0" anchor="ctr">
            <a:spAutoFit/>
          </a:bodyPr>
          <a:lstStyle/>
          <a:p>
            <a:pPr>
              <a:lnSpc>
                <a:spcPct val="102000"/>
              </a:lnSpc>
            </a:pPr>
            <a:r>
              <a:rPr sz="1100" b="0" i="0">
                <a:solidFill>
                  <a:srgbClr val="3C3F44"/>
                </a:solidFill>
                <a:latin typeface="Mark Offc For MC" panose="020B0504020101010102" pitchFamily="34" charset="0"/>
              </a:rPr>
              <a:t>Control 3.2 privacy validator</a:t>
            </a:r>
          </a:p>
        </p:txBody>
      </p:sp>
      <p:sp>
        <p:nvSpPr>
          <p:cNvPr id="28" name="Rounded Rectangle 27"/>
          <p:cNvSpPr/>
          <p:nvPr/>
        </p:nvSpPr>
        <p:spPr>
          <a:xfrm>
            <a:off x="4690533" y="4772660"/>
            <a:ext cx="2810933" cy="609600"/>
          </a:xfrm>
          <a:prstGeom prst="roundRect">
            <a:avLst>
              <a:gd name="adj" fmla="val 12000"/>
            </a:avLst>
          </a:prstGeom>
          <a:solidFill>
            <a:srgbClr val="FBFAF8"/>
          </a:solidFill>
          <a:ln w="12700">
            <a:solidFill>
              <a:srgbClr val="EFECE7"/>
            </a:solidFill>
          </a:ln>
          <a:effectLst/>
        </p:spPr>
        <p:txBody>
          <a:bodyPr rtlCol="0" anchor="ctr"/>
          <a:lstStyle/>
          <a:p>
            <a:pPr algn="ctr"/>
            <a:endParaRPr>
              <a:latin typeface="Mark Offc For MC" panose="020B0504020101010102" pitchFamily="34" charset="0"/>
            </a:endParaRPr>
          </a:p>
        </p:txBody>
      </p:sp>
      <p:sp>
        <p:nvSpPr>
          <p:cNvPr id="29" name="TextBox 28"/>
          <p:cNvSpPr txBox="1"/>
          <p:nvPr/>
        </p:nvSpPr>
        <p:spPr>
          <a:xfrm>
            <a:off x="4842933" y="5001228"/>
            <a:ext cx="2506133" cy="157544"/>
          </a:xfrm>
          <a:prstGeom prst="rect">
            <a:avLst/>
          </a:prstGeom>
          <a:noFill/>
        </p:spPr>
        <p:txBody>
          <a:bodyPr wrap="square" lIns="0" tIns="0" rIns="0" bIns="0" anchor="ctr">
            <a:spAutoFit/>
          </a:bodyPr>
          <a:lstStyle/>
          <a:p>
            <a:pPr>
              <a:lnSpc>
                <a:spcPct val="102000"/>
              </a:lnSpc>
            </a:pPr>
            <a:r>
              <a:rPr sz="1100" b="0" i="0">
                <a:solidFill>
                  <a:srgbClr val="3C3F44"/>
                </a:solidFill>
                <a:latin typeface="Mark Offc For MC" panose="020B0504020101010102" pitchFamily="34" charset="0"/>
              </a:rPr>
              <a:t>Global LP optimization · HiGHS</a:t>
            </a:r>
          </a:p>
        </p:txBody>
      </p:sp>
      <p:sp>
        <p:nvSpPr>
          <p:cNvPr id="30" name="Rounded Rectangle 29"/>
          <p:cNvSpPr/>
          <p:nvPr/>
        </p:nvSpPr>
        <p:spPr>
          <a:xfrm>
            <a:off x="8263466" y="1930400"/>
            <a:ext cx="3318933" cy="3759200"/>
          </a:xfrm>
          <a:prstGeom prst="roundRect">
            <a:avLst>
              <a:gd name="adj" fmla="val 4000"/>
            </a:avLst>
          </a:prstGeom>
          <a:solidFill>
            <a:srgbClr val="FBFAF8"/>
          </a:solidFill>
          <a:ln w="12700">
            <a:solidFill>
              <a:srgbClr val="E6E2DC"/>
            </a:solidFill>
          </a:ln>
          <a:effectLst/>
        </p:spPr>
        <p:txBody>
          <a:bodyPr rtlCol="0" anchor="ctr"/>
          <a:lstStyle/>
          <a:p>
            <a:pPr algn="ctr"/>
            <a:endParaRPr>
              <a:latin typeface="Mark Offc For MC" panose="020B0504020101010102" pitchFamily="34" charset="0"/>
            </a:endParaRPr>
          </a:p>
        </p:txBody>
      </p:sp>
      <p:sp>
        <p:nvSpPr>
          <p:cNvPr id="32" name="Rounded Rectangle 31"/>
          <p:cNvSpPr/>
          <p:nvPr/>
        </p:nvSpPr>
        <p:spPr>
          <a:xfrm>
            <a:off x="8517466" y="2209800"/>
            <a:ext cx="508000" cy="508000"/>
          </a:xfrm>
          <a:prstGeom prst="roundRect">
            <a:avLst>
              <a:gd name="adj" fmla="val 26000"/>
            </a:avLst>
          </a:prstGeom>
          <a:solidFill>
            <a:srgbClr val="ECEEF2"/>
          </a:solidFill>
          <a:ln>
            <a:noFill/>
          </a:ln>
          <a:effectLst/>
        </p:spPr>
        <p:txBody>
          <a:bodyPr rtlCol="0" anchor="ctr"/>
          <a:lstStyle/>
          <a:p>
            <a:pPr algn="ctr"/>
            <a:endParaRPr>
              <a:latin typeface="Mark Offc For MC" panose="020B0504020101010102" pitchFamily="34" charset="0"/>
            </a:endParaRPr>
          </a:p>
        </p:txBody>
      </p:sp>
      <p:sp>
        <p:nvSpPr>
          <p:cNvPr id="34" name="TextBox 33"/>
          <p:cNvSpPr txBox="1"/>
          <p:nvPr/>
        </p:nvSpPr>
        <p:spPr>
          <a:xfrm>
            <a:off x="9177866" y="2235200"/>
            <a:ext cx="6350000" cy="161583"/>
          </a:xfrm>
          <a:prstGeom prst="rect">
            <a:avLst/>
          </a:prstGeom>
          <a:noFill/>
        </p:spPr>
        <p:txBody>
          <a:bodyPr wrap="square" lIns="0" tIns="0" rIns="0" bIns="0" anchor="t">
            <a:spAutoFit/>
          </a:bodyPr>
          <a:lstStyle/>
          <a:p>
            <a:r>
              <a:rPr sz="1050" b="0" i="0" spc="160">
                <a:solidFill>
                  <a:srgbClr val="1D2735"/>
                </a:solidFill>
                <a:latin typeface="Mark Offc For MC" panose="020B0504020101010102" pitchFamily="34" charset="0"/>
              </a:rPr>
              <a:t>PHASE 3</a:t>
            </a:r>
          </a:p>
        </p:txBody>
      </p:sp>
      <p:sp>
        <p:nvSpPr>
          <p:cNvPr id="35" name="TextBox 34"/>
          <p:cNvSpPr txBox="1"/>
          <p:nvPr/>
        </p:nvSpPr>
        <p:spPr>
          <a:xfrm>
            <a:off x="9177866" y="2438400"/>
            <a:ext cx="2175933" cy="230832"/>
          </a:xfrm>
          <a:prstGeom prst="rect">
            <a:avLst/>
          </a:prstGeom>
          <a:noFill/>
        </p:spPr>
        <p:txBody>
          <a:bodyPr wrap="square" lIns="0" tIns="0" rIns="0" bIns="0" anchor="t">
            <a:spAutoFit/>
          </a:bodyPr>
          <a:lstStyle/>
          <a:p>
            <a:pPr>
              <a:lnSpc>
                <a:spcPct val="100000"/>
              </a:lnSpc>
            </a:pPr>
            <a:r>
              <a:rPr sz="1500" b="0" i="0" dirty="0">
                <a:solidFill>
                  <a:srgbClr val="1A1A1A"/>
                </a:solidFill>
                <a:latin typeface="Mark Offc For MC Medium" panose="020B0604020101010102" pitchFamily="34" charset="0"/>
              </a:rPr>
              <a:t>Output Artifacts</a:t>
            </a:r>
          </a:p>
        </p:txBody>
      </p:sp>
      <p:sp>
        <p:nvSpPr>
          <p:cNvPr id="36" name="Rounded Rectangle 35"/>
          <p:cNvSpPr/>
          <p:nvPr/>
        </p:nvSpPr>
        <p:spPr>
          <a:xfrm>
            <a:off x="8517466" y="3302000"/>
            <a:ext cx="2810933" cy="609600"/>
          </a:xfrm>
          <a:prstGeom prst="roundRect">
            <a:avLst>
              <a:gd name="adj" fmla="val 12000"/>
            </a:avLst>
          </a:prstGeom>
          <a:solidFill>
            <a:srgbClr val="FFFFFF"/>
          </a:solidFill>
          <a:ln w="12700">
            <a:solidFill>
              <a:srgbClr val="EFECE7"/>
            </a:solidFill>
          </a:ln>
          <a:effectLst/>
        </p:spPr>
        <p:txBody>
          <a:bodyPr rtlCol="0" anchor="ctr"/>
          <a:lstStyle/>
          <a:p>
            <a:pPr algn="ctr"/>
            <a:endParaRPr>
              <a:latin typeface="Mark Offc For MC" panose="020B0504020101010102" pitchFamily="34" charset="0"/>
            </a:endParaRPr>
          </a:p>
        </p:txBody>
      </p:sp>
      <p:sp>
        <p:nvSpPr>
          <p:cNvPr id="37" name="TextBox 36"/>
          <p:cNvSpPr txBox="1"/>
          <p:nvPr/>
        </p:nvSpPr>
        <p:spPr>
          <a:xfrm>
            <a:off x="8669866" y="3528028"/>
            <a:ext cx="2506133" cy="157544"/>
          </a:xfrm>
          <a:prstGeom prst="rect">
            <a:avLst/>
          </a:prstGeom>
          <a:noFill/>
        </p:spPr>
        <p:txBody>
          <a:bodyPr wrap="square" lIns="0" tIns="0" rIns="0" bIns="0" anchor="ctr">
            <a:spAutoFit/>
          </a:bodyPr>
          <a:lstStyle/>
          <a:p>
            <a:pPr>
              <a:lnSpc>
                <a:spcPct val="102000"/>
              </a:lnSpc>
            </a:pPr>
            <a:r>
              <a:rPr sz="1100" b="0" i="0">
                <a:solidFill>
                  <a:srgbClr val="3C3F44"/>
                </a:solidFill>
                <a:latin typeface="Mark Offc For MC" panose="020B0504020101010102" pitchFamily="34" charset="0"/>
              </a:rPr>
              <a:t>Excel reporting &amp; diagnostics</a:t>
            </a:r>
          </a:p>
        </p:txBody>
      </p:sp>
      <p:sp>
        <p:nvSpPr>
          <p:cNvPr id="38" name="Rounded Rectangle 37"/>
          <p:cNvSpPr/>
          <p:nvPr/>
        </p:nvSpPr>
        <p:spPr>
          <a:xfrm>
            <a:off x="8517466" y="4038600"/>
            <a:ext cx="2810933" cy="609600"/>
          </a:xfrm>
          <a:prstGeom prst="roundRect">
            <a:avLst>
              <a:gd name="adj" fmla="val 12000"/>
            </a:avLst>
          </a:prstGeom>
          <a:solidFill>
            <a:srgbClr val="FFFFFF"/>
          </a:solidFill>
          <a:ln w="12700">
            <a:solidFill>
              <a:srgbClr val="EFECE7"/>
            </a:solidFill>
          </a:ln>
          <a:effectLst/>
        </p:spPr>
        <p:txBody>
          <a:bodyPr rtlCol="0" anchor="ctr"/>
          <a:lstStyle/>
          <a:p>
            <a:pPr algn="ctr"/>
            <a:endParaRPr>
              <a:latin typeface="Mark Offc For MC" panose="020B0504020101010102" pitchFamily="34" charset="0"/>
            </a:endParaRPr>
          </a:p>
        </p:txBody>
      </p:sp>
      <p:sp>
        <p:nvSpPr>
          <p:cNvPr id="39" name="TextBox 38"/>
          <p:cNvSpPr txBox="1"/>
          <p:nvPr/>
        </p:nvSpPr>
        <p:spPr>
          <a:xfrm>
            <a:off x="8669866" y="4264628"/>
            <a:ext cx="2506133" cy="157544"/>
          </a:xfrm>
          <a:prstGeom prst="rect">
            <a:avLst/>
          </a:prstGeom>
          <a:noFill/>
        </p:spPr>
        <p:txBody>
          <a:bodyPr wrap="square" lIns="0" tIns="0" rIns="0" bIns="0" anchor="ctr">
            <a:spAutoFit/>
          </a:bodyPr>
          <a:lstStyle/>
          <a:p>
            <a:pPr>
              <a:lnSpc>
                <a:spcPct val="102000"/>
              </a:lnSpc>
            </a:pPr>
            <a:r>
              <a:rPr sz="1100" b="0" i="0">
                <a:solidFill>
                  <a:srgbClr val="3C3F44"/>
                </a:solidFill>
                <a:latin typeface="Mark Offc For MC" panose="020B0504020101010102" pitchFamily="34" charset="0"/>
              </a:rPr>
              <a:t>Balanced CSV · BI-ready</a:t>
            </a:r>
          </a:p>
        </p:txBody>
      </p:sp>
      <p:sp>
        <p:nvSpPr>
          <p:cNvPr id="40" name="Rounded Rectangle 39"/>
          <p:cNvSpPr/>
          <p:nvPr/>
        </p:nvSpPr>
        <p:spPr>
          <a:xfrm>
            <a:off x="8517466" y="4775200"/>
            <a:ext cx="2810933" cy="609600"/>
          </a:xfrm>
          <a:prstGeom prst="roundRect">
            <a:avLst>
              <a:gd name="adj" fmla="val 12000"/>
            </a:avLst>
          </a:prstGeom>
          <a:solidFill>
            <a:srgbClr val="FFFFFF"/>
          </a:solidFill>
          <a:ln w="12700">
            <a:solidFill>
              <a:srgbClr val="EFECE7"/>
            </a:solidFill>
          </a:ln>
          <a:effectLst/>
        </p:spPr>
        <p:txBody>
          <a:bodyPr rtlCol="0" anchor="ctr"/>
          <a:lstStyle/>
          <a:p>
            <a:pPr algn="ctr"/>
            <a:endParaRPr>
              <a:latin typeface="Mark Offc For MC" panose="020B0504020101010102" pitchFamily="34" charset="0"/>
            </a:endParaRPr>
          </a:p>
        </p:txBody>
      </p:sp>
      <p:sp>
        <p:nvSpPr>
          <p:cNvPr id="41" name="TextBox 40"/>
          <p:cNvSpPr txBox="1"/>
          <p:nvPr/>
        </p:nvSpPr>
        <p:spPr>
          <a:xfrm>
            <a:off x="8669866" y="5001228"/>
            <a:ext cx="2506133" cy="157544"/>
          </a:xfrm>
          <a:prstGeom prst="rect">
            <a:avLst/>
          </a:prstGeom>
          <a:noFill/>
        </p:spPr>
        <p:txBody>
          <a:bodyPr wrap="square" lIns="0" tIns="0" rIns="0" bIns="0" anchor="ctr">
            <a:spAutoFit/>
          </a:bodyPr>
          <a:lstStyle/>
          <a:p>
            <a:pPr>
              <a:lnSpc>
                <a:spcPct val="102000"/>
              </a:lnSpc>
            </a:pPr>
            <a:r>
              <a:rPr sz="1100" b="0" i="0">
                <a:solidFill>
                  <a:srgbClr val="3C3F44"/>
                </a:solidFill>
                <a:latin typeface="Mark Offc For MC" panose="020B0504020101010102" pitchFamily="34" charset="0"/>
              </a:rPr>
              <a:t>Comprehensive audit packages</a:t>
            </a:r>
          </a:p>
        </p:txBody>
      </p:sp>
      <p:sp>
        <p:nvSpPr>
          <p:cNvPr id="42" name="Oval 41"/>
          <p:cNvSpPr/>
          <p:nvPr/>
        </p:nvSpPr>
        <p:spPr>
          <a:xfrm>
            <a:off x="4017433" y="3644900"/>
            <a:ext cx="330200" cy="330200"/>
          </a:xfrm>
          <a:prstGeom prst="ellipse">
            <a:avLst/>
          </a:prstGeom>
          <a:solidFill>
            <a:srgbClr val="FFFFFF"/>
          </a:solidFill>
          <a:ln w="12700">
            <a:solidFill>
              <a:srgbClr val="E6E2DC"/>
            </a:solidFill>
          </a:ln>
          <a:effectLst/>
        </p:spPr>
        <p:txBody>
          <a:bodyPr rtlCol="0" anchor="ctr"/>
          <a:lstStyle/>
          <a:p>
            <a:pPr algn="ctr"/>
            <a:endParaRPr>
              <a:latin typeface="Mark Offc For MC" panose="020B0504020101010102" pitchFamily="34" charset="0"/>
            </a:endParaRPr>
          </a:p>
        </p:txBody>
      </p:sp>
      <p:sp>
        <p:nvSpPr>
          <p:cNvPr id="44" name="Oval 43"/>
          <p:cNvSpPr/>
          <p:nvPr/>
        </p:nvSpPr>
        <p:spPr>
          <a:xfrm>
            <a:off x="7844366" y="3644900"/>
            <a:ext cx="330200" cy="330200"/>
          </a:xfrm>
          <a:prstGeom prst="ellipse">
            <a:avLst/>
          </a:prstGeom>
          <a:solidFill>
            <a:srgbClr val="FFFFFF"/>
          </a:solidFill>
          <a:ln w="12700">
            <a:solidFill>
              <a:srgbClr val="E6E2DC"/>
            </a:solidFill>
          </a:ln>
          <a:effectLst/>
        </p:spPr>
        <p:txBody>
          <a:bodyPr rtlCol="0" anchor="ctr"/>
          <a:lstStyle/>
          <a:p>
            <a:pPr algn="ctr"/>
            <a:endParaRPr>
              <a:latin typeface="Mark Offc For MC" panose="020B0504020101010102" pitchFamily="34" charset="0"/>
            </a:endParaRPr>
          </a:p>
        </p:txBody>
      </p:sp>
      <p:sp>
        <p:nvSpPr>
          <p:cNvPr id="46" name="TextBox 45"/>
          <p:cNvSpPr txBox="1"/>
          <p:nvPr/>
        </p:nvSpPr>
        <p:spPr>
          <a:xfrm>
            <a:off x="609600" y="6509350"/>
            <a:ext cx="2540000" cy="138499"/>
          </a:xfrm>
          <a:prstGeom prst="rect">
            <a:avLst/>
          </a:prstGeom>
          <a:noFill/>
        </p:spPr>
        <p:txBody>
          <a:bodyPr wrap="square" lIns="0" tIns="0" rIns="0" bIns="0" anchor="ctr">
            <a:spAutoFit/>
          </a:bodyPr>
          <a:lstStyle/>
          <a:p>
            <a:r>
              <a:rPr sz="900" b="0" i="0">
                <a:solidFill>
                  <a:srgbClr val="FF671B"/>
                </a:solidFill>
                <a:latin typeface="Mark Offc For MC" panose="020B0504020101010102" pitchFamily="34" charset="0"/>
              </a:rPr>
              <a:t>03</a:t>
            </a:r>
            <a:r>
              <a:rPr sz="900" b="0" i="0">
                <a:solidFill>
                  <a:srgbClr val="9CA0A6"/>
                </a:solidFill>
                <a:latin typeface="Mark Offc For MC" panose="020B0504020101010102" pitchFamily="34" charset="0"/>
              </a:rPr>
              <a:t>  /  13</a:t>
            </a:r>
          </a:p>
        </p:txBody>
      </p:sp>
      <p:sp>
        <p:nvSpPr>
          <p:cNvPr id="47" name="TextBox 46"/>
          <p:cNvSpPr txBox="1"/>
          <p:nvPr/>
        </p:nvSpPr>
        <p:spPr>
          <a:xfrm>
            <a:off x="11912600" y="2931613"/>
            <a:ext cx="100027" cy="2021387"/>
          </a:xfrm>
          <a:prstGeom prst="rect">
            <a:avLst/>
          </a:prstGeom>
          <a:noFill/>
        </p:spPr>
        <p:txBody>
          <a:bodyPr vert="vert270" wrap="none" lIns="0" tIns="0" rIns="0" bIns="0">
            <a:spAutoFit/>
          </a:bodyPr>
          <a:lstStyle/>
          <a:p>
            <a:r>
              <a:rPr sz="650">
                <a:solidFill>
                  <a:srgbClr val="9CA0A6"/>
                </a:solidFill>
                <a:latin typeface="Mark Offc For MC" panose="020B0504020101010102" pitchFamily="34" charset="0"/>
              </a:rPr>
              <a:t>© 2025 Mastercard. Proprietary and Confidential.</a:t>
            </a:r>
          </a:p>
        </p:txBody>
      </p:sp>
      <p:sp>
        <p:nvSpPr>
          <p:cNvPr id="48" name="Oval 47"/>
          <p:cNvSpPr/>
          <p:nvPr/>
        </p:nvSpPr>
        <p:spPr>
          <a:xfrm>
            <a:off x="11080496" y="6248400"/>
            <a:ext cx="330200" cy="330200"/>
          </a:xfrm>
          <a:prstGeom prst="ellipse">
            <a:avLst/>
          </a:prstGeom>
          <a:solidFill>
            <a:srgbClr val="EB001B"/>
          </a:solidFill>
          <a:ln>
            <a:noFill/>
          </a:ln>
          <a:effectLst/>
        </p:spPr>
        <p:txBody>
          <a:bodyPr rtlCol="0" anchor="ctr"/>
          <a:lstStyle/>
          <a:p>
            <a:pPr algn="ctr"/>
            <a:endParaRPr>
              <a:latin typeface="Mark Offc For MC" panose="020B0504020101010102" pitchFamily="34" charset="0"/>
            </a:endParaRPr>
          </a:p>
        </p:txBody>
      </p:sp>
      <p:sp>
        <p:nvSpPr>
          <p:cNvPr id="49" name="Oval 48"/>
          <p:cNvSpPr/>
          <p:nvPr/>
        </p:nvSpPr>
        <p:spPr>
          <a:xfrm>
            <a:off x="11252200" y="6248400"/>
            <a:ext cx="330200" cy="330200"/>
          </a:xfrm>
          <a:prstGeom prst="ellipse">
            <a:avLst/>
          </a:prstGeom>
          <a:solidFill>
            <a:srgbClr val="F79E1B"/>
          </a:solidFill>
          <a:ln>
            <a:noFill/>
          </a:ln>
          <a:effectLst/>
        </p:spPr>
        <p:txBody>
          <a:bodyPr rtlCol="0" anchor="ctr"/>
          <a:lstStyle/>
          <a:p>
            <a:pPr algn="ctr"/>
            <a:endParaRPr>
              <a:latin typeface="Mark Offc For MC" panose="020B0504020101010102" pitchFamily="34" charset="0"/>
            </a:endParaRPr>
          </a:p>
        </p:txBody>
      </p:sp>
      <p:sp>
        <p:nvSpPr>
          <p:cNvPr id="50" name="Oval 49"/>
          <p:cNvSpPr/>
          <p:nvPr/>
        </p:nvSpPr>
        <p:spPr>
          <a:xfrm>
            <a:off x="11252200" y="6272339"/>
            <a:ext cx="158496" cy="282321"/>
          </a:xfrm>
          <a:prstGeom prst="ellipse">
            <a:avLst/>
          </a:prstGeom>
          <a:solidFill>
            <a:srgbClr val="FF5F00"/>
          </a:solidFill>
          <a:ln>
            <a:noFill/>
          </a:ln>
          <a:effectLst/>
        </p:spPr>
        <p:txBody>
          <a:bodyPr rtlCol="0" anchor="ctr"/>
          <a:lstStyle/>
          <a:p>
            <a:pPr algn="ctr"/>
            <a:endParaRPr>
              <a:latin typeface="Mark Offc For MC" panose="020B0504020101010102" pitchFamily="34" charset="0"/>
            </a:endParaRPr>
          </a:p>
        </p:txBody>
      </p:sp>
      <p:pic>
        <p:nvPicPr>
          <p:cNvPr id="52" name="Picture 51">
            <a:extLst>
              <a:ext uri="{FF2B5EF4-FFF2-40B4-BE49-F238E27FC236}">
                <a16:creationId xmlns:a16="http://schemas.microsoft.com/office/drawing/2014/main" id="{E82F6AF4-C4C0-57FD-8339-E749099FAC47}"/>
              </a:ext>
            </a:extLst>
          </p:cNvPr>
          <p:cNvPicPr>
            <a:picLocks noChangeAspect="1"/>
          </p:cNvPicPr>
          <p:nvPr/>
        </p:nvPicPr>
        <p:blipFill>
          <a:blip r:embed="rId2"/>
          <a:stretch>
            <a:fillRect/>
          </a:stretch>
        </p:blipFill>
        <p:spPr>
          <a:xfrm>
            <a:off x="911860" y="2292800"/>
            <a:ext cx="399600" cy="399600"/>
          </a:xfrm>
          <a:prstGeom prst="rect">
            <a:avLst/>
          </a:prstGeom>
        </p:spPr>
      </p:pic>
      <p:pic>
        <p:nvPicPr>
          <p:cNvPr id="54" name="Picture 53">
            <a:extLst>
              <a:ext uri="{FF2B5EF4-FFF2-40B4-BE49-F238E27FC236}">
                <a16:creationId xmlns:a16="http://schemas.microsoft.com/office/drawing/2014/main" id="{0B19FA64-D46D-D521-D021-21A914CBFC37}"/>
              </a:ext>
            </a:extLst>
          </p:cNvPr>
          <p:cNvPicPr>
            <a:picLocks noChangeAspect="1"/>
          </p:cNvPicPr>
          <p:nvPr/>
        </p:nvPicPr>
        <p:blipFill>
          <a:blip r:embed="rId3"/>
          <a:stretch>
            <a:fillRect/>
          </a:stretch>
        </p:blipFill>
        <p:spPr>
          <a:xfrm>
            <a:off x="8546229" y="2256476"/>
            <a:ext cx="436904" cy="440048"/>
          </a:xfrm>
          <a:prstGeom prst="rect">
            <a:avLst/>
          </a:prstGeom>
        </p:spPr>
      </p:pic>
      <p:pic>
        <p:nvPicPr>
          <p:cNvPr id="56" name="Picture 55">
            <a:extLst>
              <a:ext uri="{FF2B5EF4-FFF2-40B4-BE49-F238E27FC236}">
                <a16:creationId xmlns:a16="http://schemas.microsoft.com/office/drawing/2014/main" id="{BE4E5B0A-BAFA-A979-598E-9812944AC7A7}"/>
              </a:ext>
            </a:extLst>
          </p:cNvPr>
          <p:cNvPicPr>
            <a:picLocks noChangeAspect="1"/>
          </p:cNvPicPr>
          <p:nvPr/>
        </p:nvPicPr>
        <p:blipFill>
          <a:blip r:embed="rId4"/>
          <a:stretch>
            <a:fillRect/>
          </a:stretch>
        </p:blipFill>
        <p:spPr>
          <a:xfrm>
            <a:off x="4741332" y="2244621"/>
            <a:ext cx="440270" cy="440270"/>
          </a:xfrm>
          <a:prstGeom prst="rect">
            <a:avLst/>
          </a:prstGeom>
        </p:spPr>
      </p:pic>
      <p:pic>
        <p:nvPicPr>
          <p:cNvPr id="58" name="Graphic 57" descr="Caret Right with solid fill">
            <a:extLst>
              <a:ext uri="{FF2B5EF4-FFF2-40B4-BE49-F238E27FC236}">
                <a16:creationId xmlns:a16="http://schemas.microsoft.com/office/drawing/2014/main" id="{784787ED-B109-ED29-AE8D-6DE13D72277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17433" y="3644900"/>
            <a:ext cx="330200" cy="330200"/>
          </a:xfrm>
          <a:prstGeom prst="rect">
            <a:avLst/>
          </a:prstGeom>
        </p:spPr>
      </p:pic>
      <p:pic>
        <p:nvPicPr>
          <p:cNvPr id="59" name="Graphic 58" descr="Caret Right with solid fill">
            <a:extLst>
              <a:ext uri="{FF2B5EF4-FFF2-40B4-BE49-F238E27FC236}">
                <a16:creationId xmlns:a16="http://schemas.microsoft.com/office/drawing/2014/main" id="{C81EC4F7-504E-8AEA-A52E-17B8673C6D5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844366" y="3644900"/>
            <a:ext cx="330200" cy="330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p:cNvSpPr>
          <p:nvPr/>
        </p:nvSpPr>
        <p:spPr>
          <a:xfrm>
            <a:off x="-66040" y="-19686"/>
            <a:ext cx="12258040" cy="6858000"/>
          </a:xfrm>
          <a:prstGeom prst="rect">
            <a:avLst/>
          </a:prstGeom>
          <a:solidFill>
            <a:srgbClr val="FFFFFF"/>
          </a:solidFill>
          <a:ln>
            <a:noFill/>
          </a:ln>
          <a:effectLst/>
        </p:spPr>
        <p:txBody>
          <a:bodyPr rtlCol="0" anchor="ctr"/>
          <a:lstStyle/>
          <a:p>
            <a:pPr algn="ctr"/>
            <a:endParaRPr dirty="0">
              <a:latin typeface="Mark Offc For MC" panose="020B0504020101010102" pitchFamily="34" charset="0"/>
            </a:endParaRPr>
          </a:p>
        </p:txBody>
      </p:sp>
      <p:sp>
        <p:nvSpPr>
          <p:cNvPr id="3" name="TextBox 2"/>
          <p:cNvSpPr txBox="1"/>
          <p:nvPr/>
        </p:nvSpPr>
        <p:spPr>
          <a:xfrm>
            <a:off x="609600" y="508000"/>
            <a:ext cx="6350000" cy="161583"/>
          </a:xfrm>
          <a:prstGeom prst="rect">
            <a:avLst/>
          </a:prstGeom>
          <a:noFill/>
        </p:spPr>
        <p:txBody>
          <a:bodyPr wrap="square" lIns="0" tIns="0" rIns="0" bIns="0" anchor="t">
            <a:spAutoFit/>
          </a:bodyPr>
          <a:lstStyle/>
          <a:p>
            <a:r>
              <a:rPr sz="1050" b="0" i="0" spc="160" dirty="0">
                <a:solidFill>
                  <a:srgbClr val="FF671B"/>
                </a:solidFill>
                <a:latin typeface="Mark Offc For MC Light" panose="020B0504020101010102" pitchFamily="34" charset="0"/>
              </a:rPr>
              <a:t>ALGORITHMIC RESILIENCE</a:t>
            </a:r>
          </a:p>
        </p:txBody>
      </p:sp>
      <p:sp>
        <p:nvSpPr>
          <p:cNvPr id="4" name="TextBox 3"/>
          <p:cNvSpPr txBox="1"/>
          <p:nvPr/>
        </p:nvSpPr>
        <p:spPr>
          <a:xfrm>
            <a:off x="609600" y="736600"/>
            <a:ext cx="10972800" cy="715196"/>
          </a:xfrm>
          <a:prstGeom prst="rect">
            <a:avLst/>
          </a:prstGeom>
          <a:noFill/>
        </p:spPr>
        <p:txBody>
          <a:bodyPr wrap="square" lIns="0" tIns="0" rIns="0" bIns="0" anchor="t">
            <a:spAutoFit/>
          </a:bodyPr>
          <a:lstStyle/>
          <a:p>
            <a:pPr>
              <a:lnSpc>
                <a:spcPct val="106000"/>
              </a:lnSpc>
            </a:pPr>
            <a:r>
              <a:rPr sz="2300" b="0" i="0" dirty="0">
                <a:solidFill>
                  <a:srgbClr val="1A1A1A"/>
                </a:solidFill>
                <a:latin typeface="Mark Offc For MC" panose="020B0504020101010102" pitchFamily="34" charset="0"/>
              </a:rPr>
              <a:t>A three-tier solver cascade guarantees an answer</a:t>
            </a:r>
            <a:r>
              <a:rPr lang="en-US" sz="2300" b="0" i="0" dirty="0">
                <a:solidFill>
                  <a:srgbClr val="1A1A1A"/>
                </a:solidFill>
                <a:latin typeface="Mark Offc For MC" panose="020B0504020101010102" pitchFamily="34" charset="0"/>
              </a:rPr>
              <a:t>,</a:t>
            </a:r>
            <a:r>
              <a:rPr sz="2300" b="0" i="0" dirty="0">
                <a:solidFill>
                  <a:srgbClr val="1A1A1A"/>
                </a:solidFill>
                <a:latin typeface="Mark Offc For MC" panose="020B0504020101010102" pitchFamily="34" charset="0"/>
              </a:rPr>
              <a:t> even when strict optimization fails.</a:t>
            </a:r>
          </a:p>
        </p:txBody>
      </p:sp>
      <p:cxnSp>
        <p:nvCxnSpPr>
          <p:cNvPr id="5" name="Connector 4"/>
          <p:cNvCxnSpPr/>
          <p:nvPr/>
        </p:nvCxnSpPr>
        <p:spPr>
          <a:xfrm>
            <a:off x="609600" y="1625600"/>
            <a:ext cx="10972800" cy="0"/>
          </a:xfrm>
          <a:prstGeom prst="line">
            <a:avLst/>
          </a:prstGeom>
          <a:ln w="12700">
            <a:solidFill>
              <a:srgbClr val="E6E2DC"/>
            </a:solidFill>
          </a:ln>
        </p:spPr>
      </p:cxnSp>
      <p:sp>
        <p:nvSpPr>
          <p:cNvPr id="6" name="Rectangle 5"/>
          <p:cNvSpPr/>
          <p:nvPr/>
        </p:nvSpPr>
        <p:spPr>
          <a:xfrm>
            <a:off x="609600" y="1610360"/>
            <a:ext cx="685800" cy="30480"/>
          </a:xfrm>
          <a:prstGeom prst="rect">
            <a:avLst/>
          </a:prstGeom>
          <a:solidFill>
            <a:srgbClr val="FF671B"/>
          </a:solidFill>
          <a:ln>
            <a:noFill/>
          </a:ln>
          <a:effectLst/>
        </p:spPr>
        <p:txBody>
          <a:bodyPr rtlCol="0" anchor="ctr"/>
          <a:lstStyle/>
          <a:p>
            <a:pPr algn="ctr"/>
            <a:endParaRPr>
              <a:latin typeface="Mark Offc For MC" panose="020B0504020101010102" pitchFamily="34" charset="0"/>
            </a:endParaRPr>
          </a:p>
        </p:txBody>
      </p:sp>
      <p:sp>
        <p:nvSpPr>
          <p:cNvPr id="7" name="Rounded Rectangle 6"/>
          <p:cNvSpPr/>
          <p:nvPr/>
        </p:nvSpPr>
        <p:spPr>
          <a:xfrm>
            <a:off x="609600" y="1930400"/>
            <a:ext cx="10972800" cy="1193800"/>
          </a:xfrm>
          <a:prstGeom prst="roundRect">
            <a:avLst>
              <a:gd name="adj" fmla="val 6000"/>
            </a:avLst>
          </a:prstGeom>
          <a:solidFill>
            <a:srgbClr val="FBFAF8"/>
          </a:solidFill>
          <a:ln w="12700">
            <a:solidFill>
              <a:srgbClr val="E6E2DC"/>
            </a:solidFill>
          </a:ln>
          <a:effectLst/>
        </p:spPr>
        <p:txBody>
          <a:bodyPr rtlCol="0" anchor="ctr"/>
          <a:lstStyle/>
          <a:p>
            <a:pPr algn="ctr"/>
            <a:endParaRPr>
              <a:latin typeface="Mark Offc For MC" panose="020B0504020101010102" pitchFamily="34" charset="0"/>
            </a:endParaRPr>
          </a:p>
        </p:txBody>
      </p:sp>
      <p:sp>
        <p:nvSpPr>
          <p:cNvPr id="8" name="Rectangle 7"/>
          <p:cNvSpPr/>
          <p:nvPr/>
        </p:nvSpPr>
        <p:spPr>
          <a:xfrm>
            <a:off x="609600" y="1939602"/>
            <a:ext cx="63500" cy="1193800"/>
          </a:xfrm>
          <a:prstGeom prst="rect">
            <a:avLst/>
          </a:prstGeom>
          <a:solidFill>
            <a:srgbClr val="FF671B"/>
          </a:solidFill>
          <a:ln>
            <a:noFill/>
          </a:ln>
          <a:effectLst/>
        </p:spPr>
        <p:txBody>
          <a:bodyPr rtlCol="0" anchor="ctr"/>
          <a:lstStyle/>
          <a:p>
            <a:pPr algn="ctr"/>
            <a:endParaRPr dirty="0">
              <a:latin typeface="Mark Offc For MC" panose="020B0504020101010102" pitchFamily="34" charset="0"/>
            </a:endParaRPr>
          </a:p>
        </p:txBody>
      </p:sp>
      <p:sp>
        <p:nvSpPr>
          <p:cNvPr id="9" name="Rounded Rectangle 8"/>
          <p:cNvSpPr/>
          <p:nvPr/>
        </p:nvSpPr>
        <p:spPr>
          <a:xfrm>
            <a:off x="914400" y="2273300"/>
            <a:ext cx="508000" cy="508000"/>
          </a:xfrm>
          <a:prstGeom prst="roundRect">
            <a:avLst>
              <a:gd name="adj" fmla="val 26000"/>
            </a:avLst>
          </a:prstGeom>
          <a:solidFill>
            <a:srgbClr val="FFEDE2"/>
          </a:solidFill>
          <a:ln>
            <a:noFill/>
          </a:ln>
          <a:effectLst/>
        </p:spPr>
        <p:txBody>
          <a:bodyPr rtlCol="0" anchor="ctr"/>
          <a:lstStyle/>
          <a:p>
            <a:pPr algn="ctr"/>
            <a:endParaRPr>
              <a:latin typeface="Mark Offc For MC" panose="020B0504020101010102" pitchFamily="34" charset="0"/>
            </a:endParaRPr>
          </a:p>
        </p:txBody>
      </p:sp>
      <p:sp>
        <p:nvSpPr>
          <p:cNvPr id="11" name="TextBox 10"/>
          <p:cNvSpPr txBox="1"/>
          <p:nvPr/>
        </p:nvSpPr>
        <p:spPr>
          <a:xfrm>
            <a:off x="1498600" y="2337376"/>
            <a:ext cx="762000" cy="400110"/>
          </a:xfrm>
          <a:prstGeom prst="rect">
            <a:avLst/>
          </a:prstGeom>
          <a:noFill/>
        </p:spPr>
        <p:txBody>
          <a:bodyPr wrap="square" lIns="0" tIns="0" rIns="0" bIns="0" anchor="t">
            <a:spAutoFit/>
          </a:bodyPr>
          <a:lstStyle/>
          <a:p>
            <a:pPr algn="ctr"/>
            <a:r>
              <a:rPr sz="2600" i="0" dirty="0">
                <a:solidFill>
                  <a:srgbClr val="FF671B"/>
                </a:solidFill>
                <a:latin typeface="Mark Offc For MC" panose="020B0504020101010102" pitchFamily="34" charset="0"/>
              </a:rPr>
              <a:t>01</a:t>
            </a:r>
          </a:p>
        </p:txBody>
      </p:sp>
      <p:sp>
        <p:nvSpPr>
          <p:cNvPr id="12" name="TextBox 11"/>
          <p:cNvSpPr txBox="1"/>
          <p:nvPr/>
        </p:nvSpPr>
        <p:spPr>
          <a:xfrm>
            <a:off x="2514600" y="2059940"/>
            <a:ext cx="8686800" cy="238527"/>
          </a:xfrm>
          <a:prstGeom prst="rect">
            <a:avLst/>
          </a:prstGeom>
          <a:noFill/>
        </p:spPr>
        <p:txBody>
          <a:bodyPr wrap="square" lIns="0" tIns="0" rIns="0" bIns="0" anchor="t">
            <a:spAutoFit/>
          </a:bodyPr>
          <a:lstStyle/>
          <a:p>
            <a:r>
              <a:rPr sz="1550" b="0" i="0" dirty="0">
                <a:solidFill>
                  <a:srgbClr val="1A1A1A"/>
                </a:solidFill>
                <a:latin typeface="Mark Offc For MC Medium" panose="020B0604020101010102" pitchFamily="34" charset="0"/>
              </a:rPr>
              <a:t>Global LP Optimization</a:t>
            </a:r>
          </a:p>
        </p:txBody>
      </p:sp>
      <p:sp>
        <p:nvSpPr>
          <p:cNvPr id="13" name="TextBox 12"/>
          <p:cNvSpPr txBox="1"/>
          <p:nvPr/>
        </p:nvSpPr>
        <p:spPr>
          <a:xfrm>
            <a:off x="2522477" y="2362200"/>
            <a:ext cx="8559800" cy="651332"/>
          </a:xfrm>
          <a:prstGeom prst="rect">
            <a:avLst/>
          </a:prstGeom>
          <a:noFill/>
        </p:spPr>
        <p:txBody>
          <a:bodyPr wrap="square" lIns="0" tIns="0" rIns="0" bIns="0" anchor="t">
            <a:spAutoFit/>
          </a:bodyPr>
          <a:lstStyle/>
          <a:p>
            <a:pPr>
              <a:lnSpc>
                <a:spcPct val="112000"/>
              </a:lnSpc>
              <a:spcAft>
                <a:spcPts val="300"/>
              </a:spcAft>
            </a:pPr>
            <a:r>
              <a:rPr sz="1150" b="0" i="0" dirty="0">
                <a:solidFill>
                  <a:srgbClr val="FF671B"/>
                </a:solidFill>
                <a:latin typeface="Mark Offc For MC" panose="020B0504020101010102" pitchFamily="34" charset="0"/>
              </a:rPr>
              <a:t>—  </a:t>
            </a:r>
            <a:r>
              <a:rPr sz="1150" b="0" i="0" dirty="0">
                <a:solidFill>
                  <a:srgbClr val="3C3F44"/>
                </a:solidFill>
                <a:latin typeface="Mark Offc For MC" panose="020B0504020101010102" pitchFamily="34" charset="0"/>
              </a:rPr>
              <a:t>Solves all dimensions simultaneously.</a:t>
            </a:r>
          </a:p>
          <a:p>
            <a:pPr>
              <a:lnSpc>
                <a:spcPct val="112000"/>
              </a:lnSpc>
              <a:spcAft>
                <a:spcPts val="300"/>
              </a:spcAft>
            </a:pPr>
            <a:r>
              <a:rPr sz="1150" b="0" i="0" dirty="0">
                <a:solidFill>
                  <a:srgbClr val="FF671B"/>
                </a:solidFill>
                <a:latin typeface="Mark Offc For MC" panose="020B0504020101010102" pitchFamily="34" charset="0"/>
              </a:rPr>
              <a:t>—  </a:t>
            </a:r>
            <a:r>
              <a:rPr sz="1150" b="0" i="0" dirty="0">
                <a:solidFill>
                  <a:srgbClr val="3C3F44"/>
                </a:solidFill>
                <a:latin typeface="Mark Offc For MC" panose="020B0504020101010102" pitchFamily="34" charset="0"/>
              </a:rPr>
              <a:t>Minimizes deviation from 1.0 + rank penalty + slack.</a:t>
            </a:r>
          </a:p>
          <a:p>
            <a:pPr>
              <a:lnSpc>
                <a:spcPct val="112000"/>
              </a:lnSpc>
              <a:spcAft>
                <a:spcPts val="300"/>
              </a:spcAft>
            </a:pPr>
            <a:r>
              <a:rPr sz="1150" b="0" i="0" dirty="0">
                <a:solidFill>
                  <a:srgbClr val="FF671B"/>
                </a:solidFill>
                <a:latin typeface="Mark Offc For MC" panose="020B0504020101010102" pitchFamily="34" charset="0"/>
              </a:rPr>
              <a:t>—  </a:t>
            </a:r>
            <a:r>
              <a:rPr sz="1150" b="0" i="0" dirty="0">
                <a:solidFill>
                  <a:srgbClr val="3C3F44"/>
                </a:solidFill>
                <a:latin typeface="Mark Offc For MC" panose="020B0504020101010102" pitchFamily="34" charset="0"/>
              </a:rPr>
              <a:t>Zero privacy violations, lowest system-wide distortion.</a:t>
            </a:r>
          </a:p>
        </p:txBody>
      </p:sp>
      <p:sp>
        <p:nvSpPr>
          <p:cNvPr id="14" name="TextBox 13"/>
          <p:cNvSpPr txBox="1"/>
          <p:nvPr/>
        </p:nvSpPr>
        <p:spPr>
          <a:xfrm>
            <a:off x="2581150" y="3203836"/>
            <a:ext cx="5334000" cy="130805"/>
          </a:xfrm>
          <a:prstGeom prst="rect">
            <a:avLst/>
          </a:prstGeom>
          <a:noFill/>
        </p:spPr>
        <p:txBody>
          <a:bodyPr wrap="square" lIns="0" tIns="0" rIns="0" bIns="0" anchor="t">
            <a:spAutoFit/>
          </a:bodyPr>
          <a:lstStyle/>
          <a:p>
            <a:r>
              <a:rPr sz="850" b="0" i="0" spc="100" dirty="0">
                <a:solidFill>
                  <a:srgbClr val="D84E0C"/>
                </a:solidFill>
                <a:latin typeface="Mark Offc For MC" panose="020B0504020101010102" pitchFamily="34" charset="0"/>
              </a:rPr>
              <a:t>IF STRUCTURALLY INFEASIBLE</a:t>
            </a:r>
          </a:p>
        </p:txBody>
      </p:sp>
      <p:sp>
        <p:nvSpPr>
          <p:cNvPr id="15" name="Rounded Rectangle 14"/>
          <p:cNvSpPr/>
          <p:nvPr/>
        </p:nvSpPr>
        <p:spPr>
          <a:xfrm>
            <a:off x="609600" y="3429000"/>
            <a:ext cx="10972800" cy="1016000"/>
          </a:xfrm>
          <a:prstGeom prst="roundRect">
            <a:avLst>
              <a:gd name="adj" fmla="val 6000"/>
            </a:avLst>
          </a:prstGeom>
          <a:solidFill>
            <a:srgbClr val="FBFAF8"/>
          </a:solidFill>
          <a:ln w="12700">
            <a:solidFill>
              <a:srgbClr val="E6E2DC"/>
            </a:solidFill>
          </a:ln>
          <a:effectLst/>
        </p:spPr>
        <p:txBody>
          <a:bodyPr rtlCol="0" anchor="ctr"/>
          <a:lstStyle/>
          <a:p>
            <a:pPr algn="ctr"/>
            <a:endParaRPr dirty="0">
              <a:latin typeface="Mark Offc For MC" panose="020B0504020101010102" pitchFamily="34" charset="0"/>
            </a:endParaRPr>
          </a:p>
        </p:txBody>
      </p:sp>
      <p:sp>
        <p:nvSpPr>
          <p:cNvPr id="16" name="Rectangle 15"/>
          <p:cNvSpPr/>
          <p:nvPr/>
        </p:nvSpPr>
        <p:spPr>
          <a:xfrm>
            <a:off x="609600" y="3429000"/>
            <a:ext cx="63500" cy="1016000"/>
          </a:xfrm>
          <a:prstGeom prst="rect">
            <a:avLst/>
          </a:prstGeom>
          <a:solidFill>
            <a:srgbClr val="1D2735"/>
          </a:solidFill>
          <a:ln>
            <a:noFill/>
          </a:ln>
          <a:effectLst/>
        </p:spPr>
        <p:txBody>
          <a:bodyPr rtlCol="0" anchor="ctr"/>
          <a:lstStyle/>
          <a:p>
            <a:pPr algn="ctr"/>
            <a:endParaRPr>
              <a:latin typeface="Mark Offc For MC" panose="020B0504020101010102" pitchFamily="34" charset="0"/>
            </a:endParaRPr>
          </a:p>
        </p:txBody>
      </p:sp>
      <p:sp>
        <p:nvSpPr>
          <p:cNvPr id="17" name="Rounded Rectangle 16"/>
          <p:cNvSpPr/>
          <p:nvPr/>
        </p:nvSpPr>
        <p:spPr>
          <a:xfrm>
            <a:off x="914400" y="3683000"/>
            <a:ext cx="508000" cy="508000"/>
          </a:xfrm>
          <a:prstGeom prst="roundRect">
            <a:avLst>
              <a:gd name="adj" fmla="val 26000"/>
            </a:avLst>
          </a:prstGeom>
          <a:solidFill>
            <a:srgbClr val="ECEEF2"/>
          </a:solidFill>
          <a:ln>
            <a:noFill/>
          </a:ln>
          <a:effectLst/>
        </p:spPr>
        <p:txBody>
          <a:bodyPr rtlCol="0" anchor="ctr"/>
          <a:lstStyle/>
          <a:p>
            <a:pPr algn="ctr"/>
            <a:endParaRPr>
              <a:latin typeface="Mark Offc For MC" panose="020B0504020101010102" pitchFamily="34" charset="0"/>
            </a:endParaRPr>
          </a:p>
        </p:txBody>
      </p:sp>
      <p:sp>
        <p:nvSpPr>
          <p:cNvPr id="19" name="TextBox 18"/>
          <p:cNvSpPr txBox="1"/>
          <p:nvPr/>
        </p:nvSpPr>
        <p:spPr>
          <a:xfrm>
            <a:off x="1498600" y="3683000"/>
            <a:ext cx="762000" cy="400110"/>
          </a:xfrm>
          <a:prstGeom prst="rect">
            <a:avLst/>
          </a:prstGeom>
          <a:noFill/>
        </p:spPr>
        <p:txBody>
          <a:bodyPr wrap="square" lIns="0" tIns="0" rIns="0" bIns="0" anchor="t">
            <a:spAutoFit/>
          </a:bodyPr>
          <a:lstStyle/>
          <a:p>
            <a:pPr algn="ctr"/>
            <a:r>
              <a:rPr sz="2600" i="0" dirty="0">
                <a:solidFill>
                  <a:srgbClr val="1D2735"/>
                </a:solidFill>
                <a:latin typeface="Mark Offc For MC" panose="020B0504020101010102" pitchFamily="34" charset="0"/>
              </a:rPr>
              <a:t>02</a:t>
            </a:r>
          </a:p>
        </p:txBody>
      </p:sp>
      <p:sp>
        <p:nvSpPr>
          <p:cNvPr id="20" name="TextBox 19"/>
          <p:cNvSpPr txBox="1"/>
          <p:nvPr/>
        </p:nvSpPr>
        <p:spPr>
          <a:xfrm>
            <a:off x="2514600" y="3558540"/>
            <a:ext cx="8686800" cy="238527"/>
          </a:xfrm>
          <a:prstGeom prst="rect">
            <a:avLst/>
          </a:prstGeom>
          <a:noFill/>
        </p:spPr>
        <p:txBody>
          <a:bodyPr wrap="square" lIns="0" tIns="0" rIns="0" bIns="0" anchor="t">
            <a:spAutoFit/>
          </a:bodyPr>
          <a:lstStyle/>
          <a:p>
            <a:r>
              <a:rPr sz="1550" b="0" i="0" dirty="0">
                <a:solidFill>
                  <a:srgbClr val="1A1A1A"/>
                </a:solidFill>
                <a:latin typeface="Mark Offc For MC Medium" panose="020B0604020101010102" pitchFamily="34" charset="0"/>
              </a:rPr>
              <a:t>Subset Search &amp; Per-Dimension LP</a:t>
            </a:r>
          </a:p>
        </p:txBody>
      </p:sp>
      <p:sp>
        <p:nvSpPr>
          <p:cNvPr id="21" name="TextBox 20"/>
          <p:cNvSpPr txBox="1"/>
          <p:nvPr/>
        </p:nvSpPr>
        <p:spPr>
          <a:xfrm>
            <a:off x="2514600" y="3886200"/>
            <a:ext cx="8559800" cy="414665"/>
          </a:xfrm>
          <a:prstGeom prst="rect">
            <a:avLst/>
          </a:prstGeom>
          <a:noFill/>
        </p:spPr>
        <p:txBody>
          <a:bodyPr wrap="square" lIns="0" tIns="0" rIns="0" bIns="0" anchor="t">
            <a:spAutoFit/>
          </a:bodyPr>
          <a:lstStyle/>
          <a:p>
            <a:pPr>
              <a:lnSpc>
                <a:spcPct val="112000"/>
              </a:lnSpc>
              <a:spcAft>
                <a:spcPts val="300"/>
              </a:spcAft>
            </a:pPr>
            <a:r>
              <a:rPr sz="1150" b="0" i="0" dirty="0">
                <a:solidFill>
                  <a:srgbClr val="1D2735"/>
                </a:solidFill>
                <a:latin typeface="Mark Offc For MC" panose="020B0504020101010102" pitchFamily="34" charset="0"/>
              </a:rPr>
              <a:t>—  </a:t>
            </a:r>
            <a:r>
              <a:rPr sz="1150" b="0" i="0" dirty="0">
                <a:solidFill>
                  <a:srgbClr val="3C3F44"/>
                </a:solidFill>
                <a:latin typeface="Mark Offc For MC" panose="020B0504020101010102" pitchFamily="34" charset="0"/>
              </a:rPr>
              <a:t>Greedily isolates the largest feasible subset of dimensions.</a:t>
            </a:r>
          </a:p>
          <a:p>
            <a:pPr>
              <a:lnSpc>
                <a:spcPct val="112000"/>
              </a:lnSpc>
              <a:spcAft>
                <a:spcPts val="300"/>
              </a:spcAft>
            </a:pPr>
            <a:r>
              <a:rPr sz="1150" b="0" i="0" dirty="0">
                <a:solidFill>
                  <a:srgbClr val="1D2735"/>
                </a:solidFill>
                <a:latin typeface="Mark Offc For MC" panose="020B0504020101010102" pitchFamily="34" charset="0"/>
              </a:rPr>
              <a:t>—  </a:t>
            </a:r>
            <a:r>
              <a:rPr sz="1150" b="0" i="0" dirty="0">
                <a:solidFill>
                  <a:srgbClr val="3C3F44"/>
                </a:solidFill>
                <a:latin typeface="Mark Offc For MC" panose="020B0504020101010102" pitchFamily="34" charset="0"/>
              </a:rPr>
              <a:t>Routes conflicting dimensions to independent solvers.</a:t>
            </a:r>
          </a:p>
        </p:txBody>
      </p:sp>
      <p:sp>
        <p:nvSpPr>
          <p:cNvPr id="22" name="TextBox 21"/>
          <p:cNvSpPr txBox="1"/>
          <p:nvPr/>
        </p:nvSpPr>
        <p:spPr>
          <a:xfrm>
            <a:off x="2522477" y="4514217"/>
            <a:ext cx="5334000" cy="130805"/>
          </a:xfrm>
          <a:prstGeom prst="rect">
            <a:avLst/>
          </a:prstGeom>
          <a:noFill/>
        </p:spPr>
        <p:txBody>
          <a:bodyPr wrap="square" lIns="0" tIns="0" rIns="0" bIns="0" anchor="t">
            <a:spAutoFit/>
          </a:bodyPr>
          <a:lstStyle/>
          <a:p>
            <a:r>
              <a:rPr sz="800" b="0" i="0" dirty="0">
                <a:solidFill>
                  <a:srgbClr val="FF671B"/>
                </a:solidFill>
                <a:latin typeface="Mark Offc For MC" panose="020B0504020101010102" pitchFamily="34" charset="0"/>
              </a:rPr>
              <a:t> </a:t>
            </a:r>
            <a:r>
              <a:rPr sz="850" b="0" i="0" spc="100" dirty="0">
                <a:solidFill>
                  <a:srgbClr val="D84E0C"/>
                </a:solidFill>
                <a:latin typeface="Mark Offc For MC" panose="020B0504020101010102" pitchFamily="34" charset="0"/>
              </a:rPr>
              <a:t>IF STRICT LP FAILS</a:t>
            </a:r>
          </a:p>
        </p:txBody>
      </p:sp>
      <p:sp>
        <p:nvSpPr>
          <p:cNvPr id="23" name="Rounded Rectangle 22"/>
          <p:cNvSpPr/>
          <p:nvPr/>
        </p:nvSpPr>
        <p:spPr>
          <a:xfrm>
            <a:off x="609600" y="4749800"/>
            <a:ext cx="10972800" cy="1193800"/>
          </a:xfrm>
          <a:prstGeom prst="roundRect">
            <a:avLst>
              <a:gd name="adj" fmla="val 6000"/>
            </a:avLst>
          </a:prstGeom>
          <a:solidFill>
            <a:srgbClr val="FBFAF8"/>
          </a:solidFill>
          <a:ln w="12700">
            <a:solidFill>
              <a:srgbClr val="E6E2DC"/>
            </a:solidFill>
          </a:ln>
          <a:effectLst/>
        </p:spPr>
        <p:txBody>
          <a:bodyPr rtlCol="0" anchor="ctr"/>
          <a:lstStyle/>
          <a:p>
            <a:pPr algn="ctr"/>
            <a:endParaRPr>
              <a:latin typeface="Mark Offc For MC" panose="020B0504020101010102" pitchFamily="34" charset="0"/>
            </a:endParaRPr>
          </a:p>
        </p:txBody>
      </p:sp>
      <p:sp>
        <p:nvSpPr>
          <p:cNvPr id="24" name="Rectangle 23"/>
          <p:cNvSpPr/>
          <p:nvPr/>
        </p:nvSpPr>
        <p:spPr>
          <a:xfrm>
            <a:off x="609600" y="4749800"/>
            <a:ext cx="63500" cy="1193800"/>
          </a:xfrm>
          <a:prstGeom prst="rect">
            <a:avLst/>
          </a:prstGeom>
          <a:solidFill>
            <a:srgbClr val="656A71"/>
          </a:solidFill>
          <a:ln>
            <a:noFill/>
          </a:ln>
          <a:effectLst/>
        </p:spPr>
        <p:txBody>
          <a:bodyPr rtlCol="0" anchor="ctr"/>
          <a:lstStyle/>
          <a:p>
            <a:pPr algn="ctr"/>
            <a:endParaRPr>
              <a:latin typeface="Mark Offc For MC" panose="020B0504020101010102" pitchFamily="34" charset="0"/>
            </a:endParaRPr>
          </a:p>
        </p:txBody>
      </p:sp>
      <p:sp>
        <p:nvSpPr>
          <p:cNvPr id="25" name="Rounded Rectangle 24"/>
          <p:cNvSpPr/>
          <p:nvPr/>
        </p:nvSpPr>
        <p:spPr>
          <a:xfrm>
            <a:off x="914400" y="5092700"/>
            <a:ext cx="508000" cy="508000"/>
          </a:xfrm>
          <a:prstGeom prst="roundRect">
            <a:avLst>
              <a:gd name="adj" fmla="val 26000"/>
            </a:avLst>
          </a:prstGeom>
          <a:solidFill>
            <a:srgbClr val="ECEEF2"/>
          </a:solidFill>
          <a:ln>
            <a:noFill/>
          </a:ln>
          <a:effectLst/>
        </p:spPr>
        <p:txBody>
          <a:bodyPr rtlCol="0" anchor="ctr"/>
          <a:lstStyle/>
          <a:p>
            <a:pPr algn="ctr"/>
            <a:endParaRPr>
              <a:latin typeface="Mark Offc For MC" panose="020B0504020101010102" pitchFamily="34" charset="0"/>
            </a:endParaRPr>
          </a:p>
        </p:txBody>
      </p:sp>
      <p:sp>
        <p:nvSpPr>
          <p:cNvPr id="27" name="TextBox 26"/>
          <p:cNvSpPr txBox="1"/>
          <p:nvPr/>
        </p:nvSpPr>
        <p:spPr>
          <a:xfrm>
            <a:off x="1498600" y="5122164"/>
            <a:ext cx="762000" cy="400110"/>
          </a:xfrm>
          <a:prstGeom prst="rect">
            <a:avLst/>
          </a:prstGeom>
          <a:noFill/>
        </p:spPr>
        <p:txBody>
          <a:bodyPr wrap="square" lIns="0" tIns="0" rIns="0" bIns="0" anchor="t">
            <a:spAutoFit/>
          </a:bodyPr>
          <a:lstStyle/>
          <a:p>
            <a:pPr algn="ctr"/>
            <a:r>
              <a:rPr sz="2600" i="0" dirty="0">
                <a:solidFill>
                  <a:srgbClr val="656A71"/>
                </a:solidFill>
                <a:latin typeface="Mark Offc For MC" panose="020B0504020101010102" pitchFamily="34" charset="0"/>
              </a:rPr>
              <a:t>03</a:t>
            </a:r>
          </a:p>
        </p:txBody>
      </p:sp>
      <p:sp>
        <p:nvSpPr>
          <p:cNvPr id="28" name="TextBox 27"/>
          <p:cNvSpPr txBox="1"/>
          <p:nvPr/>
        </p:nvSpPr>
        <p:spPr>
          <a:xfrm>
            <a:off x="2514600" y="4879340"/>
            <a:ext cx="8686800" cy="238527"/>
          </a:xfrm>
          <a:prstGeom prst="rect">
            <a:avLst/>
          </a:prstGeom>
          <a:noFill/>
        </p:spPr>
        <p:txBody>
          <a:bodyPr wrap="square" lIns="0" tIns="0" rIns="0" bIns="0" anchor="t">
            <a:spAutoFit/>
          </a:bodyPr>
          <a:lstStyle/>
          <a:p>
            <a:r>
              <a:rPr sz="1550" b="0" i="0" dirty="0">
                <a:solidFill>
                  <a:srgbClr val="1A1A1A"/>
                </a:solidFill>
                <a:latin typeface="Mark Offc For MC Medium" panose="020B0604020101010102" pitchFamily="34" charset="0"/>
              </a:rPr>
              <a:t>Bayesian / Heuristic Fallback</a:t>
            </a:r>
          </a:p>
        </p:txBody>
      </p:sp>
      <p:sp>
        <p:nvSpPr>
          <p:cNvPr id="29" name="TextBox 28"/>
          <p:cNvSpPr txBox="1"/>
          <p:nvPr/>
        </p:nvSpPr>
        <p:spPr>
          <a:xfrm>
            <a:off x="2514600" y="5229860"/>
            <a:ext cx="8559800" cy="414665"/>
          </a:xfrm>
          <a:prstGeom prst="rect">
            <a:avLst/>
          </a:prstGeom>
          <a:noFill/>
        </p:spPr>
        <p:txBody>
          <a:bodyPr wrap="square" lIns="0" tIns="0" rIns="0" bIns="0" anchor="t">
            <a:spAutoFit/>
          </a:bodyPr>
          <a:lstStyle/>
          <a:p>
            <a:pPr>
              <a:lnSpc>
                <a:spcPct val="112000"/>
              </a:lnSpc>
              <a:spcAft>
                <a:spcPts val="300"/>
              </a:spcAft>
            </a:pPr>
            <a:r>
              <a:rPr sz="1150" b="0" i="0" dirty="0">
                <a:solidFill>
                  <a:srgbClr val="656A71"/>
                </a:solidFill>
                <a:latin typeface="Mark Offc For MC" panose="020B0504020101010102" pitchFamily="34" charset="0"/>
              </a:rPr>
              <a:t>—  </a:t>
            </a:r>
            <a:r>
              <a:rPr sz="1150" b="0" i="0" dirty="0">
                <a:solidFill>
                  <a:srgbClr val="3C3F44"/>
                </a:solidFill>
                <a:latin typeface="Mark Offc For MC" panose="020B0504020101010102" pitchFamily="34" charset="0"/>
              </a:rPr>
              <a:t>Engages L-BFGS-B on edge-case categories.</a:t>
            </a:r>
          </a:p>
          <a:p>
            <a:pPr>
              <a:lnSpc>
                <a:spcPct val="112000"/>
              </a:lnSpc>
              <a:spcAft>
                <a:spcPts val="300"/>
              </a:spcAft>
            </a:pPr>
            <a:r>
              <a:rPr sz="1150" b="0" i="0" dirty="0">
                <a:solidFill>
                  <a:srgbClr val="656A71"/>
                </a:solidFill>
                <a:latin typeface="Mark Offc For MC" panose="020B0504020101010102" pitchFamily="34" charset="0"/>
              </a:rPr>
              <a:t>—  </a:t>
            </a:r>
            <a:r>
              <a:rPr sz="1150" b="0" i="0" dirty="0">
                <a:solidFill>
                  <a:srgbClr val="3C3F44"/>
                </a:solidFill>
                <a:latin typeface="Mark Offc For MC" panose="020B0504020101010102" pitchFamily="34" charset="0"/>
              </a:rPr>
              <a:t>Guarantees a usable output under extreme data sparsity.</a:t>
            </a:r>
          </a:p>
        </p:txBody>
      </p:sp>
      <p:sp>
        <p:nvSpPr>
          <p:cNvPr id="30" name="TextBox 29"/>
          <p:cNvSpPr txBox="1"/>
          <p:nvPr/>
        </p:nvSpPr>
        <p:spPr>
          <a:xfrm>
            <a:off x="609600" y="6509350"/>
            <a:ext cx="2540000" cy="138499"/>
          </a:xfrm>
          <a:prstGeom prst="rect">
            <a:avLst/>
          </a:prstGeom>
          <a:noFill/>
        </p:spPr>
        <p:txBody>
          <a:bodyPr wrap="square" lIns="0" tIns="0" rIns="0" bIns="0" anchor="ctr">
            <a:spAutoFit/>
          </a:bodyPr>
          <a:lstStyle/>
          <a:p>
            <a:r>
              <a:rPr sz="900" b="0" i="0" dirty="0">
                <a:solidFill>
                  <a:srgbClr val="FF671B"/>
                </a:solidFill>
                <a:latin typeface="Mark Offc For MC" panose="020B0504020101010102" pitchFamily="34" charset="0"/>
              </a:rPr>
              <a:t>04</a:t>
            </a:r>
            <a:r>
              <a:rPr sz="900" b="0" i="0" dirty="0">
                <a:solidFill>
                  <a:srgbClr val="9CA0A6"/>
                </a:solidFill>
                <a:latin typeface="Mark Offc For MC" panose="020B0504020101010102" pitchFamily="34" charset="0"/>
              </a:rPr>
              <a:t>  /  13</a:t>
            </a:r>
          </a:p>
        </p:txBody>
      </p:sp>
      <p:sp>
        <p:nvSpPr>
          <p:cNvPr id="31" name="TextBox 30"/>
          <p:cNvSpPr txBox="1"/>
          <p:nvPr/>
        </p:nvSpPr>
        <p:spPr>
          <a:xfrm>
            <a:off x="11912600" y="2931613"/>
            <a:ext cx="100027" cy="2021387"/>
          </a:xfrm>
          <a:prstGeom prst="rect">
            <a:avLst/>
          </a:prstGeom>
          <a:noFill/>
        </p:spPr>
        <p:txBody>
          <a:bodyPr vert="vert270" wrap="none" lIns="0" tIns="0" rIns="0" bIns="0">
            <a:spAutoFit/>
          </a:bodyPr>
          <a:lstStyle/>
          <a:p>
            <a:r>
              <a:rPr sz="650">
                <a:solidFill>
                  <a:srgbClr val="9CA0A6"/>
                </a:solidFill>
                <a:latin typeface="Mark Offc For MC" panose="020B0504020101010102" pitchFamily="34" charset="0"/>
              </a:rPr>
              <a:t>© 2025 Mastercard. Proprietary and Confidential.</a:t>
            </a:r>
          </a:p>
        </p:txBody>
      </p:sp>
      <p:sp>
        <p:nvSpPr>
          <p:cNvPr id="32" name="Oval 31"/>
          <p:cNvSpPr/>
          <p:nvPr/>
        </p:nvSpPr>
        <p:spPr>
          <a:xfrm>
            <a:off x="11080496" y="6248400"/>
            <a:ext cx="330200" cy="330200"/>
          </a:xfrm>
          <a:prstGeom prst="ellipse">
            <a:avLst/>
          </a:prstGeom>
          <a:solidFill>
            <a:srgbClr val="EB001B"/>
          </a:solidFill>
          <a:ln>
            <a:noFill/>
          </a:ln>
          <a:effectLst/>
        </p:spPr>
        <p:txBody>
          <a:bodyPr rtlCol="0" anchor="ctr"/>
          <a:lstStyle/>
          <a:p>
            <a:pPr algn="ctr"/>
            <a:endParaRPr>
              <a:latin typeface="Mark Offc For MC" panose="020B0504020101010102" pitchFamily="34" charset="0"/>
            </a:endParaRPr>
          </a:p>
        </p:txBody>
      </p:sp>
      <p:sp>
        <p:nvSpPr>
          <p:cNvPr id="33" name="Oval 32"/>
          <p:cNvSpPr/>
          <p:nvPr/>
        </p:nvSpPr>
        <p:spPr>
          <a:xfrm>
            <a:off x="11252200" y="6248400"/>
            <a:ext cx="330200" cy="330200"/>
          </a:xfrm>
          <a:prstGeom prst="ellipse">
            <a:avLst/>
          </a:prstGeom>
          <a:solidFill>
            <a:srgbClr val="F79E1B"/>
          </a:solidFill>
          <a:ln>
            <a:noFill/>
          </a:ln>
          <a:effectLst/>
        </p:spPr>
        <p:txBody>
          <a:bodyPr rtlCol="0" anchor="ctr"/>
          <a:lstStyle/>
          <a:p>
            <a:pPr algn="ctr"/>
            <a:endParaRPr>
              <a:latin typeface="Mark Offc For MC" panose="020B0504020101010102" pitchFamily="34" charset="0"/>
            </a:endParaRPr>
          </a:p>
        </p:txBody>
      </p:sp>
      <p:sp>
        <p:nvSpPr>
          <p:cNvPr id="34" name="Oval 33"/>
          <p:cNvSpPr/>
          <p:nvPr/>
        </p:nvSpPr>
        <p:spPr>
          <a:xfrm>
            <a:off x="11252200" y="6272339"/>
            <a:ext cx="158496" cy="282321"/>
          </a:xfrm>
          <a:prstGeom prst="ellipse">
            <a:avLst/>
          </a:prstGeom>
          <a:solidFill>
            <a:srgbClr val="FF5F00"/>
          </a:solidFill>
          <a:ln>
            <a:noFill/>
          </a:ln>
          <a:effectLst/>
        </p:spPr>
        <p:txBody>
          <a:bodyPr rtlCol="0" anchor="ctr"/>
          <a:lstStyle/>
          <a:p>
            <a:pPr algn="ctr"/>
            <a:endParaRPr>
              <a:latin typeface="Mark Offc For MC" panose="020B0504020101010102" pitchFamily="34" charset="0"/>
            </a:endParaRPr>
          </a:p>
        </p:txBody>
      </p:sp>
      <p:pic>
        <p:nvPicPr>
          <p:cNvPr id="36" name="Graphic 35" descr="Back outline">
            <a:extLst>
              <a:ext uri="{FF2B5EF4-FFF2-40B4-BE49-F238E27FC236}">
                <a16:creationId xmlns:a16="http://schemas.microsoft.com/office/drawing/2014/main" id="{3C36D2F5-B316-3C4C-206F-35799128B96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a:off x="2336800" y="3176526"/>
            <a:ext cx="177800" cy="177800"/>
          </a:xfrm>
          <a:prstGeom prst="rect">
            <a:avLst/>
          </a:prstGeom>
        </p:spPr>
      </p:pic>
      <p:pic>
        <p:nvPicPr>
          <p:cNvPr id="46" name="Graphic 45" descr="Back outline">
            <a:extLst>
              <a:ext uri="{FF2B5EF4-FFF2-40B4-BE49-F238E27FC236}">
                <a16:creationId xmlns:a16="http://schemas.microsoft.com/office/drawing/2014/main" id="{E35D0879-FCB0-BAD7-A8C5-C94E2B404D3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6200000" flipV="1">
            <a:off x="4627625" y="3231514"/>
            <a:ext cx="177800" cy="177800"/>
          </a:xfrm>
          <a:prstGeom prst="rect">
            <a:avLst/>
          </a:prstGeom>
        </p:spPr>
      </p:pic>
      <p:pic>
        <p:nvPicPr>
          <p:cNvPr id="50" name="Graphic 49" descr="Back outline">
            <a:extLst>
              <a:ext uri="{FF2B5EF4-FFF2-40B4-BE49-F238E27FC236}">
                <a16:creationId xmlns:a16="http://schemas.microsoft.com/office/drawing/2014/main" id="{98396594-3D1B-A1EA-A038-68724C5421B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a:off x="2329438" y="4485005"/>
            <a:ext cx="177800" cy="177800"/>
          </a:xfrm>
          <a:prstGeom prst="rect">
            <a:avLst/>
          </a:prstGeom>
        </p:spPr>
      </p:pic>
      <p:pic>
        <p:nvPicPr>
          <p:cNvPr id="51" name="Graphic 50" descr="Back outline">
            <a:extLst>
              <a:ext uri="{FF2B5EF4-FFF2-40B4-BE49-F238E27FC236}">
                <a16:creationId xmlns:a16="http://schemas.microsoft.com/office/drawing/2014/main" id="{5DFE7649-1F37-5752-274B-99FFCB77C23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6200000" flipV="1">
            <a:off x="3832352" y="4549778"/>
            <a:ext cx="177800" cy="177800"/>
          </a:xfrm>
          <a:prstGeom prst="rect">
            <a:avLst/>
          </a:prstGeom>
        </p:spPr>
      </p:pic>
      <p:pic>
        <p:nvPicPr>
          <p:cNvPr id="73" name="Picture 72">
            <a:extLst>
              <a:ext uri="{FF2B5EF4-FFF2-40B4-BE49-F238E27FC236}">
                <a16:creationId xmlns:a16="http://schemas.microsoft.com/office/drawing/2014/main" id="{A9A0B700-8FD7-8237-F3E6-994E118EE29D}"/>
              </a:ext>
            </a:extLst>
          </p:cNvPr>
          <p:cNvPicPr>
            <a:picLocks noChangeAspect="1"/>
          </p:cNvPicPr>
          <p:nvPr/>
        </p:nvPicPr>
        <p:blipFill>
          <a:blip r:embed="rId3"/>
          <a:stretch>
            <a:fillRect/>
          </a:stretch>
        </p:blipFill>
        <p:spPr>
          <a:xfrm>
            <a:off x="980919" y="2339819"/>
            <a:ext cx="374962" cy="374962"/>
          </a:xfrm>
          <a:prstGeom prst="rect">
            <a:avLst/>
          </a:prstGeom>
        </p:spPr>
      </p:pic>
      <p:pic>
        <p:nvPicPr>
          <p:cNvPr id="75" name="Picture 74">
            <a:extLst>
              <a:ext uri="{FF2B5EF4-FFF2-40B4-BE49-F238E27FC236}">
                <a16:creationId xmlns:a16="http://schemas.microsoft.com/office/drawing/2014/main" id="{F0D4668B-7C81-342C-7AE9-43AF0828ECA3}"/>
              </a:ext>
            </a:extLst>
          </p:cNvPr>
          <p:cNvPicPr>
            <a:picLocks noChangeAspect="1"/>
          </p:cNvPicPr>
          <p:nvPr/>
        </p:nvPicPr>
        <p:blipFill>
          <a:blip r:embed="rId4"/>
          <a:stretch>
            <a:fillRect/>
          </a:stretch>
        </p:blipFill>
        <p:spPr>
          <a:xfrm>
            <a:off x="973580" y="3754100"/>
            <a:ext cx="370842" cy="370842"/>
          </a:xfrm>
          <a:prstGeom prst="rect">
            <a:avLst/>
          </a:prstGeom>
        </p:spPr>
      </p:pic>
      <p:pic>
        <p:nvPicPr>
          <p:cNvPr id="77" name="Picture 76">
            <a:extLst>
              <a:ext uri="{FF2B5EF4-FFF2-40B4-BE49-F238E27FC236}">
                <a16:creationId xmlns:a16="http://schemas.microsoft.com/office/drawing/2014/main" id="{4C09566E-0971-09CB-205B-7C4FE200365C}"/>
              </a:ext>
            </a:extLst>
          </p:cNvPr>
          <p:cNvPicPr>
            <a:picLocks noChangeAspect="1"/>
          </p:cNvPicPr>
          <p:nvPr/>
        </p:nvPicPr>
        <p:blipFill>
          <a:blip r:embed="rId5"/>
          <a:stretch>
            <a:fillRect/>
          </a:stretch>
        </p:blipFill>
        <p:spPr>
          <a:xfrm>
            <a:off x="981710" y="5159120"/>
            <a:ext cx="375160" cy="3751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endParaRPr>
              <a:latin typeface="Mark Offc For MC" panose="020B0504020101010102" pitchFamily="34" charset="0"/>
            </a:endParaRPr>
          </a:p>
        </p:txBody>
      </p:sp>
      <p:sp>
        <p:nvSpPr>
          <p:cNvPr id="3" name="TextBox 2"/>
          <p:cNvSpPr txBox="1"/>
          <p:nvPr/>
        </p:nvSpPr>
        <p:spPr>
          <a:xfrm>
            <a:off x="609600" y="508000"/>
            <a:ext cx="6350000" cy="161583"/>
          </a:xfrm>
          <a:prstGeom prst="rect">
            <a:avLst/>
          </a:prstGeom>
          <a:noFill/>
        </p:spPr>
        <p:txBody>
          <a:bodyPr wrap="square" lIns="0" tIns="0" rIns="0" bIns="0" anchor="t">
            <a:spAutoFit/>
          </a:bodyPr>
          <a:lstStyle/>
          <a:p>
            <a:r>
              <a:rPr sz="1050" b="0" i="0" spc="160" dirty="0">
                <a:solidFill>
                  <a:srgbClr val="FF671B"/>
                </a:solidFill>
                <a:latin typeface="Mark Offc For MC Light" panose="020B0504020101010102" pitchFamily="34" charset="0"/>
              </a:rPr>
              <a:t>CONTROL 3.2</a:t>
            </a:r>
          </a:p>
        </p:txBody>
      </p:sp>
      <p:sp>
        <p:nvSpPr>
          <p:cNvPr id="4" name="TextBox 3"/>
          <p:cNvSpPr txBox="1"/>
          <p:nvPr/>
        </p:nvSpPr>
        <p:spPr>
          <a:xfrm>
            <a:off x="609600" y="736600"/>
            <a:ext cx="10972800" cy="340029"/>
          </a:xfrm>
          <a:prstGeom prst="rect">
            <a:avLst/>
          </a:prstGeom>
          <a:noFill/>
        </p:spPr>
        <p:txBody>
          <a:bodyPr wrap="square" lIns="0" tIns="0" rIns="0" bIns="0" anchor="t">
            <a:spAutoFit/>
          </a:bodyPr>
          <a:lstStyle/>
          <a:p>
            <a:pPr>
              <a:lnSpc>
                <a:spcPct val="106000"/>
              </a:lnSpc>
            </a:pPr>
            <a:r>
              <a:rPr sz="2300" b="0" i="0">
                <a:solidFill>
                  <a:srgbClr val="1A1A1A"/>
                </a:solidFill>
                <a:latin typeface="Mark Offc For MC" panose="020B0504020101010102" pitchFamily="34" charset="0"/>
              </a:rPr>
              <a:t>Privacy caps are selected automatically from the available peer data.</a:t>
            </a:r>
          </a:p>
        </p:txBody>
      </p:sp>
      <p:sp>
        <p:nvSpPr>
          <p:cNvPr id="5" name="TextBox 4"/>
          <p:cNvSpPr txBox="1"/>
          <p:nvPr/>
        </p:nvSpPr>
        <p:spPr>
          <a:xfrm>
            <a:off x="609600" y="1295400"/>
            <a:ext cx="10972800" cy="208968"/>
          </a:xfrm>
          <a:prstGeom prst="rect">
            <a:avLst/>
          </a:prstGeom>
          <a:noFill/>
        </p:spPr>
        <p:txBody>
          <a:bodyPr wrap="square" lIns="0" tIns="0" rIns="0" bIns="0" anchor="t">
            <a:spAutoFit/>
          </a:bodyPr>
          <a:lstStyle/>
          <a:p>
            <a:pPr>
              <a:lnSpc>
                <a:spcPct val="112000"/>
              </a:lnSpc>
            </a:pPr>
            <a:r>
              <a:rPr sz="1350" b="0" i="0" dirty="0">
                <a:solidFill>
                  <a:srgbClr val="656A71"/>
                </a:solidFill>
                <a:latin typeface="Mark Offc For MC" panose="020B0504020101010102" pitchFamily="34" charset="0"/>
              </a:rPr>
              <a:t>No manual configuration</a:t>
            </a:r>
            <a:r>
              <a:rPr lang="en-US" sz="1350" b="0" i="0" dirty="0">
                <a:solidFill>
                  <a:srgbClr val="656A71"/>
                </a:solidFill>
                <a:latin typeface="Mark Offc For MC" panose="020B0504020101010102" pitchFamily="34" charset="0"/>
              </a:rPr>
              <a:t>,</a:t>
            </a:r>
            <a:r>
              <a:rPr sz="1350" b="0" i="0" dirty="0">
                <a:solidFill>
                  <a:srgbClr val="656A71"/>
                </a:solidFill>
                <a:latin typeface="Mark Offc For MC" panose="020B0504020101010102" pitchFamily="34" charset="0"/>
              </a:rPr>
              <a:t> the engine applies the correct regulatory rule.</a:t>
            </a:r>
          </a:p>
        </p:txBody>
      </p:sp>
      <p:cxnSp>
        <p:nvCxnSpPr>
          <p:cNvPr id="6" name="Connector 5"/>
          <p:cNvCxnSpPr/>
          <p:nvPr/>
        </p:nvCxnSpPr>
        <p:spPr>
          <a:xfrm>
            <a:off x="609600" y="1701800"/>
            <a:ext cx="10972800" cy="0"/>
          </a:xfrm>
          <a:prstGeom prst="line">
            <a:avLst/>
          </a:prstGeom>
          <a:ln w="12700">
            <a:solidFill>
              <a:srgbClr val="E6E2DC"/>
            </a:solidFill>
          </a:ln>
        </p:spPr>
      </p:cxnSp>
      <p:sp>
        <p:nvSpPr>
          <p:cNvPr id="7" name="Rectangle 6"/>
          <p:cNvSpPr/>
          <p:nvPr/>
        </p:nvSpPr>
        <p:spPr>
          <a:xfrm>
            <a:off x="609600" y="1686560"/>
            <a:ext cx="685800" cy="30480"/>
          </a:xfrm>
          <a:prstGeom prst="rect">
            <a:avLst/>
          </a:prstGeom>
          <a:solidFill>
            <a:srgbClr val="FF671B"/>
          </a:solidFill>
          <a:ln>
            <a:noFill/>
          </a:ln>
          <a:effectLst/>
        </p:spPr>
        <p:txBody>
          <a:bodyPr rtlCol="0" anchor="ctr"/>
          <a:lstStyle/>
          <a:p>
            <a:pPr algn="ctr"/>
            <a:endParaRPr>
              <a:latin typeface="Mark Offc For MC" panose="020B0504020101010102" pitchFamily="34" charset="0"/>
            </a:endParaRPr>
          </a:p>
        </p:txBody>
      </p:sp>
      <p:sp>
        <p:nvSpPr>
          <p:cNvPr id="8" name="TextBox 7"/>
          <p:cNvSpPr txBox="1"/>
          <p:nvPr/>
        </p:nvSpPr>
        <p:spPr>
          <a:xfrm>
            <a:off x="635000" y="2259856"/>
            <a:ext cx="1854200" cy="153888"/>
          </a:xfrm>
          <a:prstGeom prst="rect">
            <a:avLst/>
          </a:prstGeom>
          <a:noFill/>
        </p:spPr>
        <p:txBody>
          <a:bodyPr wrap="square" lIns="0" tIns="0" rIns="0" bIns="0" anchor="ctr">
            <a:spAutoFit/>
          </a:bodyPr>
          <a:lstStyle/>
          <a:p>
            <a:r>
              <a:rPr sz="1000" b="0" i="0" spc="80">
                <a:solidFill>
                  <a:srgbClr val="656A71"/>
                </a:solidFill>
                <a:latin typeface="Mark Offc For MC" panose="020B0504020101010102" pitchFamily="34" charset="0"/>
              </a:rPr>
              <a:t>RULE</a:t>
            </a:r>
          </a:p>
        </p:txBody>
      </p:sp>
      <p:sp>
        <p:nvSpPr>
          <p:cNvPr id="9" name="TextBox 8"/>
          <p:cNvSpPr txBox="1"/>
          <p:nvPr/>
        </p:nvSpPr>
        <p:spPr>
          <a:xfrm>
            <a:off x="2540000" y="2259856"/>
            <a:ext cx="1600200" cy="153888"/>
          </a:xfrm>
          <a:prstGeom prst="rect">
            <a:avLst/>
          </a:prstGeom>
          <a:noFill/>
        </p:spPr>
        <p:txBody>
          <a:bodyPr wrap="square" lIns="0" tIns="0" rIns="0" bIns="0" anchor="ctr">
            <a:spAutoFit/>
          </a:bodyPr>
          <a:lstStyle/>
          <a:p>
            <a:r>
              <a:rPr sz="1000" b="0" i="0" spc="80">
                <a:solidFill>
                  <a:srgbClr val="656A71"/>
                </a:solidFill>
                <a:latin typeface="Mark Offc For MC" panose="020B0504020101010102" pitchFamily="34" charset="0"/>
              </a:rPr>
              <a:t>MIN PEERS</a:t>
            </a:r>
          </a:p>
        </p:txBody>
      </p:sp>
      <p:sp>
        <p:nvSpPr>
          <p:cNvPr id="10" name="TextBox 9"/>
          <p:cNvSpPr txBox="1"/>
          <p:nvPr/>
        </p:nvSpPr>
        <p:spPr>
          <a:xfrm>
            <a:off x="4191000" y="2259856"/>
            <a:ext cx="2743200" cy="153888"/>
          </a:xfrm>
          <a:prstGeom prst="rect">
            <a:avLst/>
          </a:prstGeom>
          <a:noFill/>
        </p:spPr>
        <p:txBody>
          <a:bodyPr wrap="square" lIns="0" tIns="0" rIns="0" bIns="0" anchor="ctr">
            <a:spAutoFit/>
          </a:bodyPr>
          <a:lstStyle/>
          <a:p>
            <a:r>
              <a:rPr sz="1000" b="0" i="0" spc="80">
                <a:solidFill>
                  <a:srgbClr val="656A71"/>
                </a:solidFill>
                <a:latin typeface="Mark Offc For MC" panose="020B0504020101010102" pitchFamily="34" charset="0"/>
              </a:rPr>
              <a:t>MAX CONCENTRATION</a:t>
            </a:r>
          </a:p>
        </p:txBody>
      </p:sp>
      <p:sp>
        <p:nvSpPr>
          <p:cNvPr id="11" name="TextBox 10"/>
          <p:cNvSpPr txBox="1"/>
          <p:nvPr/>
        </p:nvSpPr>
        <p:spPr>
          <a:xfrm>
            <a:off x="6985000" y="2259856"/>
            <a:ext cx="4978400" cy="153888"/>
          </a:xfrm>
          <a:prstGeom prst="rect">
            <a:avLst/>
          </a:prstGeom>
          <a:noFill/>
        </p:spPr>
        <p:txBody>
          <a:bodyPr wrap="square" lIns="0" tIns="0" rIns="0" bIns="0" anchor="ctr">
            <a:spAutoFit/>
          </a:bodyPr>
          <a:lstStyle/>
          <a:p>
            <a:r>
              <a:rPr sz="1000" b="0" i="0" spc="80">
                <a:solidFill>
                  <a:srgbClr val="656A71"/>
                </a:solidFill>
                <a:latin typeface="Mark Offc For MC" panose="020B0504020101010102" pitchFamily="34" charset="0"/>
              </a:rPr>
              <a:t>TRIGGER CONDITION</a:t>
            </a:r>
          </a:p>
        </p:txBody>
      </p:sp>
      <p:cxnSp>
        <p:nvCxnSpPr>
          <p:cNvPr id="12" name="Connector 11"/>
          <p:cNvCxnSpPr/>
          <p:nvPr/>
        </p:nvCxnSpPr>
        <p:spPr>
          <a:xfrm>
            <a:off x="609600" y="2590800"/>
            <a:ext cx="10972800" cy="0"/>
          </a:xfrm>
          <a:prstGeom prst="line">
            <a:avLst/>
          </a:prstGeom>
          <a:ln w="20320">
            <a:solidFill>
              <a:srgbClr val="1A1A1A"/>
            </a:solidFill>
          </a:ln>
        </p:spPr>
      </p:cxnSp>
      <p:sp>
        <p:nvSpPr>
          <p:cNvPr id="13" name="Rounded Rectangle 12"/>
          <p:cNvSpPr/>
          <p:nvPr/>
        </p:nvSpPr>
        <p:spPr>
          <a:xfrm>
            <a:off x="635000" y="2743200"/>
            <a:ext cx="812800" cy="330200"/>
          </a:xfrm>
          <a:prstGeom prst="roundRect">
            <a:avLst>
              <a:gd name="adj" fmla="val 50000"/>
            </a:avLst>
          </a:prstGeom>
          <a:solidFill>
            <a:srgbClr val="FF671B"/>
          </a:solidFill>
          <a:ln>
            <a:noFill/>
          </a:ln>
          <a:effectLst/>
        </p:spPr>
        <p:txBody>
          <a:bodyPr rtlCol="0" anchor="ctr"/>
          <a:lstStyle/>
          <a:p>
            <a:pPr algn="ctr"/>
            <a:endParaRPr>
              <a:latin typeface="Mark Offc For MC" panose="020B0504020101010102" pitchFamily="34" charset="0"/>
            </a:endParaRPr>
          </a:p>
        </p:txBody>
      </p:sp>
      <p:sp>
        <p:nvSpPr>
          <p:cNvPr id="14" name="TextBox 13"/>
          <p:cNvSpPr txBox="1"/>
          <p:nvPr/>
        </p:nvSpPr>
        <p:spPr>
          <a:xfrm>
            <a:off x="635000" y="2827508"/>
            <a:ext cx="812800" cy="161583"/>
          </a:xfrm>
          <a:prstGeom prst="rect">
            <a:avLst/>
          </a:prstGeom>
          <a:noFill/>
        </p:spPr>
        <p:txBody>
          <a:bodyPr wrap="square" lIns="0" tIns="0" rIns="0" bIns="0" anchor="ctr">
            <a:spAutoFit/>
          </a:bodyPr>
          <a:lstStyle/>
          <a:p>
            <a:pPr algn="ctr"/>
            <a:r>
              <a:rPr sz="1050" b="0" i="0">
                <a:solidFill>
                  <a:srgbClr val="FFFFFF"/>
                </a:solidFill>
                <a:latin typeface="Mark Offc For MC Medium" panose="020B0604020101010102" pitchFamily="34" charset="0"/>
              </a:rPr>
              <a:t>5 / 25</a:t>
            </a:r>
          </a:p>
        </p:txBody>
      </p:sp>
      <p:sp>
        <p:nvSpPr>
          <p:cNvPr id="15" name="TextBox 14"/>
          <p:cNvSpPr txBox="1"/>
          <p:nvPr/>
        </p:nvSpPr>
        <p:spPr>
          <a:xfrm>
            <a:off x="2565400" y="2815967"/>
            <a:ext cx="1549400" cy="184666"/>
          </a:xfrm>
          <a:prstGeom prst="rect">
            <a:avLst/>
          </a:prstGeom>
          <a:noFill/>
        </p:spPr>
        <p:txBody>
          <a:bodyPr wrap="square" lIns="0" tIns="0" rIns="0" bIns="0" anchor="ctr">
            <a:spAutoFit/>
          </a:bodyPr>
          <a:lstStyle/>
          <a:p>
            <a:r>
              <a:rPr sz="1200" b="0" i="0">
                <a:solidFill>
                  <a:srgbClr val="1A1A1A"/>
                </a:solidFill>
                <a:latin typeface="Mark Offc For MC" panose="020B0504020101010102" pitchFamily="34" charset="0"/>
              </a:rPr>
              <a:t>5</a:t>
            </a:r>
          </a:p>
        </p:txBody>
      </p:sp>
      <p:sp>
        <p:nvSpPr>
          <p:cNvPr id="16" name="TextBox 15"/>
          <p:cNvSpPr txBox="1"/>
          <p:nvPr/>
        </p:nvSpPr>
        <p:spPr>
          <a:xfrm>
            <a:off x="4216400" y="2815967"/>
            <a:ext cx="2692400" cy="184666"/>
          </a:xfrm>
          <a:prstGeom prst="rect">
            <a:avLst/>
          </a:prstGeom>
          <a:noFill/>
        </p:spPr>
        <p:txBody>
          <a:bodyPr wrap="square" lIns="0" tIns="0" rIns="0" bIns="0" anchor="ctr">
            <a:spAutoFit/>
          </a:bodyPr>
          <a:lstStyle/>
          <a:p>
            <a:r>
              <a:rPr sz="1200" b="0" i="0">
                <a:solidFill>
                  <a:srgbClr val="1A1A1A"/>
                </a:solidFill>
                <a:latin typeface="Mark Offc For MC" panose="020B0504020101010102" pitchFamily="34" charset="0"/>
              </a:rPr>
              <a:t>25%</a:t>
            </a:r>
          </a:p>
        </p:txBody>
      </p:sp>
      <p:sp>
        <p:nvSpPr>
          <p:cNvPr id="17" name="TextBox 16"/>
          <p:cNvSpPr txBox="1"/>
          <p:nvPr/>
        </p:nvSpPr>
        <p:spPr>
          <a:xfrm>
            <a:off x="7010400" y="2812120"/>
            <a:ext cx="4927600" cy="192360"/>
          </a:xfrm>
          <a:prstGeom prst="rect">
            <a:avLst/>
          </a:prstGeom>
          <a:noFill/>
        </p:spPr>
        <p:txBody>
          <a:bodyPr wrap="square" lIns="0" tIns="0" rIns="0" bIns="0" anchor="ctr">
            <a:spAutoFit/>
          </a:bodyPr>
          <a:lstStyle/>
          <a:p>
            <a:r>
              <a:rPr sz="1250" b="0" i="0">
                <a:solidFill>
                  <a:srgbClr val="3C3F44"/>
                </a:solidFill>
                <a:latin typeface="Mark Offc For MC" panose="020B0504020101010102" pitchFamily="34" charset="0"/>
              </a:rPr>
              <a:t>Baseline standard</a:t>
            </a:r>
          </a:p>
        </p:txBody>
      </p:sp>
      <p:cxnSp>
        <p:nvCxnSpPr>
          <p:cNvPr id="18" name="Connector 17"/>
          <p:cNvCxnSpPr/>
          <p:nvPr/>
        </p:nvCxnSpPr>
        <p:spPr>
          <a:xfrm>
            <a:off x="609600" y="3225800"/>
            <a:ext cx="10972800" cy="0"/>
          </a:xfrm>
          <a:prstGeom prst="line">
            <a:avLst/>
          </a:prstGeom>
          <a:ln w="12700">
            <a:solidFill>
              <a:srgbClr val="EFECE7"/>
            </a:solidFill>
          </a:ln>
        </p:spPr>
      </p:cxnSp>
      <p:sp>
        <p:nvSpPr>
          <p:cNvPr id="19" name="Rounded Rectangle 18"/>
          <p:cNvSpPr/>
          <p:nvPr/>
        </p:nvSpPr>
        <p:spPr>
          <a:xfrm>
            <a:off x="635000" y="3378200"/>
            <a:ext cx="812800" cy="330200"/>
          </a:xfrm>
          <a:prstGeom prst="roundRect">
            <a:avLst>
              <a:gd name="adj" fmla="val 50000"/>
            </a:avLst>
          </a:prstGeom>
          <a:solidFill>
            <a:srgbClr val="FF671B"/>
          </a:solidFill>
          <a:ln>
            <a:noFill/>
          </a:ln>
          <a:effectLst/>
        </p:spPr>
        <p:txBody>
          <a:bodyPr rtlCol="0" anchor="ctr"/>
          <a:lstStyle/>
          <a:p>
            <a:pPr algn="ctr"/>
            <a:endParaRPr>
              <a:latin typeface="Mark Offc For MC" panose="020B0504020101010102" pitchFamily="34" charset="0"/>
            </a:endParaRPr>
          </a:p>
        </p:txBody>
      </p:sp>
      <p:sp>
        <p:nvSpPr>
          <p:cNvPr id="20" name="TextBox 19"/>
          <p:cNvSpPr txBox="1"/>
          <p:nvPr/>
        </p:nvSpPr>
        <p:spPr>
          <a:xfrm>
            <a:off x="635000" y="3462508"/>
            <a:ext cx="812800" cy="161583"/>
          </a:xfrm>
          <a:prstGeom prst="rect">
            <a:avLst/>
          </a:prstGeom>
          <a:noFill/>
        </p:spPr>
        <p:txBody>
          <a:bodyPr wrap="square" lIns="0" tIns="0" rIns="0" bIns="0" anchor="ctr">
            <a:spAutoFit/>
          </a:bodyPr>
          <a:lstStyle/>
          <a:p>
            <a:pPr algn="ctr"/>
            <a:r>
              <a:rPr sz="1050" b="0" i="0">
                <a:solidFill>
                  <a:srgbClr val="FFFFFF"/>
                </a:solidFill>
                <a:latin typeface="Mark Offc For MC Medium" panose="020B0604020101010102" pitchFamily="34" charset="0"/>
              </a:rPr>
              <a:t>6 / 30</a:t>
            </a:r>
          </a:p>
        </p:txBody>
      </p:sp>
      <p:sp>
        <p:nvSpPr>
          <p:cNvPr id="21" name="TextBox 20"/>
          <p:cNvSpPr txBox="1"/>
          <p:nvPr/>
        </p:nvSpPr>
        <p:spPr>
          <a:xfrm>
            <a:off x="2565400" y="3450967"/>
            <a:ext cx="1549400" cy="184666"/>
          </a:xfrm>
          <a:prstGeom prst="rect">
            <a:avLst/>
          </a:prstGeom>
          <a:noFill/>
        </p:spPr>
        <p:txBody>
          <a:bodyPr wrap="square" lIns="0" tIns="0" rIns="0" bIns="0" anchor="ctr">
            <a:spAutoFit/>
          </a:bodyPr>
          <a:lstStyle/>
          <a:p>
            <a:r>
              <a:rPr sz="1200" b="0" i="0">
                <a:solidFill>
                  <a:srgbClr val="1A1A1A"/>
                </a:solidFill>
                <a:latin typeface="Mark Offc For MC" panose="020B0504020101010102" pitchFamily="34" charset="0"/>
              </a:rPr>
              <a:t>6</a:t>
            </a:r>
          </a:p>
        </p:txBody>
      </p:sp>
      <p:sp>
        <p:nvSpPr>
          <p:cNvPr id="22" name="TextBox 21"/>
          <p:cNvSpPr txBox="1"/>
          <p:nvPr/>
        </p:nvSpPr>
        <p:spPr>
          <a:xfrm>
            <a:off x="4216400" y="3450967"/>
            <a:ext cx="2692400" cy="184666"/>
          </a:xfrm>
          <a:prstGeom prst="rect">
            <a:avLst/>
          </a:prstGeom>
          <a:noFill/>
        </p:spPr>
        <p:txBody>
          <a:bodyPr wrap="square" lIns="0" tIns="0" rIns="0" bIns="0" anchor="ctr">
            <a:spAutoFit/>
          </a:bodyPr>
          <a:lstStyle/>
          <a:p>
            <a:r>
              <a:rPr sz="1200" b="0" i="0">
                <a:solidFill>
                  <a:srgbClr val="1A1A1A"/>
                </a:solidFill>
                <a:latin typeface="Mark Offc For MC" panose="020B0504020101010102" pitchFamily="34" charset="0"/>
              </a:rPr>
              <a:t>30%</a:t>
            </a:r>
          </a:p>
        </p:txBody>
      </p:sp>
      <p:sp>
        <p:nvSpPr>
          <p:cNvPr id="23" name="TextBox 22"/>
          <p:cNvSpPr txBox="1"/>
          <p:nvPr/>
        </p:nvSpPr>
        <p:spPr>
          <a:xfrm>
            <a:off x="7010400" y="3447120"/>
            <a:ext cx="4927600" cy="192360"/>
          </a:xfrm>
          <a:prstGeom prst="rect">
            <a:avLst/>
          </a:prstGeom>
          <a:noFill/>
        </p:spPr>
        <p:txBody>
          <a:bodyPr wrap="square" lIns="0" tIns="0" rIns="0" bIns="0" anchor="ctr">
            <a:spAutoFit/>
          </a:bodyPr>
          <a:lstStyle/>
          <a:p>
            <a:r>
              <a:rPr sz="1250" b="0" i="0">
                <a:solidFill>
                  <a:srgbClr val="3C3F44"/>
                </a:solidFill>
                <a:latin typeface="Mark Offc For MC" panose="020B0504020101010102" pitchFamily="34" charset="0"/>
              </a:rPr>
              <a:t>≥ 3 participants at ≥ 7%</a:t>
            </a:r>
          </a:p>
        </p:txBody>
      </p:sp>
      <p:cxnSp>
        <p:nvCxnSpPr>
          <p:cNvPr id="24" name="Connector 23"/>
          <p:cNvCxnSpPr/>
          <p:nvPr/>
        </p:nvCxnSpPr>
        <p:spPr>
          <a:xfrm>
            <a:off x="609600" y="3860800"/>
            <a:ext cx="10972800" cy="0"/>
          </a:xfrm>
          <a:prstGeom prst="line">
            <a:avLst/>
          </a:prstGeom>
          <a:ln w="12700">
            <a:solidFill>
              <a:srgbClr val="EFECE7"/>
            </a:solidFill>
          </a:ln>
        </p:spPr>
      </p:cxnSp>
      <p:sp>
        <p:nvSpPr>
          <p:cNvPr id="25" name="Rounded Rectangle 24"/>
          <p:cNvSpPr/>
          <p:nvPr/>
        </p:nvSpPr>
        <p:spPr>
          <a:xfrm>
            <a:off x="635000" y="4013200"/>
            <a:ext cx="812800" cy="330200"/>
          </a:xfrm>
          <a:prstGeom prst="roundRect">
            <a:avLst>
              <a:gd name="adj" fmla="val 50000"/>
            </a:avLst>
          </a:prstGeom>
          <a:solidFill>
            <a:srgbClr val="FF671B"/>
          </a:solidFill>
          <a:ln>
            <a:noFill/>
          </a:ln>
          <a:effectLst/>
        </p:spPr>
        <p:txBody>
          <a:bodyPr rtlCol="0" anchor="ctr"/>
          <a:lstStyle/>
          <a:p>
            <a:pPr algn="ctr"/>
            <a:endParaRPr>
              <a:latin typeface="Mark Offc For MC" panose="020B0504020101010102" pitchFamily="34" charset="0"/>
            </a:endParaRPr>
          </a:p>
        </p:txBody>
      </p:sp>
      <p:sp>
        <p:nvSpPr>
          <p:cNvPr id="26" name="TextBox 25"/>
          <p:cNvSpPr txBox="1"/>
          <p:nvPr/>
        </p:nvSpPr>
        <p:spPr>
          <a:xfrm>
            <a:off x="635000" y="4097508"/>
            <a:ext cx="812800" cy="161583"/>
          </a:xfrm>
          <a:prstGeom prst="rect">
            <a:avLst/>
          </a:prstGeom>
          <a:noFill/>
        </p:spPr>
        <p:txBody>
          <a:bodyPr wrap="square" lIns="0" tIns="0" rIns="0" bIns="0" anchor="ctr">
            <a:spAutoFit/>
          </a:bodyPr>
          <a:lstStyle/>
          <a:p>
            <a:pPr algn="ctr"/>
            <a:r>
              <a:rPr sz="1050" b="0" i="0">
                <a:solidFill>
                  <a:srgbClr val="FFFFFF"/>
                </a:solidFill>
                <a:latin typeface="Mark Offc For MC Medium" panose="020B0604020101010102" pitchFamily="34" charset="0"/>
              </a:rPr>
              <a:t>7 / 35</a:t>
            </a:r>
          </a:p>
        </p:txBody>
      </p:sp>
      <p:sp>
        <p:nvSpPr>
          <p:cNvPr id="27" name="TextBox 26"/>
          <p:cNvSpPr txBox="1"/>
          <p:nvPr/>
        </p:nvSpPr>
        <p:spPr>
          <a:xfrm>
            <a:off x="2565400" y="4085967"/>
            <a:ext cx="1549400" cy="184666"/>
          </a:xfrm>
          <a:prstGeom prst="rect">
            <a:avLst/>
          </a:prstGeom>
          <a:noFill/>
        </p:spPr>
        <p:txBody>
          <a:bodyPr wrap="square" lIns="0" tIns="0" rIns="0" bIns="0" anchor="ctr">
            <a:spAutoFit/>
          </a:bodyPr>
          <a:lstStyle/>
          <a:p>
            <a:r>
              <a:rPr sz="1200" b="0" i="0">
                <a:solidFill>
                  <a:srgbClr val="1A1A1A"/>
                </a:solidFill>
                <a:latin typeface="Mark Offc For MC" panose="020B0504020101010102" pitchFamily="34" charset="0"/>
              </a:rPr>
              <a:t>7</a:t>
            </a:r>
          </a:p>
        </p:txBody>
      </p:sp>
      <p:sp>
        <p:nvSpPr>
          <p:cNvPr id="28" name="TextBox 27"/>
          <p:cNvSpPr txBox="1"/>
          <p:nvPr/>
        </p:nvSpPr>
        <p:spPr>
          <a:xfrm>
            <a:off x="4216400" y="4085967"/>
            <a:ext cx="2692400" cy="184666"/>
          </a:xfrm>
          <a:prstGeom prst="rect">
            <a:avLst/>
          </a:prstGeom>
          <a:noFill/>
        </p:spPr>
        <p:txBody>
          <a:bodyPr wrap="square" lIns="0" tIns="0" rIns="0" bIns="0" anchor="ctr">
            <a:spAutoFit/>
          </a:bodyPr>
          <a:lstStyle/>
          <a:p>
            <a:r>
              <a:rPr sz="1200" b="0" i="0">
                <a:solidFill>
                  <a:srgbClr val="1A1A1A"/>
                </a:solidFill>
                <a:latin typeface="Mark Offc For MC" panose="020B0504020101010102" pitchFamily="34" charset="0"/>
              </a:rPr>
              <a:t>35%</a:t>
            </a:r>
          </a:p>
        </p:txBody>
      </p:sp>
      <p:sp>
        <p:nvSpPr>
          <p:cNvPr id="29" name="TextBox 28"/>
          <p:cNvSpPr txBox="1"/>
          <p:nvPr/>
        </p:nvSpPr>
        <p:spPr>
          <a:xfrm>
            <a:off x="7010400" y="4082120"/>
            <a:ext cx="4927600" cy="192360"/>
          </a:xfrm>
          <a:prstGeom prst="rect">
            <a:avLst/>
          </a:prstGeom>
          <a:noFill/>
        </p:spPr>
        <p:txBody>
          <a:bodyPr wrap="square" lIns="0" tIns="0" rIns="0" bIns="0" anchor="ctr">
            <a:spAutoFit/>
          </a:bodyPr>
          <a:lstStyle/>
          <a:p>
            <a:r>
              <a:rPr sz="1250" b="0" i="0">
                <a:solidFill>
                  <a:srgbClr val="3C3F44"/>
                </a:solidFill>
                <a:latin typeface="Mark Offc For MC" panose="020B0504020101010102" pitchFamily="34" charset="0"/>
              </a:rPr>
              <a:t>≥ 2 at ≥ 15%, plus ≥ 1 at ≥ 8%</a:t>
            </a:r>
          </a:p>
        </p:txBody>
      </p:sp>
      <p:cxnSp>
        <p:nvCxnSpPr>
          <p:cNvPr id="30" name="Connector 29"/>
          <p:cNvCxnSpPr/>
          <p:nvPr/>
        </p:nvCxnSpPr>
        <p:spPr>
          <a:xfrm>
            <a:off x="609600" y="4495800"/>
            <a:ext cx="10972800" cy="0"/>
          </a:xfrm>
          <a:prstGeom prst="line">
            <a:avLst/>
          </a:prstGeom>
          <a:ln w="12700">
            <a:solidFill>
              <a:srgbClr val="EFECE7"/>
            </a:solidFill>
          </a:ln>
        </p:spPr>
      </p:cxnSp>
      <p:sp>
        <p:nvSpPr>
          <p:cNvPr id="31" name="Rounded Rectangle 30"/>
          <p:cNvSpPr/>
          <p:nvPr/>
        </p:nvSpPr>
        <p:spPr>
          <a:xfrm>
            <a:off x="635000" y="4648200"/>
            <a:ext cx="812800" cy="330200"/>
          </a:xfrm>
          <a:prstGeom prst="roundRect">
            <a:avLst>
              <a:gd name="adj" fmla="val 50000"/>
            </a:avLst>
          </a:prstGeom>
          <a:solidFill>
            <a:srgbClr val="FF671B"/>
          </a:solidFill>
          <a:ln>
            <a:noFill/>
          </a:ln>
          <a:effectLst/>
        </p:spPr>
        <p:txBody>
          <a:bodyPr rtlCol="0" anchor="ctr"/>
          <a:lstStyle/>
          <a:p>
            <a:pPr algn="ctr"/>
            <a:endParaRPr>
              <a:latin typeface="Mark Offc For MC" panose="020B0504020101010102" pitchFamily="34" charset="0"/>
            </a:endParaRPr>
          </a:p>
        </p:txBody>
      </p:sp>
      <p:sp>
        <p:nvSpPr>
          <p:cNvPr id="32" name="TextBox 31"/>
          <p:cNvSpPr txBox="1"/>
          <p:nvPr/>
        </p:nvSpPr>
        <p:spPr>
          <a:xfrm>
            <a:off x="635000" y="4732508"/>
            <a:ext cx="812800" cy="161583"/>
          </a:xfrm>
          <a:prstGeom prst="rect">
            <a:avLst/>
          </a:prstGeom>
          <a:noFill/>
        </p:spPr>
        <p:txBody>
          <a:bodyPr wrap="square" lIns="0" tIns="0" rIns="0" bIns="0" anchor="ctr">
            <a:spAutoFit/>
          </a:bodyPr>
          <a:lstStyle/>
          <a:p>
            <a:pPr algn="ctr"/>
            <a:r>
              <a:rPr sz="1050" b="0" i="0">
                <a:solidFill>
                  <a:srgbClr val="FFFFFF"/>
                </a:solidFill>
                <a:latin typeface="Mark Offc For MC Medium" panose="020B0604020101010102" pitchFamily="34" charset="0"/>
              </a:rPr>
              <a:t>10 / 40</a:t>
            </a:r>
          </a:p>
        </p:txBody>
      </p:sp>
      <p:sp>
        <p:nvSpPr>
          <p:cNvPr id="33" name="TextBox 32"/>
          <p:cNvSpPr txBox="1"/>
          <p:nvPr/>
        </p:nvSpPr>
        <p:spPr>
          <a:xfrm>
            <a:off x="2565400" y="4720967"/>
            <a:ext cx="1549400" cy="184666"/>
          </a:xfrm>
          <a:prstGeom prst="rect">
            <a:avLst/>
          </a:prstGeom>
          <a:noFill/>
        </p:spPr>
        <p:txBody>
          <a:bodyPr wrap="square" lIns="0" tIns="0" rIns="0" bIns="0" anchor="ctr">
            <a:spAutoFit/>
          </a:bodyPr>
          <a:lstStyle/>
          <a:p>
            <a:r>
              <a:rPr sz="1200" b="0" i="0">
                <a:solidFill>
                  <a:srgbClr val="1A1A1A"/>
                </a:solidFill>
                <a:latin typeface="Mark Offc For MC" panose="020B0504020101010102" pitchFamily="34" charset="0"/>
              </a:rPr>
              <a:t>10</a:t>
            </a:r>
          </a:p>
        </p:txBody>
      </p:sp>
      <p:sp>
        <p:nvSpPr>
          <p:cNvPr id="34" name="TextBox 33"/>
          <p:cNvSpPr txBox="1"/>
          <p:nvPr/>
        </p:nvSpPr>
        <p:spPr>
          <a:xfrm>
            <a:off x="4216400" y="4720967"/>
            <a:ext cx="2692400" cy="184666"/>
          </a:xfrm>
          <a:prstGeom prst="rect">
            <a:avLst/>
          </a:prstGeom>
          <a:noFill/>
        </p:spPr>
        <p:txBody>
          <a:bodyPr wrap="square" lIns="0" tIns="0" rIns="0" bIns="0" anchor="ctr">
            <a:spAutoFit/>
          </a:bodyPr>
          <a:lstStyle/>
          <a:p>
            <a:r>
              <a:rPr sz="1200" b="0" i="0">
                <a:solidFill>
                  <a:srgbClr val="1A1A1A"/>
                </a:solidFill>
                <a:latin typeface="Mark Offc For MC" panose="020B0504020101010102" pitchFamily="34" charset="0"/>
              </a:rPr>
              <a:t>40%</a:t>
            </a:r>
          </a:p>
        </p:txBody>
      </p:sp>
      <p:sp>
        <p:nvSpPr>
          <p:cNvPr id="35" name="TextBox 34"/>
          <p:cNvSpPr txBox="1"/>
          <p:nvPr/>
        </p:nvSpPr>
        <p:spPr>
          <a:xfrm>
            <a:off x="7010400" y="4717120"/>
            <a:ext cx="4927600" cy="192360"/>
          </a:xfrm>
          <a:prstGeom prst="rect">
            <a:avLst/>
          </a:prstGeom>
          <a:noFill/>
        </p:spPr>
        <p:txBody>
          <a:bodyPr wrap="square" lIns="0" tIns="0" rIns="0" bIns="0" anchor="ctr">
            <a:spAutoFit/>
          </a:bodyPr>
          <a:lstStyle/>
          <a:p>
            <a:r>
              <a:rPr sz="1250" b="0" i="0">
                <a:solidFill>
                  <a:srgbClr val="3C3F44"/>
                </a:solidFill>
                <a:latin typeface="Mark Offc For MC" panose="020B0504020101010102" pitchFamily="34" charset="0"/>
              </a:rPr>
              <a:t>≥ 2 at ≥ 20%, plus ≥ 1 at ≥ 10%</a:t>
            </a:r>
          </a:p>
        </p:txBody>
      </p:sp>
      <p:cxnSp>
        <p:nvCxnSpPr>
          <p:cNvPr id="36" name="Connector 35"/>
          <p:cNvCxnSpPr/>
          <p:nvPr/>
        </p:nvCxnSpPr>
        <p:spPr>
          <a:xfrm>
            <a:off x="609600" y="5130800"/>
            <a:ext cx="10972800" cy="0"/>
          </a:xfrm>
          <a:prstGeom prst="line">
            <a:avLst/>
          </a:prstGeom>
          <a:ln w="12700">
            <a:solidFill>
              <a:srgbClr val="EFECE7"/>
            </a:solidFill>
          </a:ln>
        </p:spPr>
      </p:cxnSp>
      <p:sp>
        <p:nvSpPr>
          <p:cNvPr id="37" name="Rectangle 36"/>
          <p:cNvSpPr/>
          <p:nvPr/>
        </p:nvSpPr>
        <p:spPr>
          <a:xfrm>
            <a:off x="609600" y="5130800"/>
            <a:ext cx="10972800" cy="635000"/>
          </a:xfrm>
          <a:prstGeom prst="rect">
            <a:avLst/>
          </a:prstGeom>
          <a:solidFill>
            <a:srgbClr val="FFEDE2"/>
          </a:solidFill>
          <a:ln>
            <a:noFill/>
          </a:ln>
          <a:effectLst/>
        </p:spPr>
        <p:txBody>
          <a:bodyPr rtlCol="0" anchor="ctr"/>
          <a:lstStyle/>
          <a:p>
            <a:pPr algn="ctr"/>
            <a:endParaRPr>
              <a:latin typeface="Mark Offc For MC" panose="020B0504020101010102" pitchFamily="34" charset="0"/>
            </a:endParaRPr>
          </a:p>
        </p:txBody>
      </p:sp>
      <p:sp>
        <p:nvSpPr>
          <p:cNvPr id="38" name="Rounded Rectangle 37"/>
          <p:cNvSpPr/>
          <p:nvPr/>
        </p:nvSpPr>
        <p:spPr>
          <a:xfrm>
            <a:off x="635000" y="5283200"/>
            <a:ext cx="812800" cy="330200"/>
          </a:xfrm>
          <a:prstGeom prst="roundRect">
            <a:avLst>
              <a:gd name="adj" fmla="val 50000"/>
            </a:avLst>
          </a:prstGeom>
          <a:solidFill>
            <a:srgbClr val="FFFFFF"/>
          </a:solidFill>
          <a:ln w="15240">
            <a:solidFill>
              <a:srgbClr val="FF671B"/>
            </a:solidFill>
          </a:ln>
          <a:effectLst/>
        </p:spPr>
        <p:txBody>
          <a:bodyPr rtlCol="0" anchor="ctr"/>
          <a:lstStyle/>
          <a:p>
            <a:pPr algn="ctr"/>
            <a:endParaRPr>
              <a:latin typeface="Mark Offc For MC" panose="020B0504020101010102" pitchFamily="34" charset="0"/>
            </a:endParaRPr>
          </a:p>
        </p:txBody>
      </p:sp>
      <p:sp>
        <p:nvSpPr>
          <p:cNvPr id="39" name="TextBox 38"/>
          <p:cNvSpPr txBox="1"/>
          <p:nvPr/>
        </p:nvSpPr>
        <p:spPr>
          <a:xfrm>
            <a:off x="635000" y="5367508"/>
            <a:ext cx="812800" cy="161583"/>
          </a:xfrm>
          <a:prstGeom prst="rect">
            <a:avLst/>
          </a:prstGeom>
          <a:noFill/>
        </p:spPr>
        <p:txBody>
          <a:bodyPr wrap="square" lIns="0" tIns="0" rIns="0" bIns="0" anchor="ctr">
            <a:spAutoFit/>
          </a:bodyPr>
          <a:lstStyle/>
          <a:p>
            <a:pPr algn="ctr"/>
            <a:r>
              <a:rPr sz="1050" b="0" i="0">
                <a:solidFill>
                  <a:srgbClr val="D84E0C"/>
                </a:solidFill>
                <a:latin typeface="Mark Offc For MC Medium" panose="020B0604020101010102" pitchFamily="34" charset="0"/>
              </a:rPr>
              <a:t>4 / 35</a:t>
            </a:r>
          </a:p>
        </p:txBody>
      </p:sp>
      <p:sp>
        <p:nvSpPr>
          <p:cNvPr id="40" name="TextBox 39"/>
          <p:cNvSpPr txBox="1"/>
          <p:nvPr/>
        </p:nvSpPr>
        <p:spPr>
          <a:xfrm>
            <a:off x="2565400" y="5355967"/>
            <a:ext cx="1549400" cy="184666"/>
          </a:xfrm>
          <a:prstGeom prst="rect">
            <a:avLst/>
          </a:prstGeom>
          <a:noFill/>
        </p:spPr>
        <p:txBody>
          <a:bodyPr wrap="square" lIns="0" tIns="0" rIns="0" bIns="0" anchor="ctr">
            <a:spAutoFit/>
          </a:bodyPr>
          <a:lstStyle/>
          <a:p>
            <a:r>
              <a:rPr sz="1200" b="0" i="0">
                <a:solidFill>
                  <a:srgbClr val="1A1A1A"/>
                </a:solidFill>
                <a:latin typeface="Mark Offc For MC" panose="020B0504020101010102" pitchFamily="34" charset="0"/>
              </a:rPr>
              <a:t>4</a:t>
            </a:r>
          </a:p>
        </p:txBody>
      </p:sp>
      <p:sp>
        <p:nvSpPr>
          <p:cNvPr id="41" name="TextBox 40"/>
          <p:cNvSpPr txBox="1"/>
          <p:nvPr/>
        </p:nvSpPr>
        <p:spPr>
          <a:xfrm>
            <a:off x="4216400" y="5355967"/>
            <a:ext cx="2692400" cy="184666"/>
          </a:xfrm>
          <a:prstGeom prst="rect">
            <a:avLst/>
          </a:prstGeom>
          <a:noFill/>
        </p:spPr>
        <p:txBody>
          <a:bodyPr wrap="square" lIns="0" tIns="0" rIns="0" bIns="0" anchor="ctr">
            <a:spAutoFit/>
          </a:bodyPr>
          <a:lstStyle/>
          <a:p>
            <a:r>
              <a:rPr sz="1200" b="0" i="0">
                <a:solidFill>
                  <a:srgbClr val="1A1A1A"/>
                </a:solidFill>
                <a:latin typeface="Mark Offc For MC" panose="020B0504020101010102" pitchFamily="34" charset="0"/>
              </a:rPr>
              <a:t>35%</a:t>
            </a:r>
          </a:p>
        </p:txBody>
      </p:sp>
      <p:sp>
        <p:nvSpPr>
          <p:cNvPr id="42" name="TextBox 41"/>
          <p:cNvSpPr txBox="1"/>
          <p:nvPr/>
        </p:nvSpPr>
        <p:spPr>
          <a:xfrm>
            <a:off x="7010400" y="5352120"/>
            <a:ext cx="4927600" cy="192360"/>
          </a:xfrm>
          <a:prstGeom prst="rect">
            <a:avLst/>
          </a:prstGeom>
          <a:noFill/>
        </p:spPr>
        <p:txBody>
          <a:bodyPr wrap="square" lIns="0" tIns="0" rIns="0" bIns="0" anchor="ctr">
            <a:spAutoFit/>
          </a:bodyPr>
          <a:lstStyle/>
          <a:p>
            <a:r>
              <a:rPr sz="1250" b="0" i="0">
                <a:solidFill>
                  <a:srgbClr val="3C3F44"/>
                </a:solidFill>
                <a:latin typeface="Mark Offc For MC" panose="020B0504020101010102" pitchFamily="34" charset="0"/>
              </a:rPr>
              <a:t>Merchant benchmarking mode only</a:t>
            </a:r>
          </a:p>
        </p:txBody>
      </p:sp>
      <p:cxnSp>
        <p:nvCxnSpPr>
          <p:cNvPr id="43" name="Connector 42"/>
          <p:cNvCxnSpPr/>
          <p:nvPr/>
        </p:nvCxnSpPr>
        <p:spPr>
          <a:xfrm>
            <a:off x="609600" y="5765800"/>
            <a:ext cx="10972800" cy="0"/>
          </a:xfrm>
          <a:prstGeom prst="line">
            <a:avLst/>
          </a:prstGeom>
          <a:ln w="12700">
            <a:solidFill>
              <a:srgbClr val="EFECE7"/>
            </a:solidFill>
          </a:ln>
        </p:spPr>
      </p:cxnSp>
      <p:sp>
        <p:nvSpPr>
          <p:cNvPr id="44" name="TextBox 43"/>
          <p:cNvSpPr txBox="1"/>
          <p:nvPr/>
        </p:nvSpPr>
        <p:spPr>
          <a:xfrm>
            <a:off x="609600" y="6509350"/>
            <a:ext cx="2540000" cy="138499"/>
          </a:xfrm>
          <a:prstGeom prst="rect">
            <a:avLst/>
          </a:prstGeom>
          <a:noFill/>
        </p:spPr>
        <p:txBody>
          <a:bodyPr wrap="square" lIns="0" tIns="0" rIns="0" bIns="0" anchor="ctr">
            <a:spAutoFit/>
          </a:bodyPr>
          <a:lstStyle/>
          <a:p>
            <a:r>
              <a:rPr sz="900" b="0" i="0">
                <a:solidFill>
                  <a:srgbClr val="FF671B"/>
                </a:solidFill>
                <a:latin typeface="Mark Offc For MC" panose="020B0504020101010102" pitchFamily="34" charset="0"/>
              </a:rPr>
              <a:t>05</a:t>
            </a:r>
            <a:r>
              <a:rPr sz="900" b="0" i="0">
                <a:solidFill>
                  <a:srgbClr val="9CA0A6"/>
                </a:solidFill>
                <a:latin typeface="Mark Offc For MC" panose="020B0504020101010102" pitchFamily="34" charset="0"/>
              </a:rPr>
              <a:t>  /  13</a:t>
            </a:r>
          </a:p>
        </p:txBody>
      </p:sp>
      <p:sp>
        <p:nvSpPr>
          <p:cNvPr id="45" name="TextBox 44"/>
          <p:cNvSpPr txBox="1"/>
          <p:nvPr/>
        </p:nvSpPr>
        <p:spPr>
          <a:xfrm>
            <a:off x="11912600" y="2931613"/>
            <a:ext cx="100027" cy="2021387"/>
          </a:xfrm>
          <a:prstGeom prst="rect">
            <a:avLst/>
          </a:prstGeom>
          <a:noFill/>
        </p:spPr>
        <p:txBody>
          <a:bodyPr vert="vert270" wrap="none" lIns="0" tIns="0" rIns="0" bIns="0">
            <a:spAutoFit/>
          </a:bodyPr>
          <a:lstStyle/>
          <a:p>
            <a:r>
              <a:rPr sz="650">
                <a:solidFill>
                  <a:srgbClr val="9CA0A6"/>
                </a:solidFill>
                <a:latin typeface="Mark Offc For MC" panose="020B0504020101010102" pitchFamily="34" charset="0"/>
              </a:rPr>
              <a:t>© 2025 Mastercard. Proprietary and Confidential.</a:t>
            </a:r>
          </a:p>
        </p:txBody>
      </p:sp>
      <p:sp>
        <p:nvSpPr>
          <p:cNvPr id="46" name="Oval 45"/>
          <p:cNvSpPr/>
          <p:nvPr/>
        </p:nvSpPr>
        <p:spPr>
          <a:xfrm>
            <a:off x="11080496" y="6248400"/>
            <a:ext cx="330200" cy="330200"/>
          </a:xfrm>
          <a:prstGeom prst="ellipse">
            <a:avLst/>
          </a:prstGeom>
          <a:solidFill>
            <a:srgbClr val="EB001B"/>
          </a:solidFill>
          <a:ln>
            <a:noFill/>
          </a:ln>
          <a:effectLst/>
        </p:spPr>
        <p:txBody>
          <a:bodyPr rtlCol="0" anchor="ctr"/>
          <a:lstStyle/>
          <a:p>
            <a:pPr algn="ctr"/>
            <a:endParaRPr>
              <a:latin typeface="Mark Offc For MC" panose="020B0504020101010102" pitchFamily="34" charset="0"/>
            </a:endParaRPr>
          </a:p>
        </p:txBody>
      </p:sp>
      <p:sp>
        <p:nvSpPr>
          <p:cNvPr id="47" name="Oval 46"/>
          <p:cNvSpPr/>
          <p:nvPr/>
        </p:nvSpPr>
        <p:spPr>
          <a:xfrm>
            <a:off x="11252200" y="6248400"/>
            <a:ext cx="330200" cy="330200"/>
          </a:xfrm>
          <a:prstGeom prst="ellipse">
            <a:avLst/>
          </a:prstGeom>
          <a:solidFill>
            <a:srgbClr val="F79E1B"/>
          </a:solidFill>
          <a:ln>
            <a:noFill/>
          </a:ln>
          <a:effectLst/>
        </p:spPr>
        <p:txBody>
          <a:bodyPr rtlCol="0" anchor="ctr"/>
          <a:lstStyle/>
          <a:p>
            <a:pPr algn="ctr"/>
            <a:endParaRPr>
              <a:latin typeface="Mark Offc For MC" panose="020B0504020101010102" pitchFamily="34" charset="0"/>
            </a:endParaRPr>
          </a:p>
        </p:txBody>
      </p:sp>
      <p:sp>
        <p:nvSpPr>
          <p:cNvPr id="48" name="Oval 47"/>
          <p:cNvSpPr/>
          <p:nvPr/>
        </p:nvSpPr>
        <p:spPr>
          <a:xfrm>
            <a:off x="11252200" y="6272339"/>
            <a:ext cx="158496" cy="282321"/>
          </a:xfrm>
          <a:prstGeom prst="ellipse">
            <a:avLst/>
          </a:prstGeom>
          <a:solidFill>
            <a:srgbClr val="FF5F00"/>
          </a:solidFill>
          <a:ln>
            <a:noFill/>
          </a:ln>
          <a:effectLst/>
        </p:spPr>
        <p:txBody>
          <a:bodyPr rtlCol="0" anchor="ctr"/>
          <a:lstStyle/>
          <a:p>
            <a:pPr algn="ctr"/>
            <a:endParaRPr>
              <a:latin typeface="Mark Offc For MC" panose="020B0504020101010102"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endParaRPr/>
          </a:p>
        </p:txBody>
      </p:sp>
      <p:sp>
        <p:nvSpPr>
          <p:cNvPr id="3" name="TextBox 2"/>
          <p:cNvSpPr txBox="1"/>
          <p:nvPr/>
        </p:nvSpPr>
        <p:spPr>
          <a:xfrm>
            <a:off x="609600" y="508000"/>
            <a:ext cx="6350000" cy="203200"/>
          </a:xfrm>
          <a:prstGeom prst="rect">
            <a:avLst/>
          </a:prstGeom>
          <a:noFill/>
        </p:spPr>
        <p:txBody>
          <a:bodyPr wrap="square" lIns="0" tIns="0" rIns="0" bIns="0" anchor="t">
            <a:spAutoFit/>
          </a:bodyPr>
          <a:lstStyle/>
          <a:p>
            <a:r>
              <a:rPr sz="1050" b="0" i="0" spc="160">
                <a:solidFill>
                  <a:srgbClr val="FF671B"/>
                </a:solidFill>
                <a:latin typeface="Inter SemiBold"/>
              </a:rPr>
              <a:t>ANALYST EXPERIENCE</a:t>
            </a:r>
          </a:p>
        </p:txBody>
      </p:sp>
      <p:sp>
        <p:nvSpPr>
          <p:cNvPr id="4" name="TextBox 3"/>
          <p:cNvSpPr txBox="1"/>
          <p:nvPr/>
        </p:nvSpPr>
        <p:spPr>
          <a:xfrm>
            <a:off x="609600" y="736600"/>
            <a:ext cx="10972800" cy="939800"/>
          </a:xfrm>
          <a:prstGeom prst="rect">
            <a:avLst/>
          </a:prstGeom>
          <a:noFill/>
        </p:spPr>
        <p:txBody>
          <a:bodyPr wrap="square" lIns="0" tIns="0" rIns="0" bIns="0" anchor="t">
            <a:spAutoFit/>
          </a:bodyPr>
          <a:lstStyle/>
          <a:p>
            <a:pPr>
              <a:lnSpc>
                <a:spcPct val="106000"/>
              </a:lnSpc>
            </a:pPr>
            <a:r>
              <a:rPr sz="2300" b="0" i="0">
                <a:solidFill>
                  <a:srgbClr val="1A1A1A"/>
                </a:solidFill>
                <a:latin typeface="Inter Display"/>
              </a:rPr>
              <a:t>A robust TUI eliminates pure-CLI friction.</a:t>
            </a:r>
          </a:p>
        </p:txBody>
      </p:sp>
      <p:sp>
        <p:nvSpPr>
          <p:cNvPr id="5" name="TextBox 4"/>
          <p:cNvSpPr txBox="1"/>
          <p:nvPr/>
        </p:nvSpPr>
        <p:spPr>
          <a:xfrm>
            <a:off x="609600" y="1295400"/>
            <a:ext cx="10972800" cy="330200"/>
          </a:xfrm>
          <a:prstGeom prst="rect">
            <a:avLst/>
          </a:prstGeom>
          <a:noFill/>
        </p:spPr>
        <p:txBody>
          <a:bodyPr wrap="square" lIns="0" tIns="0" rIns="0" bIns="0" anchor="t">
            <a:spAutoFit/>
          </a:bodyPr>
          <a:lstStyle/>
          <a:p>
            <a:pPr>
              <a:lnSpc>
                <a:spcPct val="112000"/>
              </a:lnSpc>
            </a:pPr>
            <a:r>
              <a:rPr sz="1350" b="0" i="0">
                <a:solidFill>
                  <a:srgbClr val="656A71"/>
                </a:solidFill>
                <a:latin typeface="Inter"/>
              </a:rPr>
              <a:t>Validation-first, with live diagnostics and instant overrides.</a:t>
            </a:r>
          </a:p>
        </p:txBody>
      </p:sp>
      <p:cxnSp>
        <p:nvCxnSpPr>
          <p:cNvPr id="6" name="Connector 5"/>
          <p:cNvCxnSpPr/>
          <p:nvPr/>
        </p:nvCxnSpPr>
        <p:spPr>
          <a:xfrm>
            <a:off x="609600" y="1701800"/>
            <a:ext cx="10972800" cy="0"/>
          </a:xfrm>
          <a:prstGeom prst="line">
            <a:avLst/>
          </a:prstGeom>
          <a:ln w="12700">
            <a:solidFill>
              <a:srgbClr val="E6E2DC"/>
            </a:solidFill>
          </a:ln>
        </p:spPr>
      </p:cxnSp>
      <p:sp>
        <p:nvSpPr>
          <p:cNvPr id="7" name="Rectangle 6"/>
          <p:cNvSpPr/>
          <p:nvPr/>
        </p:nvSpPr>
        <p:spPr>
          <a:xfrm>
            <a:off x="609600" y="1686560"/>
            <a:ext cx="685800" cy="30480"/>
          </a:xfrm>
          <a:prstGeom prst="rect">
            <a:avLst/>
          </a:prstGeom>
          <a:solidFill>
            <a:srgbClr val="FF671B"/>
          </a:solidFill>
          <a:ln>
            <a:noFill/>
          </a:ln>
          <a:effectLst/>
        </p:spPr>
        <p:txBody>
          <a:bodyPr rtlCol="0" anchor="ctr"/>
          <a:lstStyle/>
          <a:p>
            <a:pPr algn="ctr"/>
            <a:endParaRPr/>
          </a:p>
        </p:txBody>
      </p:sp>
      <p:sp>
        <p:nvSpPr>
          <p:cNvPr id="28" name="Rounded Rectangle 27"/>
          <p:cNvSpPr/>
          <p:nvPr/>
        </p:nvSpPr>
        <p:spPr>
          <a:xfrm>
            <a:off x="609600" y="2311400"/>
            <a:ext cx="381000" cy="381000"/>
          </a:xfrm>
          <a:prstGeom prst="roundRect">
            <a:avLst>
              <a:gd name="adj" fmla="val 26000"/>
            </a:avLst>
          </a:prstGeom>
          <a:solidFill>
            <a:srgbClr val="FFEDE2"/>
          </a:solidFill>
          <a:ln>
            <a:noFill/>
          </a:ln>
          <a:effectLst/>
        </p:spPr>
        <p:txBody>
          <a:bodyPr rtlCol="0" anchor="ctr"/>
          <a:lstStyle/>
          <a:p>
            <a:pPr algn="ctr"/>
            <a:endParaRPr/>
          </a:p>
        </p:txBody>
      </p:sp>
      <p:sp>
        <p:nvSpPr>
          <p:cNvPr id="30" name="TextBox 29"/>
          <p:cNvSpPr txBox="1"/>
          <p:nvPr/>
        </p:nvSpPr>
        <p:spPr>
          <a:xfrm>
            <a:off x="1117600" y="2286000"/>
            <a:ext cx="2044700" cy="254000"/>
          </a:xfrm>
          <a:prstGeom prst="rect">
            <a:avLst/>
          </a:prstGeom>
          <a:noFill/>
        </p:spPr>
        <p:txBody>
          <a:bodyPr wrap="square" lIns="0" tIns="0" rIns="0" bIns="0" anchor="t">
            <a:spAutoFit/>
          </a:bodyPr>
          <a:lstStyle/>
          <a:p>
            <a:r>
              <a:rPr sz="1250" b="0" i="0">
                <a:solidFill>
                  <a:srgbClr val="1A1A1A"/>
                </a:solidFill>
                <a:latin typeface="Inter Display"/>
              </a:rPr>
              <a:t>Validation-first</a:t>
            </a:r>
          </a:p>
        </p:txBody>
      </p:sp>
      <p:sp>
        <p:nvSpPr>
          <p:cNvPr id="31" name="TextBox 30"/>
          <p:cNvSpPr txBox="1"/>
          <p:nvPr/>
        </p:nvSpPr>
        <p:spPr>
          <a:xfrm>
            <a:off x="1117600" y="2565400"/>
            <a:ext cx="2044700" cy="889000"/>
          </a:xfrm>
          <a:prstGeom prst="rect">
            <a:avLst/>
          </a:prstGeom>
          <a:noFill/>
        </p:spPr>
        <p:txBody>
          <a:bodyPr wrap="square" lIns="0" tIns="0" rIns="0" bIns="0" anchor="t">
            <a:spAutoFit/>
          </a:bodyPr>
          <a:lstStyle/>
          <a:p>
            <a:pPr>
              <a:lnSpc>
                <a:spcPct val="114000"/>
              </a:lnSpc>
            </a:pPr>
            <a:r>
              <a:rPr sz="1050" b="0" i="0">
                <a:solidFill>
                  <a:srgbClr val="656A71"/>
                </a:solidFill>
                <a:latin typeface="Inter"/>
              </a:rPr>
              <a:t>Catches nulls, schema errors, and peer-constraint breaches before any heavy run.</a:t>
            </a:r>
          </a:p>
        </p:txBody>
      </p:sp>
      <p:sp>
        <p:nvSpPr>
          <p:cNvPr id="32" name="Rounded Rectangle 31"/>
          <p:cNvSpPr/>
          <p:nvPr/>
        </p:nvSpPr>
        <p:spPr>
          <a:xfrm>
            <a:off x="609600" y="3987800"/>
            <a:ext cx="381000" cy="381000"/>
          </a:xfrm>
          <a:prstGeom prst="roundRect">
            <a:avLst>
              <a:gd name="adj" fmla="val 26000"/>
            </a:avLst>
          </a:prstGeom>
          <a:solidFill>
            <a:srgbClr val="FFEDE2"/>
          </a:solidFill>
          <a:ln>
            <a:noFill/>
          </a:ln>
          <a:effectLst/>
        </p:spPr>
        <p:txBody>
          <a:bodyPr rtlCol="0" anchor="ctr"/>
          <a:lstStyle/>
          <a:p>
            <a:pPr algn="ctr"/>
            <a:endParaRPr/>
          </a:p>
        </p:txBody>
      </p:sp>
      <p:sp>
        <p:nvSpPr>
          <p:cNvPr id="34" name="TextBox 33"/>
          <p:cNvSpPr txBox="1"/>
          <p:nvPr/>
        </p:nvSpPr>
        <p:spPr>
          <a:xfrm>
            <a:off x="1117600" y="3962400"/>
            <a:ext cx="2044700" cy="254000"/>
          </a:xfrm>
          <a:prstGeom prst="rect">
            <a:avLst/>
          </a:prstGeom>
          <a:noFill/>
        </p:spPr>
        <p:txBody>
          <a:bodyPr wrap="square" lIns="0" tIns="0" rIns="0" bIns="0" anchor="t">
            <a:spAutoFit/>
          </a:bodyPr>
          <a:lstStyle/>
          <a:p>
            <a:r>
              <a:rPr sz="1250" b="0" i="0">
                <a:solidFill>
                  <a:srgbClr val="1A1A1A"/>
                </a:solidFill>
                <a:latin typeface="Inter Display"/>
              </a:rPr>
              <a:t>Intuitive config</a:t>
            </a:r>
          </a:p>
        </p:txBody>
      </p:sp>
      <p:sp>
        <p:nvSpPr>
          <p:cNvPr id="35" name="TextBox 34"/>
          <p:cNvSpPr txBox="1"/>
          <p:nvPr/>
        </p:nvSpPr>
        <p:spPr>
          <a:xfrm>
            <a:off x="1117600" y="4241800"/>
            <a:ext cx="2044700" cy="889000"/>
          </a:xfrm>
          <a:prstGeom prst="rect">
            <a:avLst/>
          </a:prstGeom>
          <a:noFill/>
        </p:spPr>
        <p:txBody>
          <a:bodyPr wrap="square" lIns="0" tIns="0" rIns="0" bIns="0" anchor="t">
            <a:spAutoFit/>
          </a:bodyPr>
          <a:lstStyle/>
          <a:p>
            <a:pPr>
              <a:lnSpc>
                <a:spcPct val="114000"/>
              </a:lnSpc>
            </a:pPr>
            <a:r>
              <a:rPr sz="1050" b="0" i="0">
                <a:solidFill>
                  <a:srgbClr val="656A71"/>
                </a:solidFill>
                <a:latin typeface="Inter"/>
              </a:rPr>
              <a:t>Dropdown selection of entities, metrics, and dimensions.</a:t>
            </a:r>
          </a:p>
        </p:txBody>
      </p:sp>
      <p:sp>
        <p:nvSpPr>
          <p:cNvPr id="36" name="Rounded Rectangle 35"/>
          <p:cNvSpPr/>
          <p:nvPr/>
        </p:nvSpPr>
        <p:spPr>
          <a:xfrm>
            <a:off x="9029700" y="2311400"/>
            <a:ext cx="381000" cy="381000"/>
          </a:xfrm>
          <a:prstGeom prst="roundRect">
            <a:avLst>
              <a:gd name="adj" fmla="val 26000"/>
            </a:avLst>
          </a:prstGeom>
          <a:solidFill>
            <a:srgbClr val="FFEDE2"/>
          </a:solidFill>
          <a:ln>
            <a:noFill/>
          </a:ln>
          <a:effectLst/>
        </p:spPr>
        <p:txBody>
          <a:bodyPr rtlCol="0" anchor="ctr"/>
          <a:lstStyle/>
          <a:p>
            <a:pPr algn="ctr"/>
            <a:endParaRPr/>
          </a:p>
        </p:txBody>
      </p:sp>
      <p:sp>
        <p:nvSpPr>
          <p:cNvPr id="38" name="TextBox 37"/>
          <p:cNvSpPr txBox="1"/>
          <p:nvPr/>
        </p:nvSpPr>
        <p:spPr>
          <a:xfrm>
            <a:off x="9537700" y="2286000"/>
            <a:ext cx="2044700" cy="254000"/>
          </a:xfrm>
          <a:prstGeom prst="rect">
            <a:avLst/>
          </a:prstGeom>
          <a:noFill/>
        </p:spPr>
        <p:txBody>
          <a:bodyPr wrap="square" lIns="0" tIns="0" rIns="0" bIns="0" anchor="t">
            <a:spAutoFit/>
          </a:bodyPr>
          <a:lstStyle/>
          <a:p>
            <a:r>
              <a:rPr sz="1250" b="0" i="0">
                <a:solidFill>
                  <a:srgbClr val="1A1A1A"/>
                </a:solidFill>
                <a:latin typeface="Inter Display"/>
              </a:rPr>
              <a:t>Real-time diagnostics</a:t>
            </a:r>
          </a:p>
        </p:txBody>
      </p:sp>
      <p:sp>
        <p:nvSpPr>
          <p:cNvPr id="39" name="TextBox 38"/>
          <p:cNvSpPr txBox="1"/>
          <p:nvPr/>
        </p:nvSpPr>
        <p:spPr>
          <a:xfrm>
            <a:off x="9537700" y="2565400"/>
            <a:ext cx="2044700" cy="889000"/>
          </a:xfrm>
          <a:prstGeom prst="rect">
            <a:avLst/>
          </a:prstGeom>
          <a:noFill/>
        </p:spPr>
        <p:txBody>
          <a:bodyPr wrap="square" lIns="0" tIns="0" rIns="0" bIns="0" anchor="t">
            <a:spAutoFit/>
          </a:bodyPr>
          <a:lstStyle/>
          <a:p>
            <a:pPr>
              <a:lnSpc>
                <a:spcPct val="114000"/>
              </a:lnSpc>
            </a:pPr>
            <a:r>
              <a:rPr sz="1050" b="0" i="0">
                <a:solidFill>
                  <a:srgbClr val="656A71"/>
                </a:solidFill>
                <a:latin typeface="Inter"/>
              </a:rPr>
              <a:t>Integrated log handling keeps the UI responsive during background work.</a:t>
            </a:r>
          </a:p>
        </p:txBody>
      </p:sp>
      <p:sp>
        <p:nvSpPr>
          <p:cNvPr id="40" name="Rounded Rectangle 39"/>
          <p:cNvSpPr/>
          <p:nvPr/>
        </p:nvSpPr>
        <p:spPr>
          <a:xfrm>
            <a:off x="9029700" y="3987800"/>
            <a:ext cx="381000" cy="381000"/>
          </a:xfrm>
          <a:prstGeom prst="roundRect">
            <a:avLst>
              <a:gd name="adj" fmla="val 26000"/>
            </a:avLst>
          </a:prstGeom>
          <a:solidFill>
            <a:srgbClr val="FFEDE2"/>
          </a:solidFill>
          <a:ln>
            <a:noFill/>
          </a:ln>
          <a:effectLst/>
        </p:spPr>
        <p:txBody>
          <a:bodyPr rtlCol="0" anchor="ctr"/>
          <a:lstStyle/>
          <a:p>
            <a:pPr algn="ctr"/>
            <a:endParaRPr/>
          </a:p>
        </p:txBody>
      </p:sp>
      <p:sp>
        <p:nvSpPr>
          <p:cNvPr id="42" name="TextBox 41"/>
          <p:cNvSpPr txBox="1"/>
          <p:nvPr/>
        </p:nvSpPr>
        <p:spPr>
          <a:xfrm>
            <a:off x="9537700" y="3962400"/>
            <a:ext cx="2044700" cy="254000"/>
          </a:xfrm>
          <a:prstGeom prst="rect">
            <a:avLst/>
          </a:prstGeom>
          <a:noFill/>
        </p:spPr>
        <p:txBody>
          <a:bodyPr wrap="square" lIns="0" tIns="0" rIns="0" bIns="0" anchor="t">
            <a:spAutoFit/>
          </a:bodyPr>
          <a:lstStyle/>
          <a:p>
            <a:r>
              <a:rPr sz="1250" b="0" i="0">
                <a:solidFill>
                  <a:srgbClr val="1A1A1A"/>
                </a:solidFill>
                <a:latin typeface="Inter Display"/>
              </a:rPr>
              <a:t>Instant overrides</a:t>
            </a:r>
          </a:p>
        </p:txBody>
      </p:sp>
      <p:sp>
        <p:nvSpPr>
          <p:cNvPr id="43" name="TextBox 42"/>
          <p:cNvSpPr txBox="1"/>
          <p:nvPr/>
        </p:nvSpPr>
        <p:spPr>
          <a:xfrm>
            <a:off x="9537700" y="4241800"/>
            <a:ext cx="2044700" cy="889000"/>
          </a:xfrm>
          <a:prstGeom prst="rect">
            <a:avLst/>
          </a:prstGeom>
          <a:noFill/>
        </p:spPr>
        <p:txBody>
          <a:bodyPr wrap="square" lIns="0" tIns="0" rIns="0" bIns="0" anchor="t">
            <a:spAutoFit/>
          </a:bodyPr>
          <a:lstStyle/>
          <a:p>
            <a:pPr>
              <a:lnSpc>
                <a:spcPct val="114000"/>
              </a:lnSpc>
            </a:pPr>
            <a:r>
              <a:rPr sz="1050" b="0" i="0">
                <a:solidFill>
                  <a:srgbClr val="656A71"/>
                </a:solidFill>
                <a:latin typeface="Inter"/>
              </a:rPr>
              <a:t>Toggle advanced panels (Ctrl+A) to inject custom rules on the fly.</a:t>
            </a:r>
          </a:p>
        </p:txBody>
      </p:sp>
      <p:sp>
        <p:nvSpPr>
          <p:cNvPr id="44" name="TextBox 43"/>
          <p:cNvSpPr txBox="1"/>
          <p:nvPr/>
        </p:nvSpPr>
        <p:spPr>
          <a:xfrm>
            <a:off x="609600" y="6477000"/>
            <a:ext cx="2540000" cy="203200"/>
          </a:xfrm>
          <a:prstGeom prst="rect">
            <a:avLst/>
          </a:prstGeom>
          <a:noFill/>
        </p:spPr>
        <p:txBody>
          <a:bodyPr wrap="square" lIns="0" tIns="0" rIns="0" bIns="0" anchor="ctr">
            <a:spAutoFit/>
          </a:bodyPr>
          <a:lstStyle/>
          <a:p>
            <a:r>
              <a:rPr sz="900" b="0" i="0">
                <a:solidFill>
                  <a:srgbClr val="FF671B"/>
                </a:solidFill>
                <a:latin typeface="Inter SemiBold"/>
              </a:rPr>
              <a:t>07</a:t>
            </a:r>
            <a:r>
              <a:rPr sz="900" b="0" i="0">
                <a:solidFill>
                  <a:srgbClr val="9CA0A6"/>
                </a:solidFill>
                <a:latin typeface="Inter Medium"/>
              </a:rPr>
              <a:t>  /  13</a:t>
            </a:r>
          </a:p>
        </p:txBody>
      </p:sp>
      <p:sp>
        <p:nvSpPr>
          <p:cNvPr id="45" name="TextBox 44"/>
          <p:cNvSpPr txBox="1"/>
          <p:nvPr/>
        </p:nvSpPr>
        <p:spPr>
          <a:xfrm>
            <a:off x="11912600" y="1651000"/>
            <a:ext cx="177800" cy="3302000"/>
          </a:xfrm>
          <a:prstGeom prst="rect">
            <a:avLst/>
          </a:prstGeom>
          <a:noFill/>
        </p:spPr>
        <p:txBody>
          <a:bodyPr vert="vert270" wrap="none" lIns="0" tIns="0" rIns="0" bIns="0">
            <a:spAutoFit/>
          </a:bodyPr>
          <a:lstStyle/>
          <a:p>
            <a:r>
              <a:rPr sz="650">
                <a:solidFill>
                  <a:srgbClr val="9CA0A6"/>
                </a:solidFill>
                <a:latin typeface="Inter Medium"/>
              </a:rPr>
              <a:t>© 2025 Mastercard. Proprietary and Confidential.</a:t>
            </a:r>
          </a:p>
        </p:txBody>
      </p:sp>
      <p:sp>
        <p:nvSpPr>
          <p:cNvPr id="46" name="Oval 45"/>
          <p:cNvSpPr/>
          <p:nvPr/>
        </p:nvSpPr>
        <p:spPr>
          <a:xfrm>
            <a:off x="11080496" y="6248400"/>
            <a:ext cx="330200" cy="330200"/>
          </a:xfrm>
          <a:prstGeom prst="ellipse">
            <a:avLst/>
          </a:prstGeom>
          <a:solidFill>
            <a:srgbClr val="EB001B"/>
          </a:solidFill>
          <a:ln>
            <a:noFill/>
          </a:ln>
          <a:effectLst/>
        </p:spPr>
        <p:txBody>
          <a:bodyPr rtlCol="0" anchor="ctr"/>
          <a:lstStyle/>
          <a:p>
            <a:pPr algn="ctr"/>
            <a:endParaRPr/>
          </a:p>
        </p:txBody>
      </p:sp>
      <p:sp>
        <p:nvSpPr>
          <p:cNvPr id="47" name="Oval 46"/>
          <p:cNvSpPr/>
          <p:nvPr/>
        </p:nvSpPr>
        <p:spPr>
          <a:xfrm>
            <a:off x="11252200" y="6248400"/>
            <a:ext cx="330200" cy="330200"/>
          </a:xfrm>
          <a:prstGeom prst="ellipse">
            <a:avLst/>
          </a:prstGeom>
          <a:solidFill>
            <a:srgbClr val="F79E1B"/>
          </a:solidFill>
          <a:ln>
            <a:noFill/>
          </a:ln>
          <a:effectLst/>
        </p:spPr>
        <p:txBody>
          <a:bodyPr rtlCol="0" anchor="ctr"/>
          <a:lstStyle/>
          <a:p>
            <a:pPr algn="ctr"/>
            <a:endParaRPr/>
          </a:p>
        </p:txBody>
      </p:sp>
      <p:sp>
        <p:nvSpPr>
          <p:cNvPr id="48" name="Oval 47"/>
          <p:cNvSpPr/>
          <p:nvPr/>
        </p:nvSpPr>
        <p:spPr>
          <a:xfrm>
            <a:off x="11252200" y="6272339"/>
            <a:ext cx="158496" cy="282321"/>
          </a:xfrm>
          <a:prstGeom prst="ellipse">
            <a:avLst/>
          </a:prstGeom>
          <a:solidFill>
            <a:srgbClr val="FF5F00"/>
          </a:solidFill>
          <a:ln>
            <a:noFill/>
          </a:ln>
          <a:effectLst/>
        </p:spPr>
        <p:txBody>
          <a:bodyPr rtlCol="0" anchor="ctr"/>
          <a:lstStyle/>
          <a:p>
            <a:pPr algn="ctr"/>
            <a:endParaRPr/>
          </a:p>
        </p:txBody>
      </p:sp>
      <p:pic>
        <p:nvPicPr>
          <p:cNvPr id="56" name="Graphic 55">
            <a:extLst>
              <a:ext uri="{FF2B5EF4-FFF2-40B4-BE49-F238E27FC236}">
                <a16:creationId xmlns:a16="http://schemas.microsoft.com/office/drawing/2014/main" id="{F4B45D9A-5D78-17E2-C307-2C0281A494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289300" y="2209435"/>
            <a:ext cx="5477419" cy="3911965"/>
          </a:xfrm>
          <a:prstGeom prst="rect">
            <a:avLst/>
          </a:prstGeom>
          <a:effectLst>
            <a:outerShdw blurRad="50800" dist="38100" dir="2700000" algn="tl" rotWithShape="0">
              <a:prstClr val="black">
                <a:alpha val="40000"/>
              </a:prstClr>
            </a:outerShdw>
          </a:effectLst>
        </p:spPr>
      </p:pic>
      <p:pic>
        <p:nvPicPr>
          <p:cNvPr id="58" name="Picture 57">
            <a:extLst>
              <a:ext uri="{FF2B5EF4-FFF2-40B4-BE49-F238E27FC236}">
                <a16:creationId xmlns:a16="http://schemas.microsoft.com/office/drawing/2014/main" id="{C7F81DA0-C243-4B98-2EB0-EBD041A335D3}"/>
              </a:ext>
            </a:extLst>
          </p:cNvPr>
          <p:cNvPicPr>
            <a:picLocks noChangeAspect="1"/>
          </p:cNvPicPr>
          <p:nvPr/>
        </p:nvPicPr>
        <p:blipFill>
          <a:blip r:embed="rId3"/>
          <a:stretch>
            <a:fillRect/>
          </a:stretch>
        </p:blipFill>
        <p:spPr>
          <a:xfrm>
            <a:off x="665480" y="2374899"/>
            <a:ext cx="269240" cy="269240"/>
          </a:xfrm>
          <a:prstGeom prst="rect">
            <a:avLst/>
          </a:prstGeom>
        </p:spPr>
      </p:pic>
      <p:pic>
        <p:nvPicPr>
          <p:cNvPr id="60" name="Picture 59">
            <a:extLst>
              <a:ext uri="{FF2B5EF4-FFF2-40B4-BE49-F238E27FC236}">
                <a16:creationId xmlns:a16="http://schemas.microsoft.com/office/drawing/2014/main" id="{9BFC237C-ABDD-C7C8-94BA-1203978CEED1}"/>
              </a:ext>
            </a:extLst>
          </p:cNvPr>
          <p:cNvPicPr>
            <a:picLocks noChangeAspect="1"/>
          </p:cNvPicPr>
          <p:nvPr/>
        </p:nvPicPr>
        <p:blipFill>
          <a:blip r:embed="rId4"/>
          <a:stretch>
            <a:fillRect/>
          </a:stretch>
        </p:blipFill>
        <p:spPr>
          <a:xfrm>
            <a:off x="639491" y="4025900"/>
            <a:ext cx="314960" cy="314960"/>
          </a:xfrm>
          <a:prstGeom prst="rect">
            <a:avLst/>
          </a:prstGeom>
        </p:spPr>
      </p:pic>
      <p:pic>
        <p:nvPicPr>
          <p:cNvPr id="62" name="Picture 61">
            <a:extLst>
              <a:ext uri="{FF2B5EF4-FFF2-40B4-BE49-F238E27FC236}">
                <a16:creationId xmlns:a16="http://schemas.microsoft.com/office/drawing/2014/main" id="{0162AF02-EC5D-98B2-E5DD-274CDB69840C}"/>
              </a:ext>
            </a:extLst>
          </p:cNvPr>
          <p:cNvPicPr>
            <a:picLocks noChangeAspect="1"/>
          </p:cNvPicPr>
          <p:nvPr/>
        </p:nvPicPr>
        <p:blipFill>
          <a:blip r:embed="rId5"/>
          <a:stretch>
            <a:fillRect/>
          </a:stretch>
        </p:blipFill>
        <p:spPr>
          <a:xfrm>
            <a:off x="9065260" y="2354579"/>
            <a:ext cx="309880" cy="309880"/>
          </a:xfrm>
          <a:prstGeom prst="rect">
            <a:avLst/>
          </a:prstGeom>
        </p:spPr>
      </p:pic>
      <p:pic>
        <p:nvPicPr>
          <p:cNvPr id="64" name="Picture 63">
            <a:extLst>
              <a:ext uri="{FF2B5EF4-FFF2-40B4-BE49-F238E27FC236}">
                <a16:creationId xmlns:a16="http://schemas.microsoft.com/office/drawing/2014/main" id="{85072CAB-4216-22E4-3E9F-E6B7599A4B3E}"/>
              </a:ext>
            </a:extLst>
          </p:cNvPr>
          <p:cNvPicPr>
            <a:picLocks noChangeAspect="1"/>
          </p:cNvPicPr>
          <p:nvPr/>
        </p:nvPicPr>
        <p:blipFill>
          <a:blip r:embed="rId6"/>
          <a:stretch>
            <a:fillRect/>
          </a:stretch>
        </p:blipFill>
        <p:spPr>
          <a:xfrm>
            <a:off x="9065260" y="4030980"/>
            <a:ext cx="309880" cy="3098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endParaRPr>
              <a:latin typeface="Mark Offc For MC" panose="020B0504020101010102" pitchFamily="34" charset="0"/>
            </a:endParaRPr>
          </a:p>
        </p:txBody>
      </p:sp>
      <p:sp>
        <p:nvSpPr>
          <p:cNvPr id="3" name="TextBox 2"/>
          <p:cNvSpPr txBox="1"/>
          <p:nvPr/>
        </p:nvSpPr>
        <p:spPr>
          <a:xfrm>
            <a:off x="609600" y="508000"/>
            <a:ext cx="6350000" cy="161583"/>
          </a:xfrm>
          <a:prstGeom prst="rect">
            <a:avLst/>
          </a:prstGeom>
          <a:noFill/>
        </p:spPr>
        <p:txBody>
          <a:bodyPr wrap="square" lIns="0" tIns="0" rIns="0" bIns="0" anchor="t">
            <a:spAutoFit/>
          </a:bodyPr>
          <a:lstStyle/>
          <a:p>
            <a:r>
              <a:rPr sz="1050" b="0" i="0" spc="160" dirty="0">
                <a:solidFill>
                  <a:srgbClr val="FF671B"/>
                </a:solidFill>
                <a:latin typeface="Mark Offc For MC Light" panose="020B0504020101010102" pitchFamily="34" charset="0"/>
              </a:rPr>
              <a:t>RESOURCE MANAGEMENT</a:t>
            </a:r>
          </a:p>
        </p:txBody>
      </p:sp>
      <p:sp>
        <p:nvSpPr>
          <p:cNvPr id="4" name="TextBox 3"/>
          <p:cNvSpPr txBox="1"/>
          <p:nvPr/>
        </p:nvSpPr>
        <p:spPr>
          <a:xfrm>
            <a:off x="609600" y="736600"/>
            <a:ext cx="10972800" cy="715196"/>
          </a:xfrm>
          <a:prstGeom prst="rect">
            <a:avLst/>
          </a:prstGeom>
          <a:noFill/>
        </p:spPr>
        <p:txBody>
          <a:bodyPr wrap="square" lIns="0" tIns="0" rIns="0" bIns="0" anchor="t">
            <a:spAutoFit/>
          </a:bodyPr>
          <a:lstStyle/>
          <a:p>
            <a:pPr>
              <a:lnSpc>
                <a:spcPct val="106000"/>
              </a:lnSpc>
            </a:pPr>
            <a:r>
              <a:rPr sz="2300" b="0" i="0">
                <a:solidFill>
                  <a:srgbClr val="1A1A1A"/>
                </a:solidFill>
                <a:latin typeface="Mark Offc For MC" panose="020B0504020101010102" pitchFamily="34" charset="0"/>
              </a:rPr>
              <a:t>Adaptive batching and lean mode scale to massive, memory-limited environments.</a:t>
            </a:r>
          </a:p>
        </p:txBody>
      </p:sp>
      <p:cxnSp>
        <p:nvCxnSpPr>
          <p:cNvPr id="5" name="Connector 4"/>
          <p:cNvCxnSpPr/>
          <p:nvPr/>
        </p:nvCxnSpPr>
        <p:spPr>
          <a:xfrm>
            <a:off x="609600" y="1625600"/>
            <a:ext cx="10972800" cy="0"/>
          </a:xfrm>
          <a:prstGeom prst="line">
            <a:avLst/>
          </a:prstGeom>
          <a:ln w="12700">
            <a:solidFill>
              <a:srgbClr val="E6E2DC"/>
            </a:solidFill>
          </a:ln>
        </p:spPr>
      </p:cxnSp>
      <p:sp>
        <p:nvSpPr>
          <p:cNvPr id="6" name="Rectangle 5"/>
          <p:cNvSpPr/>
          <p:nvPr/>
        </p:nvSpPr>
        <p:spPr>
          <a:xfrm>
            <a:off x="609600" y="1610360"/>
            <a:ext cx="685800" cy="30480"/>
          </a:xfrm>
          <a:prstGeom prst="rect">
            <a:avLst/>
          </a:prstGeom>
          <a:solidFill>
            <a:srgbClr val="FF671B"/>
          </a:solidFill>
          <a:ln>
            <a:noFill/>
          </a:ln>
          <a:effectLst/>
        </p:spPr>
        <p:txBody>
          <a:bodyPr rtlCol="0" anchor="ctr"/>
          <a:lstStyle/>
          <a:p>
            <a:pPr algn="ctr"/>
            <a:endParaRPr>
              <a:latin typeface="Mark Offc For MC" panose="020B0504020101010102" pitchFamily="34" charset="0"/>
            </a:endParaRPr>
          </a:p>
        </p:txBody>
      </p:sp>
      <p:sp>
        <p:nvSpPr>
          <p:cNvPr id="7" name="Rounded Rectangle 6"/>
          <p:cNvSpPr/>
          <p:nvPr/>
        </p:nvSpPr>
        <p:spPr>
          <a:xfrm>
            <a:off x="609600" y="1930400"/>
            <a:ext cx="2533650" cy="2794000"/>
          </a:xfrm>
          <a:prstGeom prst="roundRect">
            <a:avLst>
              <a:gd name="adj" fmla="val 5000"/>
            </a:avLst>
          </a:prstGeom>
          <a:solidFill>
            <a:srgbClr val="FBFAF8"/>
          </a:solidFill>
          <a:ln w="12700">
            <a:solidFill>
              <a:srgbClr val="E6E2DC"/>
            </a:solidFill>
          </a:ln>
          <a:effectLst/>
        </p:spPr>
        <p:txBody>
          <a:bodyPr rtlCol="0" anchor="ctr"/>
          <a:lstStyle/>
          <a:p>
            <a:pPr algn="ctr"/>
            <a:endParaRPr>
              <a:latin typeface="Mark Offc For MC" panose="020B0504020101010102" pitchFamily="34" charset="0"/>
            </a:endParaRPr>
          </a:p>
        </p:txBody>
      </p:sp>
      <p:sp>
        <p:nvSpPr>
          <p:cNvPr id="8" name="Rounded Rectangle 7"/>
          <p:cNvSpPr/>
          <p:nvPr/>
        </p:nvSpPr>
        <p:spPr>
          <a:xfrm>
            <a:off x="838200" y="2184400"/>
            <a:ext cx="508000" cy="508000"/>
          </a:xfrm>
          <a:prstGeom prst="roundRect">
            <a:avLst>
              <a:gd name="adj" fmla="val 26000"/>
            </a:avLst>
          </a:prstGeom>
          <a:solidFill>
            <a:srgbClr val="FFEDE2"/>
          </a:solidFill>
          <a:ln>
            <a:noFill/>
          </a:ln>
          <a:effectLst/>
        </p:spPr>
        <p:txBody>
          <a:bodyPr rtlCol="0" anchor="ctr"/>
          <a:lstStyle/>
          <a:p>
            <a:pPr algn="ctr"/>
            <a:endParaRPr>
              <a:latin typeface="Mark Offc For MC" panose="020B0504020101010102" pitchFamily="34" charset="0"/>
            </a:endParaRPr>
          </a:p>
        </p:txBody>
      </p:sp>
      <p:sp>
        <p:nvSpPr>
          <p:cNvPr id="10" name="TextBox 9"/>
          <p:cNvSpPr txBox="1"/>
          <p:nvPr/>
        </p:nvSpPr>
        <p:spPr>
          <a:xfrm>
            <a:off x="2457450" y="2133600"/>
            <a:ext cx="508000" cy="523220"/>
          </a:xfrm>
          <a:prstGeom prst="rect">
            <a:avLst/>
          </a:prstGeom>
          <a:noFill/>
        </p:spPr>
        <p:txBody>
          <a:bodyPr wrap="square" lIns="0" tIns="0" rIns="0" bIns="0" anchor="t">
            <a:spAutoFit/>
          </a:bodyPr>
          <a:lstStyle/>
          <a:p>
            <a:pPr algn="r"/>
            <a:r>
              <a:rPr sz="3400" b="0" i="0">
                <a:solidFill>
                  <a:srgbClr val="E6E2DC"/>
                </a:solidFill>
                <a:latin typeface="Mark Offc For MC" panose="020B0504020101010102" pitchFamily="34" charset="0"/>
              </a:rPr>
              <a:t>1</a:t>
            </a:r>
          </a:p>
        </p:txBody>
      </p:sp>
      <p:sp>
        <p:nvSpPr>
          <p:cNvPr id="11" name="TextBox 10"/>
          <p:cNvSpPr txBox="1"/>
          <p:nvPr/>
        </p:nvSpPr>
        <p:spPr>
          <a:xfrm>
            <a:off x="838200" y="2870200"/>
            <a:ext cx="2076450" cy="193386"/>
          </a:xfrm>
          <a:prstGeom prst="rect">
            <a:avLst/>
          </a:prstGeom>
          <a:noFill/>
        </p:spPr>
        <p:txBody>
          <a:bodyPr wrap="square" lIns="0" tIns="0" rIns="0" bIns="0" anchor="t">
            <a:spAutoFit/>
          </a:bodyPr>
          <a:lstStyle/>
          <a:p>
            <a:pPr>
              <a:lnSpc>
                <a:spcPct val="102000"/>
              </a:lnSpc>
            </a:pPr>
            <a:r>
              <a:rPr sz="1350" b="0" i="0" dirty="0">
                <a:solidFill>
                  <a:srgbClr val="1A1A1A"/>
                </a:solidFill>
                <a:latin typeface="Mark Offc For MC Medium" panose="020B0604020101010102" pitchFamily="34" charset="0"/>
              </a:rPr>
              <a:t>Estimate &amp; Project</a:t>
            </a:r>
          </a:p>
        </p:txBody>
      </p:sp>
      <p:sp>
        <p:nvSpPr>
          <p:cNvPr id="12" name="TextBox 11"/>
          <p:cNvSpPr txBox="1"/>
          <p:nvPr/>
        </p:nvSpPr>
        <p:spPr>
          <a:xfrm>
            <a:off x="838200" y="3429000"/>
            <a:ext cx="2076450" cy="567976"/>
          </a:xfrm>
          <a:prstGeom prst="rect">
            <a:avLst/>
          </a:prstGeom>
          <a:noFill/>
        </p:spPr>
        <p:txBody>
          <a:bodyPr wrap="square" lIns="0" tIns="0" rIns="0" bIns="0" anchor="t">
            <a:spAutoFit/>
          </a:bodyPr>
          <a:lstStyle/>
          <a:p>
            <a:pPr>
              <a:lnSpc>
                <a:spcPct val="116000"/>
              </a:lnSpc>
            </a:pPr>
            <a:r>
              <a:rPr sz="1100" b="0" i="0">
                <a:solidFill>
                  <a:srgbClr val="656A71"/>
                </a:solidFill>
                <a:latin typeface="Mark Offc For MC" panose="020B0504020101010102" pitchFamily="34" charset="0"/>
              </a:rPr>
              <a:t>Reads headers, drops unused columns, projects memory load.</a:t>
            </a:r>
          </a:p>
        </p:txBody>
      </p:sp>
      <p:sp>
        <p:nvSpPr>
          <p:cNvPr id="14" name="Rounded Rectangle 13"/>
          <p:cNvSpPr/>
          <p:nvPr/>
        </p:nvSpPr>
        <p:spPr>
          <a:xfrm>
            <a:off x="3422650" y="1930400"/>
            <a:ext cx="2533650" cy="2794000"/>
          </a:xfrm>
          <a:prstGeom prst="roundRect">
            <a:avLst>
              <a:gd name="adj" fmla="val 5000"/>
            </a:avLst>
          </a:prstGeom>
          <a:solidFill>
            <a:srgbClr val="FBFAF8"/>
          </a:solidFill>
          <a:ln w="12700">
            <a:solidFill>
              <a:srgbClr val="E6E2DC"/>
            </a:solidFill>
          </a:ln>
          <a:effectLst/>
        </p:spPr>
        <p:txBody>
          <a:bodyPr rtlCol="0" anchor="ctr"/>
          <a:lstStyle/>
          <a:p>
            <a:pPr algn="ctr"/>
            <a:endParaRPr>
              <a:latin typeface="Mark Offc For MC" panose="020B0504020101010102" pitchFamily="34" charset="0"/>
            </a:endParaRPr>
          </a:p>
        </p:txBody>
      </p:sp>
      <p:sp>
        <p:nvSpPr>
          <p:cNvPr id="15" name="Rounded Rectangle 14"/>
          <p:cNvSpPr/>
          <p:nvPr/>
        </p:nvSpPr>
        <p:spPr>
          <a:xfrm>
            <a:off x="3651250" y="2184400"/>
            <a:ext cx="508000" cy="508000"/>
          </a:xfrm>
          <a:prstGeom prst="roundRect">
            <a:avLst>
              <a:gd name="adj" fmla="val 26000"/>
            </a:avLst>
          </a:prstGeom>
          <a:solidFill>
            <a:srgbClr val="FFEDE2"/>
          </a:solidFill>
          <a:ln>
            <a:noFill/>
          </a:ln>
          <a:effectLst/>
        </p:spPr>
        <p:txBody>
          <a:bodyPr rtlCol="0" anchor="ctr"/>
          <a:lstStyle/>
          <a:p>
            <a:pPr algn="ctr"/>
            <a:endParaRPr>
              <a:latin typeface="Mark Offc For MC" panose="020B0504020101010102" pitchFamily="34" charset="0"/>
            </a:endParaRPr>
          </a:p>
        </p:txBody>
      </p:sp>
      <p:sp>
        <p:nvSpPr>
          <p:cNvPr id="17" name="TextBox 16"/>
          <p:cNvSpPr txBox="1"/>
          <p:nvPr/>
        </p:nvSpPr>
        <p:spPr>
          <a:xfrm>
            <a:off x="5270500" y="2133600"/>
            <a:ext cx="508000" cy="523220"/>
          </a:xfrm>
          <a:prstGeom prst="rect">
            <a:avLst/>
          </a:prstGeom>
          <a:noFill/>
        </p:spPr>
        <p:txBody>
          <a:bodyPr wrap="square" lIns="0" tIns="0" rIns="0" bIns="0" anchor="t">
            <a:spAutoFit/>
          </a:bodyPr>
          <a:lstStyle/>
          <a:p>
            <a:pPr algn="r"/>
            <a:r>
              <a:rPr sz="3400" b="0" i="0">
                <a:solidFill>
                  <a:srgbClr val="E6E2DC"/>
                </a:solidFill>
                <a:latin typeface="Mark Offc For MC" panose="020B0504020101010102" pitchFamily="34" charset="0"/>
              </a:rPr>
              <a:t>2</a:t>
            </a:r>
          </a:p>
        </p:txBody>
      </p:sp>
      <p:sp>
        <p:nvSpPr>
          <p:cNvPr id="18" name="TextBox 17"/>
          <p:cNvSpPr txBox="1"/>
          <p:nvPr/>
        </p:nvSpPr>
        <p:spPr>
          <a:xfrm>
            <a:off x="3651250" y="2870200"/>
            <a:ext cx="2076450" cy="193386"/>
          </a:xfrm>
          <a:prstGeom prst="rect">
            <a:avLst/>
          </a:prstGeom>
          <a:noFill/>
        </p:spPr>
        <p:txBody>
          <a:bodyPr wrap="square" lIns="0" tIns="0" rIns="0" bIns="0" anchor="t">
            <a:spAutoFit/>
          </a:bodyPr>
          <a:lstStyle/>
          <a:p>
            <a:pPr>
              <a:lnSpc>
                <a:spcPct val="102000"/>
              </a:lnSpc>
            </a:pPr>
            <a:r>
              <a:rPr sz="1350" b="0" i="0">
                <a:solidFill>
                  <a:srgbClr val="1A1A1A"/>
                </a:solidFill>
                <a:latin typeface="Mark Offc For MC Medium" panose="020B0604020101010102" pitchFamily="34" charset="0"/>
              </a:rPr>
              <a:t>Adaptive Chunking</a:t>
            </a:r>
          </a:p>
        </p:txBody>
      </p:sp>
      <p:sp>
        <p:nvSpPr>
          <p:cNvPr id="19" name="TextBox 18"/>
          <p:cNvSpPr txBox="1"/>
          <p:nvPr/>
        </p:nvSpPr>
        <p:spPr>
          <a:xfrm>
            <a:off x="3651250" y="3429000"/>
            <a:ext cx="2076450" cy="371640"/>
          </a:xfrm>
          <a:prstGeom prst="rect">
            <a:avLst/>
          </a:prstGeom>
          <a:noFill/>
        </p:spPr>
        <p:txBody>
          <a:bodyPr wrap="square" lIns="0" tIns="0" rIns="0" bIns="0" anchor="t">
            <a:spAutoFit/>
          </a:bodyPr>
          <a:lstStyle/>
          <a:p>
            <a:pPr>
              <a:lnSpc>
                <a:spcPct val="116000"/>
              </a:lnSpc>
            </a:pPr>
            <a:r>
              <a:rPr sz="1100" b="0" i="0">
                <a:solidFill>
                  <a:srgbClr val="656A71"/>
                </a:solidFill>
                <a:latin typeface="Mark Offc For MC" panose="020B0504020101010102" pitchFamily="34" charset="0"/>
              </a:rPr>
              <a:t>Streams heavy CSVs in 100k-row chunks.</a:t>
            </a:r>
          </a:p>
        </p:txBody>
      </p:sp>
      <p:sp>
        <p:nvSpPr>
          <p:cNvPr id="21" name="Rounded Rectangle 20"/>
          <p:cNvSpPr/>
          <p:nvPr/>
        </p:nvSpPr>
        <p:spPr>
          <a:xfrm>
            <a:off x="6235700" y="1930400"/>
            <a:ext cx="2533650" cy="2794000"/>
          </a:xfrm>
          <a:prstGeom prst="roundRect">
            <a:avLst>
              <a:gd name="adj" fmla="val 5000"/>
            </a:avLst>
          </a:prstGeom>
          <a:solidFill>
            <a:srgbClr val="FBFAF8"/>
          </a:solidFill>
          <a:ln w="12700">
            <a:solidFill>
              <a:srgbClr val="E6E2DC"/>
            </a:solidFill>
          </a:ln>
          <a:effectLst/>
        </p:spPr>
        <p:txBody>
          <a:bodyPr rtlCol="0" anchor="ctr"/>
          <a:lstStyle/>
          <a:p>
            <a:pPr algn="ctr"/>
            <a:endParaRPr>
              <a:latin typeface="Mark Offc For MC" panose="020B0504020101010102" pitchFamily="34" charset="0"/>
            </a:endParaRPr>
          </a:p>
        </p:txBody>
      </p:sp>
      <p:sp>
        <p:nvSpPr>
          <p:cNvPr id="22" name="Rounded Rectangle 21"/>
          <p:cNvSpPr/>
          <p:nvPr/>
        </p:nvSpPr>
        <p:spPr>
          <a:xfrm>
            <a:off x="6464300" y="2184400"/>
            <a:ext cx="508000" cy="508000"/>
          </a:xfrm>
          <a:prstGeom prst="roundRect">
            <a:avLst>
              <a:gd name="adj" fmla="val 26000"/>
            </a:avLst>
          </a:prstGeom>
          <a:solidFill>
            <a:srgbClr val="FFEDE2"/>
          </a:solidFill>
          <a:ln>
            <a:noFill/>
          </a:ln>
          <a:effectLst/>
        </p:spPr>
        <p:txBody>
          <a:bodyPr rtlCol="0" anchor="ctr"/>
          <a:lstStyle/>
          <a:p>
            <a:pPr algn="ctr"/>
            <a:endParaRPr>
              <a:latin typeface="Mark Offc For MC" panose="020B0504020101010102" pitchFamily="34" charset="0"/>
            </a:endParaRPr>
          </a:p>
        </p:txBody>
      </p:sp>
      <p:sp>
        <p:nvSpPr>
          <p:cNvPr id="24" name="TextBox 23"/>
          <p:cNvSpPr txBox="1"/>
          <p:nvPr/>
        </p:nvSpPr>
        <p:spPr>
          <a:xfrm>
            <a:off x="8083550" y="2133600"/>
            <a:ext cx="508000" cy="523220"/>
          </a:xfrm>
          <a:prstGeom prst="rect">
            <a:avLst/>
          </a:prstGeom>
          <a:noFill/>
        </p:spPr>
        <p:txBody>
          <a:bodyPr wrap="square" lIns="0" tIns="0" rIns="0" bIns="0" anchor="t">
            <a:spAutoFit/>
          </a:bodyPr>
          <a:lstStyle/>
          <a:p>
            <a:pPr algn="r"/>
            <a:r>
              <a:rPr sz="3400" b="0" i="0">
                <a:solidFill>
                  <a:srgbClr val="E6E2DC"/>
                </a:solidFill>
                <a:latin typeface="Mark Offc For MC" panose="020B0504020101010102" pitchFamily="34" charset="0"/>
              </a:rPr>
              <a:t>3</a:t>
            </a:r>
          </a:p>
        </p:txBody>
      </p:sp>
      <p:sp>
        <p:nvSpPr>
          <p:cNvPr id="25" name="TextBox 24"/>
          <p:cNvSpPr txBox="1"/>
          <p:nvPr/>
        </p:nvSpPr>
        <p:spPr>
          <a:xfrm>
            <a:off x="6464300" y="2870200"/>
            <a:ext cx="2076450" cy="193386"/>
          </a:xfrm>
          <a:prstGeom prst="rect">
            <a:avLst/>
          </a:prstGeom>
          <a:noFill/>
        </p:spPr>
        <p:txBody>
          <a:bodyPr wrap="square" lIns="0" tIns="0" rIns="0" bIns="0" anchor="t">
            <a:spAutoFit/>
          </a:bodyPr>
          <a:lstStyle/>
          <a:p>
            <a:pPr>
              <a:lnSpc>
                <a:spcPct val="102000"/>
              </a:lnSpc>
            </a:pPr>
            <a:r>
              <a:rPr sz="1350" b="0" i="0">
                <a:solidFill>
                  <a:srgbClr val="1A1A1A"/>
                </a:solidFill>
                <a:latin typeface="Mark Offc For MC Medium" panose="020B0604020101010102" pitchFamily="34" charset="0"/>
              </a:rPr>
              <a:t>Pre-Aggregation</a:t>
            </a:r>
          </a:p>
        </p:txBody>
      </p:sp>
      <p:sp>
        <p:nvSpPr>
          <p:cNvPr id="26" name="TextBox 25"/>
          <p:cNvSpPr txBox="1"/>
          <p:nvPr/>
        </p:nvSpPr>
        <p:spPr>
          <a:xfrm>
            <a:off x="6464300" y="3429000"/>
            <a:ext cx="2076450" cy="567976"/>
          </a:xfrm>
          <a:prstGeom prst="rect">
            <a:avLst/>
          </a:prstGeom>
          <a:noFill/>
        </p:spPr>
        <p:txBody>
          <a:bodyPr wrap="square" lIns="0" tIns="0" rIns="0" bIns="0" anchor="t">
            <a:spAutoFit/>
          </a:bodyPr>
          <a:lstStyle/>
          <a:p>
            <a:pPr>
              <a:lnSpc>
                <a:spcPct val="116000"/>
              </a:lnSpc>
            </a:pPr>
            <a:r>
              <a:rPr sz="1100" b="0" i="0">
                <a:solidFill>
                  <a:srgbClr val="656A71"/>
                </a:solidFill>
                <a:latin typeface="Mark Offc For MC" panose="020B0504020101010102" pitchFamily="34" charset="0"/>
              </a:rPr>
              <a:t>Consolidates duplicate entity / dimension / time rows in flight.</a:t>
            </a:r>
          </a:p>
        </p:txBody>
      </p:sp>
      <p:sp>
        <p:nvSpPr>
          <p:cNvPr id="27" name="TextBox 26"/>
          <p:cNvSpPr txBox="1"/>
          <p:nvPr/>
        </p:nvSpPr>
        <p:spPr>
          <a:xfrm>
            <a:off x="8769350" y="3242761"/>
            <a:ext cx="279400" cy="169277"/>
          </a:xfrm>
          <a:prstGeom prst="rect">
            <a:avLst/>
          </a:prstGeom>
          <a:noFill/>
        </p:spPr>
        <p:txBody>
          <a:bodyPr wrap="square" lIns="0" tIns="0" rIns="0" bIns="0" anchor="ctr">
            <a:spAutoFit/>
          </a:bodyPr>
          <a:lstStyle/>
          <a:p>
            <a:pPr algn="ctr"/>
            <a:r>
              <a:rPr sz="1100" b="0" i="0" dirty="0">
                <a:solidFill>
                  <a:srgbClr val="FF671B"/>
                </a:solidFill>
                <a:latin typeface="Mark Offc For MC" panose="020B0504020101010102" pitchFamily="34" charset="0"/>
              </a:rPr>
              <a:t></a:t>
            </a:r>
          </a:p>
        </p:txBody>
      </p:sp>
      <p:sp>
        <p:nvSpPr>
          <p:cNvPr id="28" name="Rounded Rectangle 27"/>
          <p:cNvSpPr/>
          <p:nvPr/>
        </p:nvSpPr>
        <p:spPr>
          <a:xfrm>
            <a:off x="9048750" y="1930400"/>
            <a:ext cx="2533650" cy="2794000"/>
          </a:xfrm>
          <a:prstGeom prst="roundRect">
            <a:avLst>
              <a:gd name="adj" fmla="val 5000"/>
            </a:avLst>
          </a:prstGeom>
          <a:solidFill>
            <a:srgbClr val="FBFAF8"/>
          </a:solidFill>
          <a:ln w="12700">
            <a:solidFill>
              <a:srgbClr val="E6E2DC"/>
            </a:solidFill>
          </a:ln>
          <a:effectLst/>
        </p:spPr>
        <p:txBody>
          <a:bodyPr rtlCol="0" anchor="ctr"/>
          <a:lstStyle/>
          <a:p>
            <a:pPr algn="ctr"/>
            <a:endParaRPr>
              <a:latin typeface="Mark Offc For MC" panose="020B0504020101010102" pitchFamily="34" charset="0"/>
            </a:endParaRPr>
          </a:p>
        </p:txBody>
      </p:sp>
      <p:sp>
        <p:nvSpPr>
          <p:cNvPr id="29" name="Rounded Rectangle 28"/>
          <p:cNvSpPr/>
          <p:nvPr/>
        </p:nvSpPr>
        <p:spPr>
          <a:xfrm>
            <a:off x="9277350" y="2184400"/>
            <a:ext cx="508000" cy="508000"/>
          </a:xfrm>
          <a:prstGeom prst="roundRect">
            <a:avLst>
              <a:gd name="adj" fmla="val 26000"/>
            </a:avLst>
          </a:prstGeom>
          <a:solidFill>
            <a:srgbClr val="FFEDE2"/>
          </a:solidFill>
          <a:ln>
            <a:noFill/>
          </a:ln>
          <a:effectLst/>
        </p:spPr>
        <p:txBody>
          <a:bodyPr rtlCol="0" anchor="ctr"/>
          <a:lstStyle/>
          <a:p>
            <a:pPr algn="ctr"/>
            <a:endParaRPr>
              <a:latin typeface="Mark Offc For MC" panose="020B0504020101010102" pitchFamily="34" charset="0"/>
            </a:endParaRPr>
          </a:p>
        </p:txBody>
      </p:sp>
      <p:sp>
        <p:nvSpPr>
          <p:cNvPr id="31" name="TextBox 30"/>
          <p:cNvSpPr txBox="1"/>
          <p:nvPr/>
        </p:nvSpPr>
        <p:spPr>
          <a:xfrm>
            <a:off x="10896600" y="2133600"/>
            <a:ext cx="508000" cy="523220"/>
          </a:xfrm>
          <a:prstGeom prst="rect">
            <a:avLst/>
          </a:prstGeom>
          <a:noFill/>
        </p:spPr>
        <p:txBody>
          <a:bodyPr wrap="square" lIns="0" tIns="0" rIns="0" bIns="0" anchor="t">
            <a:spAutoFit/>
          </a:bodyPr>
          <a:lstStyle/>
          <a:p>
            <a:pPr algn="r"/>
            <a:r>
              <a:rPr sz="3400" b="0" i="0">
                <a:solidFill>
                  <a:srgbClr val="E6E2DC"/>
                </a:solidFill>
                <a:latin typeface="Mark Offc For MC" panose="020B0504020101010102" pitchFamily="34" charset="0"/>
              </a:rPr>
              <a:t>4</a:t>
            </a:r>
          </a:p>
        </p:txBody>
      </p:sp>
      <p:sp>
        <p:nvSpPr>
          <p:cNvPr id="32" name="TextBox 31"/>
          <p:cNvSpPr txBox="1"/>
          <p:nvPr/>
        </p:nvSpPr>
        <p:spPr>
          <a:xfrm>
            <a:off x="9277350" y="2870200"/>
            <a:ext cx="2076450" cy="193386"/>
          </a:xfrm>
          <a:prstGeom prst="rect">
            <a:avLst/>
          </a:prstGeom>
          <a:noFill/>
        </p:spPr>
        <p:txBody>
          <a:bodyPr wrap="square" lIns="0" tIns="0" rIns="0" bIns="0" anchor="t">
            <a:spAutoFit/>
          </a:bodyPr>
          <a:lstStyle/>
          <a:p>
            <a:pPr>
              <a:lnSpc>
                <a:spcPct val="102000"/>
              </a:lnSpc>
            </a:pPr>
            <a:r>
              <a:rPr sz="1350" b="0" i="0">
                <a:solidFill>
                  <a:srgbClr val="1A1A1A"/>
                </a:solidFill>
                <a:latin typeface="Mark Offc For MC Medium" panose="020B0604020101010102" pitchFamily="34" charset="0"/>
              </a:rPr>
              <a:t>Lean Execution</a:t>
            </a:r>
          </a:p>
        </p:txBody>
      </p:sp>
      <p:sp>
        <p:nvSpPr>
          <p:cNvPr id="33" name="TextBox 32"/>
          <p:cNvSpPr txBox="1"/>
          <p:nvPr/>
        </p:nvSpPr>
        <p:spPr>
          <a:xfrm>
            <a:off x="9277350" y="3429000"/>
            <a:ext cx="2076450" cy="567976"/>
          </a:xfrm>
          <a:prstGeom prst="rect">
            <a:avLst/>
          </a:prstGeom>
          <a:noFill/>
        </p:spPr>
        <p:txBody>
          <a:bodyPr wrap="square" lIns="0" tIns="0" rIns="0" bIns="0" anchor="t">
            <a:spAutoFit/>
          </a:bodyPr>
          <a:lstStyle/>
          <a:p>
            <a:pPr>
              <a:lnSpc>
                <a:spcPct val="116000"/>
              </a:lnSpc>
            </a:pPr>
            <a:r>
              <a:rPr sz="1100" b="0" i="0">
                <a:solidFill>
                  <a:srgbClr val="656A71"/>
                </a:solidFill>
                <a:latin typeface="Mark Offc For MC" panose="020B0504020101010102" pitchFamily="34" charset="0"/>
              </a:rPr>
              <a:t>Disables secondary artifacts to focus 100% on global optimization.</a:t>
            </a:r>
          </a:p>
        </p:txBody>
      </p:sp>
      <p:sp>
        <p:nvSpPr>
          <p:cNvPr id="34" name="Rounded Rectangle 33"/>
          <p:cNvSpPr/>
          <p:nvPr/>
        </p:nvSpPr>
        <p:spPr>
          <a:xfrm>
            <a:off x="609600" y="5105400"/>
            <a:ext cx="10972800" cy="736600"/>
          </a:xfrm>
          <a:prstGeom prst="roundRect">
            <a:avLst>
              <a:gd name="adj" fmla="val 10000"/>
            </a:avLst>
          </a:prstGeom>
          <a:solidFill>
            <a:srgbClr val="1D2735"/>
          </a:solidFill>
          <a:ln>
            <a:noFill/>
          </a:ln>
          <a:effectLst/>
        </p:spPr>
        <p:txBody>
          <a:bodyPr rtlCol="0" anchor="ctr"/>
          <a:lstStyle/>
          <a:p>
            <a:pPr algn="ctr"/>
            <a:endParaRPr>
              <a:latin typeface="Mark Offc For MC" panose="020B0504020101010102" pitchFamily="34" charset="0"/>
            </a:endParaRPr>
          </a:p>
        </p:txBody>
      </p:sp>
      <p:sp>
        <p:nvSpPr>
          <p:cNvPr id="36" name="TextBox 35"/>
          <p:cNvSpPr txBox="1"/>
          <p:nvPr/>
        </p:nvSpPr>
        <p:spPr>
          <a:xfrm>
            <a:off x="1447800" y="5373672"/>
            <a:ext cx="9702800" cy="200055"/>
          </a:xfrm>
          <a:prstGeom prst="rect">
            <a:avLst/>
          </a:prstGeom>
          <a:noFill/>
        </p:spPr>
        <p:txBody>
          <a:bodyPr wrap="square" lIns="0" tIns="0" rIns="0" bIns="0" anchor="ctr">
            <a:spAutoFit/>
          </a:bodyPr>
          <a:lstStyle/>
          <a:p>
            <a:r>
              <a:rPr sz="1300" b="0" i="0" dirty="0">
                <a:solidFill>
                  <a:srgbClr val="FFFFFF"/>
                </a:solidFill>
                <a:latin typeface="Mark Offc For MC" panose="020B0504020101010102" pitchFamily="34" charset="0"/>
              </a:rPr>
              <a:t>Takeaway.  </a:t>
            </a:r>
            <a:r>
              <a:rPr sz="1250" b="0" i="0" dirty="0">
                <a:solidFill>
                  <a:srgbClr val="D7DBE2"/>
                </a:solidFill>
                <a:latin typeface="Mark Offc For MC" panose="020B0504020101010102" pitchFamily="34" charset="0"/>
              </a:rPr>
              <a:t>Uncompromised privacy-cap enforcement at a fraction of the memory footprint.</a:t>
            </a:r>
          </a:p>
        </p:txBody>
      </p:sp>
      <p:sp>
        <p:nvSpPr>
          <p:cNvPr id="37" name="TextBox 36"/>
          <p:cNvSpPr txBox="1"/>
          <p:nvPr/>
        </p:nvSpPr>
        <p:spPr>
          <a:xfrm>
            <a:off x="609600" y="6509350"/>
            <a:ext cx="2540000" cy="138499"/>
          </a:xfrm>
          <a:prstGeom prst="rect">
            <a:avLst/>
          </a:prstGeom>
          <a:noFill/>
        </p:spPr>
        <p:txBody>
          <a:bodyPr wrap="square" lIns="0" tIns="0" rIns="0" bIns="0" anchor="ctr">
            <a:spAutoFit/>
          </a:bodyPr>
          <a:lstStyle/>
          <a:p>
            <a:r>
              <a:rPr sz="900" b="0" i="0">
                <a:solidFill>
                  <a:srgbClr val="FF671B"/>
                </a:solidFill>
                <a:latin typeface="Mark Offc For MC" panose="020B0504020101010102" pitchFamily="34" charset="0"/>
              </a:rPr>
              <a:t>08</a:t>
            </a:r>
            <a:r>
              <a:rPr sz="900" b="0" i="0">
                <a:solidFill>
                  <a:srgbClr val="9CA0A6"/>
                </a:solidFill>
                <a:latin typeface="Mark Offc For MC" panose="020B0504020101010102" pitchFamily="34" charset="0"/>
              </a:rPr>
              <a:t>  /  13</a:t>
            </a:r>
          </a:p>
        </p:txBody>
      </p:sp>
      <p:sp>
        <p:nvSpPr>
          <p:cNvPr id="38" name="TextBox 37"/>
          <p:cNvSpPr txBox="1"/>
          <p:nvPr/>
        </p:nvSpPr>
        <p:spPr>
          <a:xfrm>
            <a:off x="11912600" y="2931613"/>
            <a:ext cx="100027" cy="2021387"/>
          </a:xfrm>
          <a:prstGeom prst="rect">
            <a:avLst/>
          </a:prstGeom>
          <a:noFill/>
        </p:spPr>
        <p:txBody>
          <a:bodyPr vert="vert270" wrap="none" lIns="0" tIns="0" rIns="0" bIns="0">
            <a:spAutoFit/>
          </a:bodyPr>
          <a:lstStyle/>
          <a:p>
            <a:r>
              <a:rPr sz="650">
                <a:solidFill>
                  <a:srgbClr val="9CA0A6"/>
                </a:solidFill>
                <a:latin typeface="Mark Offc For MC" panose="020B0504020101010102" pitchFamily="34" charset="0"/>
              </a:rPr>
              <a:t>© 2025 Mastercard. Proprietary and Confidential.</a:t>
            </a:r>
          </a:p>
        </p:txBody>
      </p:sp>
      <p:sp>
        <p:nvSpPr>
          <p:cNvPr id="39" name="Oval 38"/>
          <p:cNvSpPr/>
          <p:nvPr/>
        </p:nvSpPr>
        <p:spPr>
          <a:xfrm>
            <a:off x="11080496" y="6248400"/>
            <a:ext cx="330200" cy="330200"/>
          </a:xfrm>
          <a:prstGeom prst="ellipse">
            <a:avLst/>
          </a:prstGeom>
          <a:solidFill>
            <a:srgbClr val="EB001B"/>
          </a:solidFill>
          <a:ln>
            <a:noFill/>
          </a:ln>
          <a:effectLst/>
        </p:spPr>
        <p:txBody>
          <a:bodyPr rtlCol="0" anchor="ctr"/>
          <a:lstStyle/>
          <a:p>
            <a:pPr algn="ctr"/>
            <a:endParaRPr>
              <a:latin typeface="Mark Offc For MC" panose="020B0504020101010102" pitchFamily="34" charset="0"/>
            </a:endParaRPr>
          </a:p>
        </p:txBody>
      </p:sp>
      <p:sp>
        <p:nvSpPr>
          <p:cNvPr id="40" name="Oval 39"/>
          <p:cNvSpPr/>
          <p:nvPr/>
        </p:nvSpPr>
        <p:spPr>
          <a:xfrm>
            <a:off x="11252200" y="6248400"/>
            <a:ext cx="330200" cy="330200"/>
          </a:xfrm>
          <a:prstGeom prst="ellipse">
            <a:avLst/>
          </a:prstGeom>
          <a:solidFill>
            <a:srgbClr val="F79E1B"/>
          </a:solidFill>
          <a:ln>
            <a:noFill/>
          </a:ln>
          <a:effectLst/>
        </p:spPr>
        <p:txBody>
          <a:bodyPr rtlCol="0" anchor="ctr"/>
          <a:lstStyle/>
          <a:p>
            <a:pPr algn="ctr"/>
            <a:endParaRPr>
              <a:latin typeface="Mark Offc For MC" panose="020B0504020101010102" pitchFamily="34" charset="0"/>
            </a:endParaRPr>
          </a:p>
        </p:txBody>
      </p:sp>
      <p:sp>
        <p:nvSpPr>
          <p:cNvPr id="41" name="Oval 40"/>
          <p:cNvSpPr/>
          <p:nvPr/>
        </p:nvSpPr>
        <p:spPr>
          <a:xfrm>
            <a:off x="11252200" y="6272339"/>
            <a:ext cx="158496" cy="282321"/>
          </a:xfrm>
          <a:prstGeom prst="ellipse">
            <a:avLst/>
          </a:prstGeom>
          <a:solidFill>
            <a:srgbClr val="FF5F00"/>
          </a:solidFill>
          <a:ln>
            <a:noFill/>
          </a:ln>
          <a:effectLst/>
        </p:spPr>
        <p:txBody>
          <a:bodyPr rtlCol="0" anchor="ctr"/>
          <a:lstStyle/>
          <a:p>
            <a:pPr algn="ctr"/>
            <a:endParaRPr>
              <a:latin typeface="Mark Offc For MC" panose="020B0504020101010102" pitchFamily="34" charset="0"/>
            </a:endParaRPr>
          </a:p>
        </p:txBody>
      </p:sp>
      <p:pic>
        <p:nvPicPr>
          <p:cNvPr id="43" name="Picture 42">
            <a:extLst>
              <a:ext uri="{FF2B5EF4-FFF2-40B4-BE49-F238E27FC236}">
                <a16:creationId xmlns:a16="http://schemas.microsoft.com/office/drawing/2014/main" id="{39C462C4-8019-CB30-554C-729EE721DC63}"/>
              </a:ext>
            </a:extLst>
          </p:cNvPr>
          <p:cNvPicPr>
            <a:picLocks noChangeAspect="1"/>
          </p:cNvPicPr>
          <p:nvPr/>
        </p:nvPicPr>
        <p:blipFill>
          <a:blip r:embed="rId2"/>
          <a:stretch>
            <a:fillRect/>
          </a:stretch>
        </p:blipFill>
        <p:spPr>
          <a:xfrm>
            <a:off x="889000" y="2239196"/>
            <a:ext cx="406400" cy="406400"/>
          </a:xfrm>
          <a:prstGeom prst="rect">
            <a:avLst/>
          </a:prstGeom>
        </p:spPr>
      </p:pic>
      <p:pic>
        <p:nvPicPr>
          <p:cNvPr id="45" name="Picture 44">
            <a:extLst>
              <a:ext uri="{FF2B5EF4-FFF2-40B4-BE49-F238E27FC236}">
                <a16:creationId xmlns:a16="http://schemas.microsoft.com/office/drawing/2014/main" id="{D996D49F-7047-435E-9266-3B3B86C7C0C0}"/>
              </a:ext>
            </a:extLst>
          </p:cNvPr>
          <p:cNvPicPr>
            <a:picLocks noChangeAspect="1"/>
          </p:cNvPicPr>
          <p:nvPr/>
        </p:nvPicPr>
        <p:blipFill>
          <a:blip r:embed="rId3"/>
          <a:stretch>
            <a:fillRect/>
          </a:stretch>
        </p:blipFill>
        <p:spPr>
          <a:xfrm>
            <a:off x="3704082" y="2239196"/>
            <a:ext cx="402336" cy="402336"/>
          </a:xfrm>
          <a:prstGeom prst="rect">
            <a:avLst/>
          </a:prstGeom>
        </p:spPr>
      </p:pic>
      <p:pic>
        <p:nvPicPr>
          <p:cNvPr id="47" name="Picture 46">
            <a:extLst>
              <a:ext uri="{FF2B5EF4-FFF2-40B4-BE49-F238E27FC236}">
                <a16:creationId xmlns:a16="http://schemas.microsoft.com/office/drawing/2014/main" id="{57D6BC67-6D0C-66A3-9F61-5D21991401B5}"/>
              </a:ext>
            </a:extLst>
          </p:cNvPr>
          <p:cNvPicPr>
            <a:picLocks noChangeAspect="1"/>
          </p:cNvPicPr>
          <p:nvPr/>
        </p:nvPicPr>
        <p:blipFill>
          <a:blip r:embed="rId4"/>
          <a:stretch>
            <a:fillRect/>
          </a:stretch>
        </p:blipFill>
        <p:spPr>
          <a:xfrm>
            <a:off x="6533896" y="2233013"/>
            <a:ext cx="402336" cy="402336"/>
          </a:xfrm>
          <a:prstGeom prst="rect">
            <a:avLst/>
          </a:prstGeom>
        </p:spPr>
      </p:pic>
      <p:pic>
        <p:nvPicPr>
          <p:cNvPr id="49" name="Picture 48">
            <a:extLst>
              <a:ext uri="{FF2B5EF4-FFF2-40B4-BE49-F238E27FC236}">
                <a16:creationId xmlns:a16="http://schemas.microsoft.com/office/drawing/2014/main" id="{3706136A-0DDA-2FE5-9664-AF8806E06C06}"/>
              </a:ext>
            </a:extLst>
          </p:cNvPr>
          <p:cNvPicPr>
            <a:picLocks noChangeAspect="1"/>
          </p:cNvPicPr>
          <p:nvPr/>
        </p:nvPicPr>
        <p:blipFill>
          <a:blip r:embed="rId5"/>
          <a:stretch>
            <a:fillRect/>
          </a:stretch>
        </p:blipFill>
        <p:spPr>
          <a:xfrm>
            <a:off x="9328658" y="2233013"/>
            <a:ext cx="402336" cy="402336"/>
          </a:xfrm>
          <a:prstGeom prst="rect">
            <a:avLst/>
          </a:prstGeom>
        </p:spPr>
      </p:pic>
      <p:pic>
        <p:nvPicPr>
          <p:cNvPr id="53" name="Picture 52">
            <a:extLst>
              <a:ext uri="{FF2B5EF4-FFF2-40B4-BE49-F238E27FC236}">
                <a16:creationId xmlns:a16="http://schemas.microsoft.com/office/drawing/2014/main" id="{5138D6B1-66E4-E02C-F7D1-653CB434EFBE}"/>
              </a:ext>
            </a:extLst>
          </p:cNvPr>
          <p:cNvPicPr>
            <a:picLocks noChangeAspect="1"/>
          </p:cNvPicPr>
          <p:nvPr/>
        </p:nvPicPr>
        <p:blipFill>
          <a:blip r:embed="rId6"/>
          <a:stretch>
            <a:fillRect/>
          </a:stretch>
        </p:blipFill>
        <p:spPr>
          <a:xfrm>
            <a:off x="1016000" y="5288002"/>
            <a:ext cx="402336" cy="40233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endParaRPr>
              <a:latin typeface="Mark Offc For MC" panose="020B0504020101010102" pitchFamily="34" charset="0"/>
            </a:endParaRPr>
          </a:p>
        </p:txBody>
      </p:sp>
      <p:sp>
        <p:nvSpPr>
          <p:cNvPr id="3" name="TextBox 2"/>
          <p:cNvSpPr txBox="1"/>
          <p:nvPr/>
        </p:nvSpPr>
        <p:spPr>
          <a:xfrm>
            <a:off x="609600" y="508000"/>
            <a:ext cx="6350000" cy="161583"/>
          </a:xfrm>
          <a:prstGeom prst="rect">
            <a:avLst/>
          </a:prstGeom>
          <a:noFill/>
        </p:spPr>
        <p:txBody>
          <a:bodyPr wrap="square" lIns="0" tIns="0" rIns="0" bIns="0" anchor="t">
            <a:spAutoFit/>
          </a:bodyPr>
          <a:lstStyle/>
          <a:p>
            <a:r>
              <a:rPr sz="1050" b="0" i="0" spc="160" dirty="0">
                <a:solidFill>
                  <a:srgbClr val="FF671B"/>
                </a:solidFill>
                <a:latin typeface="Mark Offc For MC Light" panose="020B0504020101010102" pitchFamily="34" charset="0"/>
              </a:rPr>
              <a:t>DISTORTION VISIBILITY</a:t>
            </a:r>
          </a:p>
        </p:txBody>
      </p:sp>
      <p:sp>
        <p:nvSpPr>
          <p:cNvPr id="4" name="TextBox 3"/>
          <p:cNvSpPr txBox="1"/>
          <p:nvPr/>
        </p:nvSpPr>
        <p:spPr>
          <a:xfrm>
            <a:off x="609600" y="736600"/>
            <a:ext cx="10972800" cy="340029"/>
          </a:xfrm>
          <a:prstGeom prst="rect">
            <a:avLst/>
          </a:prstGeom>
          <a:noFill/>
        </p:spPr>
        <p:txBody>
          <a:bodyPr wrap="square" lIns="0" tIns="0" rIns="0" bIns="0" anchor="t">
            <a:spAutoFit/>
          </a:bodyPr>
          <a:lstStyle/>
          <a:p>
            <a:pPr>
              <a:lnSpc>
                <a:spcPct val="106000"/>
              </a:lnSpc>
            </a:pPr>
            <a:r>
              <a:rPr sz="2300" b="0" i="0">
                <a:solidFill>
                  <a:srgbClr val="1A1A1A"/>
                </a:solidFill>
                <a:latin typeface="Mark Offc For MC" panose="020B0504020101010102" pitchFamily="34" charset="0"/>
              </a:rPr>
              <a:t>We quantify the true cost of meeting privacy caps.</a:t>
            </a:r>
          </a:p>
        </p:txBody>
      </p:sp>
      <p:sp>
        <p:nvSpPr>
          <p:cNvPr id="5" name="TextBox 4"/>
          <p:cNvSpPr txBox="1"/>
          <p:nvPr/>
        </p:nvSpPr>
        <p:spPr>
          <a:xfrm>
            <a:off x="609600" y="1295400"/>
            <a:ext cx="10972800" cy="208968"/>
          </a:xfrm>
          <a:prstGeom prst="rect">
            <a:avLst/>
          </a:prstGeom>
          <a:noFill/>
        </p:spPr>
        <p:txBody>
          <a:bodyPr wrap="square" lIns="0" tIns="0" rIns="0" bIns="0" anchor="t">
            <a:spAutoFit/>
          </a:bodyPr>
          <a:lstStyle/>
          <a:p>
            <a:pPr>
              <a:lnSpc>
                <a:spcPct val="112000"/>
              </a:lnSpc>
            </a:pPr>
            <a:r>
              <a:rPr sz="1350" b="0" i="0" dirty="0">
                <a:solidFill>
                  <a:srgbClr val="656A71"/>
                </a:solidFill>
                <a:latin typeface="Mark Offc For MC" panose="020B0504020101010102" pitchFamily="34" charset="0"/>
              </a:rPr>
              <a:t>Every percentage point of distortion is measured</a:t>
            </a:r>
            <a:r>
              <a:rPr lang="en-US" sz="1350" b="0" i="0" dirty="0">
                <a:solidFill>
                  <a:srgbClr val="656A71"/>
                </a:solidFill>
                <a:latin typeface="Mark Offc For MC" panose="020B0504020101010102" pitchFamily="34" charset="0"/>
              </a:rPr>
              <a:t>,</a:t>
            </a:r>
            <a:r>
              <a:rPr sz="1350" b="0" i="0" dirty="0">
                <a:solidFill>
                  <a:srgbClr val="656A71"/>
                </a:solidFill>
                <a:latin typeface="Mark Offc For MC" panose="020B0504020101010102" pitchFamily="34" charset="0"/>
              </a:rPr>
              <a:t> not assumed.</a:t>
            </a:r>
          </a:p>
        </p:txBody>
      </p:sp>
      <p:cxnSp>
        <p:nvCxnSpPr>
          <p:cNvPr id="6" name="Connector 5"/>
          <p:cNvCxnSpPr/>
          <p:nvPr/>
        </p:nvCxnSpPr>
        <p:spPr>
          <a:xfrm>
            <a:off x="609600" y="1701800"/>
            <a:ext cx="10972800" cy="0"/>
          </a:xfrm>
          <a:prstGeom prst="line">
            <a:avLst/>
          </a:prstGeom>
          <a:ln w="12700">
            <a:solidFill>
              <a:srgbClr val="E6E2DC"/>
            </a:solidFill>
          </a:ln>
        </p:spPr>
      </p:cxnSp>
      <p:sp>
        <p:nvSpPr>
          <p:cNvPr id="7" name="Rectangle 6"/>
          <p:cNvSpPr/>
          <p:nvPr/>
        </p:nvSpPr>
        <p:spPr>
          <a:xfrm>
            <a:off x="609600" y="1686560"/>
            <a:ext cx="685800" cy="30480"/>
          </a:xfrm>
          <a:prstGeom prst="rect">
            <a:avLst/>
          </a:prstGeom>
          <a:solidFill>
            <a:srgbClr val="FF671B"/>
          </a:solidFill>
          <a:ln>
            <a:noFill/>
          </a:ln>
          <a:effectLst/>
        </p:spPr>
        <p:txBody>
          <a:bodyPr rtlCol="0" anchor="ctr"/>
          <a:lstStyle/>
          <a:p>
            <a:pPr algn="ctr"/>
            <a:endParaRPr>
              <a:latin typeface="Mark Offc For MC" panose="020B0504020101010102" pitchFamily="34" charset="0"/>
            </a:endParaRPr>
          </a:p>
        </p:txBody>
      </p:sp>
      <p:sp>
        <p:nvSpPr>
          <p:cNvPr id="8" name="Rounded Rectangle 7"/>
          <p:cNvSpPr/>
          <p:nvPr/>
        </p:nvSpPr>
        <p:spPr>
          <a:xfrm>
            <a:off x="609600" y="2032000"/>
            <a:ext cx="6172200" cy="3759200"/>
          </a:xfrm>
          <a:prstGeom prst="roundRect">
            <a:avLst>
              <a:gd name="adj" fmla="val 4000"/>
            </a:avLst>
          </a:prstGeom>
          <a:solidFill>
            <a:srgbClr val="FBFAF8"/>
          </a:solidFill>
          <a:ln w="12700">
            <a:solidFill>
              <a:srgbClr val="E6E2DC"/>
            </a:solidFill>
          </a:ln>
          <a:effectLst/>
        </p:spPr>
        <p:txBody>
          <a:bodyPr rtlCol="0" anchor="ctr"/>
          <a:lstStyle/>
          <a:p>
            <a:pPr algn="ctr"/>
            <a:endParaRPr>
              <a:latin typeface="Mark Offc For MC" panose="020B0504020101010102" pitchFamily="34" charset="0"/>
            </a:endParaRPr>
          </a:p>
        </p:txBody>
      </p:sp>
      <p:cxnSp>
        <p:nvCxnSpPr>
          <p:cNvPr id="9" name="Connector 8"/>
          <p:cNvCxnSpPr/>
          <p:nvPr/>
        </p:nvCxnSpPr>
        <p:spPr>
          <a:xfrm>
            <a:off x="1117600" y="3340100"/>
            <a:ext cx="5308600" cy="0"/>
          </a:xfrm>
          <a:prstGeom prst="line">
            <a:avLst/>
          </a:prstGeom>
          <a:ln w="9525">
            <a:solidFill>
              <a:srgbClr val="EFECE7"/>
            </a:solidFill>
          </a:ln>
        </p:spPr>
      </p:cxnSp>
      <p:cxnSp>
        <p:nvCxnSpPr>
          <p:cNvPr id="10" name="Connector 9"/>
          <p:cNvCxnSpPr/>
          <p:nvPr/>
        </p:nvCxnSpPr>
        <p:spPr>
          <a:xfrm>
            <a:off x="1117600" y="3962400"/>
            <a:ext cx="5308600" cy="0"/>
          </a:xfrm>
          <a:prstGeom prst="line">
            <a:avLst/>
          </a:prstGeom>
          <a:ln w="9525">
            <a:solidFill>
              <a:srgbClr val="EFECE7"/>
            </a:solidFill>
          </a:ln>
        </p:spPr>
      </p:cxnSp>
      <p:cxnSp>
        <p:nvCxnSpPr>
          <p:cNvPr id="11" name="Connector 10"/>
          <p:cNvCxnSpPr/>
          <p:nvPr/>
        </p:nvCxnSpPr>
        <p:spPr>
          <a:xfrm>
            <a:off x="1117600" y="4584700"/>
            <a:ext cx="5308600" cy="0"/>
          </a:xfrm>
          <a:prstGeom prst="line">
            <a:avLst/>
          </a:prstGeom>
          <a:ln w="9525">
            <a:solidFill>
              <a:srgbClr val="EFECE7"/>
            </a:solidFill>
          </a:ln>
        </p:spPr>
      </p:cxnSp>
      <p:cxnSp>
        <p:nvCxnSpPr>
          <p:cNvPr id="12" name="Connector 11"/>
          <p:cNvCxnSpPr/>
          <p:nvPr/>
        </p:nvCxnSpPr>
        <p:spPr>
          <a:xfrm>
            <a:off x="1117600" y="2717800"/>
            <a:ext cx="0" cy="2489200"/>
          </a:xfrm>
          <a:prstGeom prst="line">
            <a:avLst/>
          </a:prstGeom>
          <a:ln w="12700">
            <a:solidFill>
              <a:srgbClr val="E6E2DC"/>
            </a:solidFill>
          </a:ln>
        </p:spPr>
      </p:cxnSp>
      <p:cxnSp>
        <p:nvCxnSpPr>
          <p:cNvPr id="13" name="Connector 12"/>
          <p:cNvCxnSpPr/>
          <p:nvPr/>
        </p:nvCxnSpPr>
        <p:spPr>
          <a:xfrm>
            <a:off x="1117600" y="5207000"/>
            <a:ext cx="5308600" cy="0"/>
          </a:xfrm>
          <a:prstGeom prst="line">
            <a:avLst/>
          </a:prstGeom>
          <a:ln w="12700">
            <a:solidFill>
              <a:srgbClr val="E6E2DC"/>
            </a:solidFill>
          </a:ln>
        </p:spPr>
      </p:cxnSp>
      <p:sp>
        <p:nvSpPr>
          <p:cNvPr id="14" name="Freeform 13"/>
          <p:cNvSpPr/>
          <p:nvPr/>
        </p:nvSpPr>
        <p:spPr>
          <a:xfrm>
            <a:off x="1117600" y="3414776"/>
            <a:ext cx="5308600" cy="1393952"/>
          </a:xfrm>
          <a:custGeom>
            <a:avLst/>
            <a:gdLst/>
            <a:ahLst/>
            <a:cxnLst/>
            <a:rect l="l" t="t" r="r" b="b"/>
            <a:pathLst>
              <a:path w="5308600" h="1393952">
                <a:moveTo>
                  <a:pt x="0" y="1045464"/>
                </a:moveTo>
                <a:lnTo>
                  <a:pt x="758371" y="423164"/>
                </a:lnTo>
                <a:lnTo>
                  <a:pt x="1516742" y="746760"/>
                </a:lnTo>
                <a:lnTo>
                  <a:pt x="2275114" y="149352"/>
                </a:lnTo>
                <a:lnTo>
                  <a:pt x="3033485" y="547624"/>
                </a:lnTo>
                <a:lnTo>
                  <a:pt x="3791857" y="0"/>
                </a:lnTo>
                <a:lnTo>
                  <a:pt x="4550228" y="348488"/>
                </a:lnTo>
                <a:lnTo>
                  <a:pt x="5308600" y="796544"/>
                </a:lnTo>
                <a:lnTo>
                  <a:pt x="5308600" y="1194816"/>
                </a:lnTo>
                <a:lnTo>
                  <a:pt x="4550228" y="896112"/>
                </a:lnTo>
                <a:lnTo>
                  <a:pt x="3791857" y="696976"/>
                </a:lnTo>
                <a:lnTo>
                  <a:pt x="3033485" y="995680"/>
                </a:lnTo>
                <a:lnTo>
                  <a:pt x="2275114" y="796544"/>
                </a:lnTo>
                <a:lnTo>
                  <a:pt x="1516742" y="1095248"/>
                </a:lnTo>
                <a:lnTo>
                  <a:pt x="758371" y="945896"/>
                </a:lnTo>
                <a:lnTo>
                  <a:pt x="0" y="1393952"/>
                </a:lnTo>
                <a:close/>
              </a:path>
            </a:pathLst>
          </a:custGeom>
          <a:solidFill>
            <a:srgbClr val="FFEDE2">
              <a:alpha val="70000"/>
            </a:srgbClr>
          </a:solidFill>
          <a:ln>
            <a:noFill/>
          </a:ln>
          <a:effectLst/>
        </p:spPr>
        <p:txBody>
          <a:bodyPr rtlCol="0" anchor="ctr"/>
          <a:lstStyle/>
          <a:p>
            <a:pPr algn="ctr"/>
            <a:endParaRPr>
              <a:latin typeface="Mark Offc For MC" panose="020B0504020101010102" pitchFamily="34" charset="0"/>
            </a:endParaRPr>
          </a:p>
        </p:txBody>
      </p:sp>
      <p:cxnSp>
        <p:nvCxnSpPr>
          <p:cNvPr id="15" name="Connector 14"/>
          <p:cNvCxnSpPr/>
          <p:nvPr/>
        </p:nvCxnSpPr>
        <p:spPr>
          <a:xfrm>
            <a:off x="1117600" y="4460240"/>
            <a:ext cx="0" cy="348488"/>
          </a:xfrm>
          <a:prstGeom prst="line">
            <a:avLst/>
          </a:prstGeom>
          <a:ln w="9525">
            <a:solidFill>
              <a:srgbClr val="FF671B"/>
            </a:solidFill>
            <a:prstDash val="dash"/>
          </a:ln>
        </p:spPr>
      </p:cxnSp>
      <p:cxnSp>
        <p:nvCxnSpPr>
          <p:cNvPr id="16" name="Connector 15"/>
          <p:cNvCxnSpPr/>
          <p:nvPr/>
        </p:nvCxnSpPr>
        <p:spPr>
          <a:xfrm>
            <a:off x="1875971" y="3837940"/>
            <a:ext cx="0" cy="522732"/>
          </a:xfrm>
          <a:prstGeom prst="line">
            <a:avLst/>
          </a:prstGeom>
          <a:ln w="9525">
            <a:solidFill>
              <a:srgbClr val="FF671B"/>
            </a:solidFill>
            <a:prstDash val="dash"/>
          </a:ln>
        </p:spPr>
      </p:cxnSp>
      <p:cxnSp>
        <p:nvCxnSpPr>
          <p:cNvPr id="17" name="Connector 16"/>
          <p:cNvCxnSpPr/>
          <p:nvPr/>
        </p:nvCxnSpPr>
        <p:spPr>
          <a:xfrm>
            <a:off x="2634342" y="4161536"/>
            <a:ext cx="0" cy="348488"/>
          </a:xfrm>
          <a:prstGeom prst="line">
            <a:avLst/>
          </a:prstGeom>
          <a:ln w="9525">
            <a:solidFill>
              <a:srgbClr val="FF671B"/>
            </a:solidFill>
            <a:prstDash val="dash"/>
          </a:ln>
        </p:spPr>
      </p:cxnSp>
      <p:cxnSp>
        <p:nvCxnSpPr>
          <p:cNvPr id="18" name="Connector 17"/>
          <p:cNvCxnSpPr/>
          <p:nvPr/>
        </p:nvCxnSpPr>
        <p:spPr>
          <a:xfrm>
            <a:off x="3392714" y="3564128"/>
            <a:ext cx="0" cy="647192"/>
          </a:xfrm>
          <a:prstGeom prst="line">
            <a:avLst/>
          </a:prstGeom>
          <a:ln w="9525">
            <a:solidFill>
              <a:srgbClr val="FF671B"/>
            </a:solidFill>
            <a:prstDash val="dash"/>
          </a:ln>
        </p:spPr>
      </p:cxnSp>
      <p:cxnSp>
        <p:nvCxnSpPr>
          <p:cNvPr id="19" name="Connector 18"/>
          <p:cNvCxnSpPr/>
          <p:nvPr/>
        </p:nvCxnSpPr>
        <p:spPr>
          <a:xfrm>
            <a:off x="4151085" y="3962400"/>
            <a:ext cx="0" cy="448056"/>
          </a:xfrm>
          <a:prstGeom prst="line">
            <a:avLst/>
          </a:prstGeom>
          <a:ln w="9525">
            <a:solidFill>
              <a:srgbClr val="FF671B"/>
            </a:solidFill>
            <a:prstDash val="dash"/>
          </a:ln>
        </p:spPr>
      </p:cxnSp>
      <p:cxnSp>
        <p:nvCxnSpPr>
          <p:cNvPr id="20" name="Connector 19"/>
          <p:cNvCxnSpPr/>
          <p:nvPr/>
        </p:nvCxnSpPr>
        <p:spPr>
          <a:xfrm>
            <a:off x="4909457" y="3414776"/>
            <a:ext cx="0" cy="696976"/>
          </a:xfrm>
          <a:prstGeom prst="line">
            <a:avLst/>
          </a:prstGeom>
          <a:ln w="9525">
            <a:solidFill>
              <a:srgbClr val="FF671B"/>
            </a:solidFill>
            <a:prstDash val="dash"/>
          </a:ln>
        </p:spPr>
      </p:cxnSp>
      <p:cxnSp>
        <p:nvCxnSpPr>
          <p:cNvPr id="21" name="Connector 20"/>
          <p:cNvCxnSpPr/>
          <p:nvPr/>
        </p:nvCxnSpPr>
        <p:spPr>
          <a:xfrm>
            <a:off x="5667828" y="3763264"/>
            <a:ext cx="0" cy="547624"/>
          </a:xfrm>
          <a:prstGeom prst="line">
            <a:avLst/>
          </a:prstGeom>
          <a:ln w="9525">
            <a:solidFill>
              <a:srgbClr val="FF671B"/>
            </a:solidFill>
            <a:prstDash val="dash"/>
          </a:ln>
        </p:spPr>
      </p:cxnSp>
      <p:cxnSp>
        <p:nvCxnSpPr>
          <p:cNvPr id="22" name="Connector 21"/>
          <p:cNvCxnSpPr/>
          <p:nvPr/>
        </p:nvCxnSpPr>
        <p:spPr>
          <a:xfrm>
            <a:off x="6426200" y="4211320"/>
            <a:ext cx="0" cy="398272"/>
          </a:xfrm>
          <a:prstGeom prst="line">
            <a:avLst/>
          </a:prstGeom>
          <a:ln w="9525">
            <a:solidFill>
              <a:srgbClr val="FF671B"/>
            </a:solidFill>
            <a:prstDash val="dash"/>
          </a:ln>
        </p:spPr>
      </p:cxnSp>
      <p:cxnSp>
        <p:nvCxnSpPr>
          <p:cNvPr id="23" name="Connector 22"/>
          <p:cNvCxnSpPr/>
          <p:nvPr/>
        </p:nvCxnSpPr>
        <p:spPr>
          <a:xfrm flipV="1">
            <a:off x="1117600" y="3837940"/>
            <a:ext cx="758371" cy="622300"/>
          </a:xfrm>
          <a:prstGeom prst="line">
            <a:avLst/>
          </a:prstGeom>
          <a:ln w="19050">
            <a:solidFill>
              <a:srgbClr val="656A71"/>
            </a:solidFill>
            <a:prstDash val="dash"/>
          </a:ln>
        </p:spPr>
      </p:cxnSp>
      <p:cxnSp>
        <p:nvCxnSpPr>
          <p:cNvPr id="24" name="Connector 23"/>
          <p:cNvCxnSpPr/>
          <p:nvPr/>
        </p:nvCxnSpPr>
        <p:spPr>
          <a:xfrm>
            <a:off x="1875971" y="3837940"/>
            <a:ext cx="758371" cy="323596"/>
          </a:xfrm>
          <a:prstGeom prst="line">
            <a:avLst/>
          </a:prstGeom>
          <a:ln w="19050">
            <a:solidFill>
              <a:srgbClr val="656A71"/>
            </a:solidFill>
            <a:prstDash val="dash"/>
          </a:ln>
        </p:spPr>
      </p:cxnSp>
      <p:cxnSp>
        <p:nvCxnSpPr>
          <p:cNvPr id="25" name="Connector 24"/>
          <p:cNvCxnSpPr/>
          <p:nvPr/>
        </p:nvCxnSpPr>
        <p:spPr>
          <a:xfrm flipV="1">
            <a:off x="2634342" y="3564128"/>
            <a:ext cx="758372" cy="597408"/>
          </a:xfrm>
          <a:prstGeom prst="line">
            <a:avLst/>
          </a:prstGeom>
          <a:ln w="19050">
            <a:solidFill>
              <a:srgbClr val="656A71"/>
            </a:solidFill>
            <a:prstDash val="dash"/>
          </a:ln>
        </p:spPr>
      </p:cxnSp>
      <p:cxnSp>
        <p:nvCxnSpPr>
          <p:cNvPr id="26" name="Connector 25"/>
          <p:cNvCxnSpPr/>
          <p:nvPr/>
        </p:nvCxnSpPr>
        <p:spPr>
          <a:xfrm>
            <a:off x="3392714" y="3564128"/>
            <a:ext cx="758371" cy="398272"/>
          </a:xfrm>
          <a:prstGeom prst="line">
            <a:avLst/>
          </a:prstGeom>
          <a:ln w="19050">
            <a:solidFill>
              <a:srgbClr val="656A71"/>
            </a:solidFill>
            <a:prstDash val="dash"/>
          </a:ln>
        </p:spPr>
      </p:cxnSp>
      <p:cxnSp>
        <p:nvCxnSpPr>
          <p:cNvPr id="27" name="Connector 26"/>
          <p:cNvCxnSpPr/>
          <p:nvPr/>
        </p:nvCxnSpPr>
        <p:spPr>
          <a:xfrm flipV="1">
            <a:off x="4151085" y="3414776"/>
            <a:ext cx="758372" cy="547624"/>
          </a:xfrm>
          <a:prstGeom prst="line">
            <a:avLst/>
          </a:prstGeom>
          <a:ln w="19050">
            <a:solidFill>
              <a:srgbClr val="656A71"/>
            </a:solidFill>
            <a:prstDash val="dash"/>
          </a:ln>
        </p:spPr>
      </p:cxnSp>
      <p:cxnSp>
        <p:nvCxnSpPr>
          <p:cNvPr id="28" name="Connector 27"/>
          <p:cNvCxnSpPr/>
          <p:nvPr/>
        </p:nvCxnSpPr>
        <p:spPr>
          <a:xfrm>
            <a:off x="4909457" y="3414776"/>
            <a:ext cx="758371" cy="348488"/>
          </a:xfrm>
          <a:prstGeom prst="line">
            <a:avLst/>
          </a:prstGeom>
          <a:ln w="19050">
            <a:solidFill>
              <a:srgbClr val="656A71"/>
            </a:solidFill>
            <a:prstDash val="dash"/>
          </a:ln>
        </p:spPr>
      </p:cxnSp>
      <p:cxnSp>
        <p:nvCxnSpPr>
          <p:cNvPr id="29" name="Connector 28"/>
          <p:cNvCxnSpPr/>
          <p:nvPr/>
        </p:nvCxnSpPr>
        <p:spPr>
          <a:xfrm>
            <a:off x="5667828" y="3763264"/>
            <a:ext cx="758372" cy="448056"/>
          </a:xfrm>
          <a:prstGeom prst="line">
            <a:avLst/>
          </a:prstGeom>
          <a:ln w="19050">
            <a:solidFill>
              <a:srgbClr val="656A71"/>
            </a:solidFill>
            <a:prstDash val="dash"/>
          </a:ln>
        </p:spPr>
      </p:cxnSp>
      <p:cxnSp>
        <p:nvCxnSpPr>
          <p:cNvPr id="30" name="Connector 29"/>
          <p:cNvCxnSpPr/>
          <p:nvPr/>
        </p:nvCxnSpPr>
        <p:spPr>
          <a:xfrm flipV="1">
            <a:off x="1117600" y="4360672"/>
            <a:ext cx="758371" cy="448056"/>
          </a:xfrm>
          <a:prstGeom prst="line">
            <a:avLst/>
          </a:prstGeom>
          <a:ln w="30480">
            <a:solidFill>
              <a:srgbClr val="FF671B"/>
            </a:solidFill>
          </a:ln>
        </p:spPr>
      </p:cxnSp>
      <p:cxnSp>
        <p:nvCxnSpPr>
          <p:cNvPr id="31" name="Connector 30"/>
          <p:cNvCxnSpPr/>
          <p:nvPr/>
        </p:nvCxnSpPr>
        <p:spPr>
          <a:xfrm>
            <a:off x="1875971" y="4360672"/>
            <a:ext cx="758371" cy="149352"/>
          </a:xfrm>
          <a:prstGeom prst="line">
            <a:avLst/>
          </a:prstGeom>
          <a:ln w="30480">
            <a:solidFill>
              <a:srgbClr val="FF671B"/>
            </a:solidFill>
          </a:ln>
        </p:spPr>
      </p:cxnSp>
      <p:cxnSp>
        <p:nvCxnSpPr>
          <p:cNvPr id="32" name="Connector 31"/>
          <p:cNvCxnSpPr/>
          <p:nvPr/>
        </p:nvCxnSpPr>
        <p:spPr>
          <a:xfrm flipV="1">
            <a:off x="2634342" y="4211320"/>
            <a:ext cx="758372" cy="298704"/>
          </a:xfrm>
          <a:prstGeom prst="line">
            <a:avLst/>
          </a:prstGeom>
          <a:ln w="30480">
            <a:solidFill>
              <a:srgbClr val="FF671B"/>
            </a:solidFill>
          </a:ln>
        </p:spPr>
      </p:cxnSp>
      <p:cxnSp>
        <p:nvCxnSpPr>
          <p:cNvPr id="33" name="Connector 32"/>
          <p:cNvCxnSpPr/>
          <p:nvPr/>
        </p:nvCxnSpPr>
        <p:spPr>
          <a:xfrm>
            <a:off x="3392714" y="4211320"/>
            <a:ext cx="758371" cy="199136"/>
          </a:xfrm>
          <a:prstGeom prst="line">
            <a:avLst/>
          </a:prstGeom>
          <a:ln w="30480">
            <a:solidFill>
              <a:srgbClr val="FF671B"/>
            </a:solidFill>
          </a:ln>
        </p:spPr>
      </p:cxnSp>
      <p:cxnSp>
        <p:nvCxnSpPr>
          <p:cNvPr id="34" name="Connector 33"/>
          <p:cNvCxnSpPr/>
          <p:nvPr/>
        </p:nvCxnSpPr>
        <p:spPr>
          <a:xfrm flipV="1">
            <a:off x="4151085" y="4111752"/>
            <a:ext cx="758372" cy="298704"/>
          </a:xfrm>
          <a:prstGeom prst="line">
            <a:avLst/>
          </a:prstGeom>
          <a:ln w="30480">
            <a:solidFill>
              <a:srgbClr val="FF671B"/>
            </a:solidFill>
          </a:ln>
        </p:spPr>
      </p:cxnSp>
      <p:cxnSp>
        <p:nvCxnSpPr>
          <p:cNvPr id="35" name="Connector 34"/>
          <p:cNvCxnSpPr/>
          <p:nvPr/>
        </p:nvCxnSpPr>
        <p:spPr>
          <a:xfrm>
            <a:off x="4909457" y="4111752"/>
            <a:ext cx="758371" cy="199136"/>
          </a:xfrm>
          <a:prstGeom prst="line">
            <a:avLst/>
          </a:prstGeom>
          <a:ln w="30480">
            <a:solidFill>
              <a:srgbClr val="FF671B"/>
            </a:solidFill>
          </a:ln>
        </p:spPr>
      </p:cxnSp>
      <p:cxnSp>
        <p:nvCxnSpPr>
          <p:cNvPr id="36" name="Connector 35"/>
          <p:cNvCxnSpPr/>
          <p:nvPr/>
        </p:nvCxnSpPr>
        <p:spPr>
          <a:xfrm>
            <a:off x="5667828" y="4310888"/>
            <a:ext cx="758372" cy="298704"/>
          </a:xfrm>
          <a:prstGeom prst="line">
            <a:avLst/>
          </a:prstGeom>
          <a:ln w="30480">
            <a:solidFill>
              <a:srgbClr val="FF671B"/>
            </a:solidFill>
          </a:ln>
        </p:spPr>
      </p:cxnSp>
      <p:sp>
        <p:nvSpPr>
          <p:cNvPr id="37" name="Oval 36"/>
          <p:cNvSpPr/>
          <p:nvPr/>
        </p:nvSpPr>
        <p:spPr>
          <a:xfrm>
            <a:off x="1079500" y="4770628"/>
            <a:ext cx="76200" cy="76200"/>
          </a:xfrm>
          <a:prstGeom prst="ellipse">
            <a:avLst/>
          </a:prstGeom>
          <a:solidFill>
            <a:srgbClr val="FF671B"/>
          </a:solidFill>
          <a:ln>
            <a:noFill/>
          </a:ln>
          <a:effectLst/>
        </p:spPr>
        <p:txBody>
          <a:bodyPr rtlCol="0" anchor="ctr"/>
          <a:lstStyle/>
          <a:p>
            <a:pPr algn="ctr"/>
            <a:endParaRPr>
              <a:latin typeface="Mark Offc For MC" panose="020B0504020101010102" pitchFamily="34" charset="0"/>
            </a:endParaRPr>
          </a:p>
        </p:txBody>
      </p:sp>
      <p:sp>
        <p:nvSpPr>
          <p:cNvPr id="38" name="Oval 37"/>
          <p:cNvSpPr/>
          <p:nvPr/>
        </p:nvSpPr>
        <p:spPr>
          <a:xfrm>
            <a:off x="1837871" y="4322572"/>
            <a:ext cx="76200" cy="76200"/>
          </a:xfrm>
          <a:prstGeom prst="ellipse">
            <a:avLst/>
          </a:prstGeom>
          <a:solidFill>
            <a:srgbClr val="FF671B"/>
          </a:solidFill>
          <a:ln>
            <a:noFill/>
          </a:ln>
          <a:effectLst/>
        </p:spPr>
        <p:txBody>
          <a:bodyPr rtlCol="0" anchor="ctr"/>
          <a:lstStyle/>
          <a:p>
            <a:pPr algn="ctr"/>
            <a:endParaRPr>
              <a:latin typeface="Mark Offc For MC" panose="020B0504020101010102" pitchFamily="34" charset="0"/>
            </a:endParaRPr>
          </a:p>
        </p:txBody>
      </p:sp>
      <p:sp>
        <p:nvSpPr>
          <p:cNvPr id="39" name="Oval 38"/>
          <p:cNvSpPr/>
          <p:nvPr/>
        </p:nvSpPr>
        <p:spPr>
          <a:xfrm>
            <a:off x="2596242" y="4471924"/>
            <a:ext cx="76200" cy="76200"/>
          </a:xfrm>
          <a:prstGeom prst="ellipse">
            <a:avLst/>
          </a:prstGeom>
          <a:solidFill>
            <a:srgbClr val="FF671B"/>
          </a:solidFill>
          <a:ln>
            <a:noFill/>
          </a:ln>
          <a:effectLst/>
        </p:spPr>
        <p:txBody>
          <a:bodyPr rtlCol="0" anchor="ctr"/>
          <a:lstStyle/>
          <a:p>
            <a:pPr algn="ctr"/>
            <a:endParaRPr>
              <a:latin typeface="Mark Offc For MC" panose="020B0504020101010102" pitchFamily="34" charset="0"/>
            </a:endParaRPr>
          </a:p>
        </p:txBody>
      </p:sp>
      <p:sp>
        <p:nvSpPr>
          <p:cNvPr id="40" name="Oval 39"/>
          <p:cNvSpPr/>
          <p:nvPr/>
        </p:nvSpPr>
        <p:spPr>
          <a:xfrm>
            <a:off x="3354614" y="4173220"/>
            <a:ext cx="76200" cy="76200"/>
          </a:xfrm>
          <a:prstGeom prst="ellipse">
            <a:avLst/>
          </a:prstGeom>
          <a:solidFill>
            <a:srgbClr val="FF671B"/>
          </a:solidFill>
          <a:ln>
            <a:noFill/>
          </a:ln>
          <a:effectLst/>
        </p:spPr>
        <p:txBody>
          <a:bodyPr rtlCol="0" anchor="ctr"/>
          <a:lstStyle/>
          <a:p>
            <a:pPr algn="ctr"/>
            <a:endParaRPr>
              <a:latin typeface="Mark Offc For MC" panose="020B0504020101010102" pitchFamily="34" charset="0"/>
            </a:endParaRPr>
          </a:p>
        </p:txBody>
      </p:sp>
      <p:sp>
        <p:nvSpPr>
          <p:cNvPr id="41" name="Oval 40"/>
          <p:cNvSpPr/>
          <p:nvPr/>
        </p:nvSpPr>
        <p:spPr>
          <a:xfrm>
            <a:off x="4112985" y="4372356"/>
            <a:ext cx="76200" cy="76200"/>
          </a:xfrm>
          <a:prstGeom prst="ellipse">
            <a:avLst/>
          </a:prstGeom>
          <a:solidFill>
            <a:srgbClr val="FF671B"/>
          </a:solidFill>
          <a:ln>
            <a:noFill/>
          </a:ln>
          <a:effectLst/>
        </p:spPr>
        <p:txBody>
          <a:bodyPr rtlCol="0" anchor="ctr"/>
          <a:lstStyle/>
          <a:p>
            <a:pPr algn="ctr"/>
            <a:endParaRPr>
              <a:latin typeface="Mark Offc For MC" panose="020B0504020101010102" pitchFamily="34" charset="0"/>
            </a:endParaRPr>
          </a:p>
        </p:txBody>
      </p:sp>
      <p:sp>
        <p:nvSpPr>
          <p:cNvPr id="42" name="Oval 41"/>
          <p:cNvSpPr/>
          <p:nvPr/>
        </p:nvSpPr>
        <p:spPr>
          <a:xfrm>
            <a:off x="4871357" y="4073652"/>
            <a:ext cx="76200" cy="76200"/>
          </a:xfrm>
          <a:prstGeom prst="ellipse">
            <a:avLst/>
          </a:prstGeom>
          <a:solidFill>
            <a:srgbClr val="FF671B"/>
          </a:solidFill>
          <a:ln>
            <a:noFill/>
          </a:ln>
          <a:effectLst/>
        </p:spPr>
        <p:txBody>
          <a:bodyPr rtlCol="0" anchor="ctr"/>
          <a:lstStyle/>
          <a:p>
            <a:pPr algn="ctr"/>
            <a:endParaRPr>
              <a:latin typeface="Mark Offc For MC" panose="020B0504020101010102" pitchFamily="34" charset="0"/>
            </a:endParaRPr>
          </a:p>
        </p:txBody>
      </p:sp>
      <p:sp>
        <p:nvSpPr>
          <p:cNvPr id="43" name="Oval 42"/>
          <p:cNvSpPr/>
          <p:nvPr/>
        </p:nvSpPr>
        <p:spPr>
          <a:xfrm>
            <a:off x="5629728" y="4272788"/>
            <a:ext cx="76200" cy="76200"/>
          </a:xfrm>
          <a:prstGeom prst="ellipse">
            <a:avLst/>
          </a:prstGeom>
          <a:solidFill>
            <a:srgbClr val="FF671B"/>
          </a:solidFill>
          <a:ln>
            <a:noFill/>
          </a:ln>
          <a:effectLst/>
        </p:spPr>
        <p:txBody>
          <a:bodyPr rtlCol="0" anchor="ctr"/>
          <a:lstStyle/>
          <a:p>
            <a:pPr algn="ctr"/>
            <a:endParaRPr>
              <a:latin typeface="Mark Offc For MC" panose="020B0504020101010102" pitchFamily="34" charset="0"/>
            </a:endParaRPr>
          </a:p>
        </p:txBody>
      </p:sp>
      <p:sp>
        <p:nvSpPr>
          <p:cNvPr id="44" name="Oval 43"/>
          <p:cNvSpPr/>
          <p:nvPr/>
        </p:nvSpPr>
        <p:spPr>
          <a:xfrm>
            <a:off x="6388100" y="4571492"/>
            <a:ext cx="76200" cy="76200"/>
          </a:xfrm>
          <a:prstGeom prst="ellipse">
            <a:avLst/>
          </a:prstGeom>
          <a:solidFill>
            <a:srgbClr val="FF671B"/>
          </a:solidFill>
          <a:ln>
            <a:noFill/>
          </a:ln>
          <a:effectLst/>
        </p:spPr>
        <p:txBody>
          <a:bodyPr rtlCol="0" anchor="ctr"/>
          <a:lstStyle/>
          <a:p>
            <a:pPr algn="ctr"/>
            <a:endParaRPr>
              <a:latin typeface="Mark Offc For MC" panose="020B0504020101010102" pitchFamily="34" charset="0"/>
            </a:endParaRPr>
          </a:p>
        </p:txBody>
      </p:sp>
      <p:sp>
        <p:nvSpPr>
          <p:cNvPr id="45" name="TextBox 44"/>
          <p:cNvSpPr txBox="1"/>
          <p:nvPr/>
        </p:nvSpPr>
        <p:spPr>
          <a:xfrm>
            <a:off x="863600" y="2235200"/>
            <a:ext cx="2540000" cy="169277"/>
          </a:xfrm>
          <a:prstGeom prst="rect">
            <a:avLst/>
          </a:prstGeom>
          <a:noFill/>
        </p:spPr>
        <p:txBody>
          <a:bodyPr wrap="square" lIns="0" tIns="0" rIns="0" bIns="0" anchor="t">
            <a:spAutoFit/>
          </a:bodyPr>
          <a:lstStyle/>
          <a:p>
            <a:r>
              <a:rPr sz="1100" b="0" i="0">
                <a:solidFill>
                  <a:srgbClr val="656A71"/>
                </a:solidFill>
                <a:latin typeface="Mark Offc For MC" panose="020B0504020101010102" pitchFamily="34" charset="0"/>
              </a:rPr>
              <a:t>┉ </a:t>
            </a:r>
            <a:r>
              <a:rPr sz="1050" b="0" i="0">
                <a:solidFill>
                  <a:srgbClr val="656A71"/>
                </a:solidFill>
                <a:latin typeface="Mark Offc For MC" panose="020B0504020101010102" pitchFamily="34" charset="0"/>
              </a:rPr>
              <a:t>Raw market share</a:t>
            </a:r>
          </a:p>
        </p:txBody>
      </p:sp>
      <p:sp>
        <p:nvSpPr>
          <p:cNvPr id="46" name="TextBox 45"/>
          <p:cNvSpPr txBox="1"/>
          <p:nvPr/>
        </p:nvSpPr>
        <p:spPr>
          <a:xfrm>
            <a:off x="863600" y="2438400"/>
            <a:ext cx="2794000" cy="169277"/>
          </a:xfrm>
          <a:prstGeom prst="rect">
            <a:avLst/>
          </a:prstGeom>
          <a:noFill/>
        </p:spPr>
        <p:txBody>
          <a:bodyPr wrap="square" lIns="0" tIns="0" rIns="0" bIns="0" anchor="t">
            <a:spAutoFit/>
          </a:bodyPr>
          <a:lstStyle/>
          <a:p>
            <a:r>
              <a:rPr sz="1100" b="0" i="0">
                <a:solidFill>
                  <a:srgbClr val="FF671B"/>
                </a:solidFill>
                <a:latin typeface="Mark Offc For MC" panose="020B0504020101010102" pitchFamily="34" charset="0"/>
              </a:rPr>
              <a:t>━ </a:t>
            </a:r>
            <a:r>
              <a:rPr sz="1050" b="0" i="0">
                <a:solidFill>
                  <a:srgbClr val="D84E0C"/>
                </a:solidFill>
                <a:latin typeface="Mark Offc For MC" panose="020B0504020101010102" pitchFamily="34" charset="0"/>
              </a:rPr>
              <a:t>Balanced (compliant) share</a:t>
            </a:r>
          </a:p>
        </p:txBody>
      </p:sp>
      <p:sp>
        <p:nvSpPr>
          <p:cNvPr id="47" name="TextBox 46"/>
          <p:cNvSpPr txBox="1"/>
          <p:nvPr/>
        </p:nvSpPr>
        <p:spPr>
          <a:xfrm>
            <a:off x="3009900" y="5359400"/>
            <a:ext cx="2032000" cy="138499"/>
          </a:xfrm>
          <a:prstGeom prst="rect">
            <a:avLst/>
          </a:prstGeom>
          <a:noFill/>
        </p:spPr>
        <p:txBody>
          <a:bodyPr wrap="square" lIns="0" tIns="0" rIns="0" bIns="0" anchor="t">
            <a:spAutoFit/>
          </a:bodyPr>
          <a:lstStyle/>
          <a:p>
            <a:pPr algn="ctr"/>
            <a:r>
              <a:rPr sz="900" b="0" i="0" dirty="0">
                <a:solidFill>
                  <a:srgbClr val="9CA0A6"/>
                </a:solidFill>
                <a:latin typeface="Mark Offc For MC" panose="020B0504020101010102" pitchFamily="34" charset="0"/>
              </a:rPr>
              <a:t>Δ distortion measured per category</a:t>
            </a:r>
          </a:p>
        </p:txBody>
      </p:sp>
      <p:sp>
        <p:nvSpPr>
          <p:cNvPr id="48" name="Rounded Rectangle 47"/>
          <p:cNvSpPr/>
          <p:nvPr/>
        </p:nvSpPr>
        <p:spPr>
          <a:xfrm>
            <a:off x="7137400" y="2032000"/>
            <a:ext cx="4445000" cy="939800"/>
          </a:xfrm>
          <a:prstGeom prst="roundRect">
            <a:avLst>
              <a:gd name="adj" fmla="val 6000"/>
            </a:avLst>
          </a:prstGeom>
          <a:solidFill>
            <a:srgbClr val="FFFFFF"/>
          </a:solidFill>
          <a:ln w="12700">
            <a:solidFill>
              <a:srgbClr val="E6E2DC"/>
            </a:solidFill>
          </a:ln>
          <a:effectLst>
            <a:outerShdw blurRad="114300" dist="38100" dir="5400000" rotWithShape="0">
              <a:srgbClr val="1A1A1A">
                <a:alpha val="22000"/>
              </a:srgbClr>
            </a:outerShdw>
          </a:effectLst>
        </p:spPr>
        <p:txBody>
          <a:bodyPr rtlCol="0" anchor="ctr"/>
          <a:lstStyle/>
          <a:p>
            <a:pPr algn="ctr"/>
            <a:endParaRPr>
              <a:latin typeface="Mark Offc For MC" panose="020B0504020101010102" pitchFamily="34" charset="0"/>
            </a:endParaRPr>
          </a:p>
        </p:txBody>
      </p:sp>
      <p:sp>
        <p:nvSpPr>
          <p:cNvPr id="49" name="Rounded Rectangle 48"/>
          <p:cNvSpPr/>
          <p:nvPr/>
        </p:nvSpPr>
        <p:spPr>
          <a:xfrm>
            <a:off x="7340600" y="2286000"/>
            <a:ext cx="431800" cy="431800"/>
          </a:xfrm>
          <a:prstGeom prst="roundRect">
            <a:avLst>
              <a:gd name="adj" fmla="val 26000"/>
            </a:avLst>
          </a:prstGeom>
          <a:solidFill>
            <a:srgbClr val="FFEDE2"/>
          </a:solidFill>
          <a:ln>
            <a:noFill/>
          </a:ln>
          <a:effectLst/>
        </p:spPr>
        <p:txBody>
          <a:bodyPr rtlCol="0" anchor="ctr"/>
          <a:lstStyle/>
          <a:p>
            <a:pPr algn="ctr"/>
            <a:endParaRPr>
              <a:latin typeface="Mark Offc For MC" panose="020B0504020101010102" pitchFamily="34" charset="0"/>
            </a:endParaRPr>
          </a:p>
        </p:txBody>
      </p:sp>
      <p:sp>
        <p:nvSpPr>
          <p:cNvPr id="51" name="TextBox 50"/>
          <p:cNvSpPr txBox="1"/>
          <p:nvPr/>
        </p:nvSpPr>
        <p:spPr>
          <a:xfrm>
            <a:off x="7924800" y="2184400"/>
            <a:ext cx="3479800" cy="200055"/>
          </a:xfrm>
          <a:prstGeom prst="rect">
            <a:avLst/>
          </a:prstGeom>
          <a:noFill/>
        </p:spPr>
        <p:txBody>
          <a:bodyPr wrap="square" lIns="0" tIns="0" rIns="0" bIns="0" anchor="t">
            <a:spAutoFit/>
          </a:bodyPr>
          <a:lstStyle/>
          <a:p>
            <a:r>
              <a:rPr sz="1300" b="0" i="0" dirty="0">
                <a:solidFill>
                  <a:srgbClr val="1A1A1A"/>
                </a:solidFill>
                <a:latin typeface="Mark Offc For MC Medium" panose="020B0604020101010102" pitchFamily="34" charset="0"/>
              </a:rPr>
              <a:t>Distortion Analysis</a:t>
            </a:r>
          </a:p>
        </p:txBody>
      </p:sp>
      <p:sp>
        <p:nvSpPr>
          <p:cNvPr id="52" name="TextBox 51"/>
          <p:cNvSpPr txBox="1"/>
          <p:nvPr/>
        </p:nvSpPr>
        <p:spPr>
          <a:xfrm>
            <a:off x="7924800" y="2451100"/>
            <a:ext cx="3479800" cy="343427"/>
          </a:xfrm>
          <a:prstGeom prst="rect">
            <a:avLst/>
          </a:prstGeom>
          <a:noFill/>
        </p:spPr>
        <p:txBody>
          <a:bodyPr wrap="square" lIns="0" tIns="0" rIns="0" bIns="0" anchor="t">
            <a:spAutoFit/>
          </a:bodyPr>
          <a:lstStyle/>
          <a:p>
            <a:pPr>
              <a:lnSpc>
                <a:spcPct val="112000"/>
              </a:lnSpc>
            </a:pPr>
            <a:r>
              <a:rPr sz="1050" b="0" i="0">
                <a:solidFill>
                  <a:srgbClr val="656A71"/>
                </a:solidFill>
                <a:latin typeface="Mark Offc For MC" panose="020B0504020101010102" pitchFamily="34" charset="0"/>
              </a:rPr>
              <a:t>Computes the exact percentage-point delta between raw market truth and compliant reporting.</a:t>
            </a:r>
          </a:p>
        </p:txBody>
      </p:sp>
      <p:sp>
        <p:nvSpPr>
          <p:cNvPr id="53" name="Rounded Rectangle 52"/>
          <p:cNvSpPr/>
          <p:nvPr/>
        </p:nvSpPr>
        <p:spPr>
          <a:xfrm>
            <a:off x="7137400" y="3111500"/>
            <a:ext cx="4445000" cy="939800"/>
          </a:xfrm>
          <a:prstGeom prst="roundRect">
            <a:avLst>
              <a:gd name="adj" fmla="val 6000"/>
            </a:avLst>
          </a:prstGeom>
          <a:solidFill>
            <a:srgbClr val="FFFFFF"/>
          </a:solidFill>
          <a:ln w="12700">
            <a:solidFill>
              <a:srgbClr val="E6E2DC"/>
            </a:solidFill>
          </a:ln>
          <a:effectLst>
            <a:outerShdw blurRad="114300" dist="38100" dir="5400000" rotWithShape="0">
              <a:srgbClr val="1A1A1A">
                <a:alpha val="22000"/>
              </a:srgbClr>
            </a:outerShdw>
          </a:effectLst>
        </p:spPr>
        <p:txBody>
          <a:bodyPr rtlCol="0" anchor="ctr"/>
          <a:lstStyle/>
          <a:p>
            <a:pPr algn="ctr"/>
            <a:endParaRPr>
              <a:latin typeface="Mark Offc For MC" panose="020B0504020101010102" pitchFamily="34" charset="0"/>
            </a:endParaRPr>
          </a:p>
        </p:txBody>
      </p:sp>
      <p:sp>
        <p:nvSpPr>
          <p:cNvPr id="54" name="Rounded Rectangle 53"/>
          <p:cNvSpPr/>
          <p:nvPr/>
        </p:nvSpPr>
        <p:spPr>
          <a:xfrm>
            <a:off x="7340600" y="3365500"/>
            <a:ext cx="431800" cy="431800"/>
          </a:xfrm>
          <a:prstGeom prst="roundRect">
            <a:avLst>
              <a:gd name="adj" fmla="val 26000"/>
            </a:avLst>
          </a:prstGeom>
          <a:solidFill>
            <a:srgbClr val="FFEDE2"/>
          </a:solidFill>
          <a:ln>
            <a:noFill/>
          </a:ln>
          <a:effectLst/>
        </p:spPr>
        <p:txBody>
          <a:bodyPr rtlCol="0" anchor="ctr"/>
          <a:lstStyle/>
          <a:p>
            <a:pPr algn="ctr"/>
            <a:endParaRPr>
              <a:latin typeface="Mark Offc For MC" panose="020B0504020101010102" pitchFamily="34" charset="0"/>
            </a:endParaRPr>
          </a:p>
        </p:txBody>
      </p:sp>
      <p:sp>
        <p:nvSpPr>
          <p:cNvPr id="56" name="TextBox 55"/>
          <p:cNvSpPr txBox="1"/>
          <p:nvPr/>
        </p:nvSpPr>
        <p:spPr>
          <a:xfrm>
            <a:off x="7924800" y="3263900"/>
            <a:ext cx="3479800" cy="200055"/>
          </a:xfrm>
          <a:prstGeom prst="rect">
            <a:avLst/>
          </a:prstGeom>
          <a:noFill/>
        </p:spPr>
        <p:txBody>
          <a:bodyPr wrap="square" lIns="0" tIns="0" rIns="0" bIns="0" anchor="t">
            <a:spAutoFit/>
          </a:bodyPr>
          <a:lstStyle/>
          <a:p>
            <a:r>
              <a:rPr sz="1300" b="0" i="0">
                <a:solidFill>
                  <a:srgbClr val="1A1A1A"/>
                </a:solidFill>
                <a:latin typeface="Mark Offc For MC Medium" panose="020B0604020101010102" pitchFamily="34" charset="0"/>
              </a:rPr>
              <a:t>Rank-Change Tracking</a:t>
            </a:r>
          </a:p>
        </p:txBody>
      </p:sp>
      <p:sp>
        <p:nvSpPr>
          <p:cNvPr id="57" name="TextBox 56"/>
          <p:cNvSpPr txBox="1"/>
          <p:nvPr/>
        </p:nvSpPr>
        <p:spPr>
          <a:xfrm>
            <a:off x="7924800" y="3530600"/>
            <a:ext cx="3479800" cy="343427"/>
          </a:xfrm>
          <a:prstGeom prst="rect">
            <a:avLst/>
          </a:prstGeom>
          <a:noFill/>
        </p:spPr>
        <p:txBody>
          <a:bodyPr wrap="square" lIns="0" tIns="0" rIns="0" bIns="0" anchor="t">
            <a:spAutoFit/>
          </a:bodyPr>
          <a:lstStyle/>
          <a:p>
            <a:pPr>
              <a:lnSpc>
                <a:spcPct val="112000"/>
              </a:lnSpc>
            </a:pPr>
            <a:r>
              <a:rPr sz="1050" b="0" i="0">
                <a:solidFill>
                  <a:srgbClr val="656A71"/>
                </a:solidFill>
                <a:latin typeface="Mark Offc For MC" panose="020B0504020101010102" pitchFamily="34" charset="0"/>
              </a:rPr>
              <a:t>A dedicated sheet records every rank shift before and after weighting.</a:t>
            </a:r>
          </a:p>
        </p:txBody>
      </p:sp>
      <p:sp>
        <p:nvSpPr>
          <p:cNvPr id="58" name="Rounded Rectangle 57"/>
          <p:cNvSpPr/>
          <p:nvPr/>
        </p:nvSpPr>
        <p:spPr>
          <a:xfrm>
            <a:off x="7137400" y="4191000"/>
            <a:ext cx="4445000" cy="939800"/>
          </a:xfrm>
          <a:prstGeom prst="roundRect">
            <a:avLst>
              <a:gd name="adj" fmla="val 6000"/>
            </a:avLst>
          </a:prstGeom>
          <a:solidFill>
            <a:srgbClr val="FFFFFF"/>
          </a:solidFill>
          <a:ln w="12700">
            <a:solidFill>
              <a:srgbClr val="E6E2DC"/>
            </a:solidFill>
          </a:ln>
          <a:effectLst>
            <a:outerShdw blurRad="114300" dist="38100" dir="5400000" rotWithShape="0">
              <a:srgbClr val="1A1A1A">
                <a:alpha val="22000"/>
              </a:srgbClr>
            </a:outerShdw>
          </a:effectLst>
        </p:spPr>
        <p:txBody>
          <a:bodyPr rtlCol="0" anchor="ctr"/>
          <a:lstStyle/>
          <a:p>
            <a:pPr algn="ctr"/>
            <a:endParaRPr>
              <a:latin typeface="Mark Offc For MC" panose="020B0504020101010102" pitchFamily="34" charset="0"/>
            </a:endParaRPr>
          </a:p>
        </p:txBody>
      </p:sp>
      <p:sp>
        <p:nvSpPr>
          <p:cNvPr id="59" name="Rounded Rectangle 58"/>
          <p:cNvSpPr/>
          <p:nvPr/>
        </p:nvSpPr>
        <p:spPr>
          <a:xfrm>
            <a:off x="7340600" y="4445000"/>
            <a:ext cx="431800" cy="431800"/>
          </a:xfrm>
          <a:prstGeom prst="roundRect">
            <a:avLst>
              <a:gd name="adj" fmla="val 26000"/>
            </a:avLst>
          </a:prstGeom>
          <a:solidFill>
            <a:srgbClr val="FFEDE2"/>
          </a:solidFill>
          <a:ln>
            <a:noFill/>
          </a:ln>
          <a:effectLst/>
        </p:spPr>
        <p:txBody>
          <a:bodyPr rtlCol="0" anchor="ctr"/>
          <a:lstStyle/>
          <a:p>
            <a:pPr algn="ctr"/>
            <a:endParaRPr>
              <a:latin typeface="Mark Offc For MC" panose="020B0504020101010102" pitchFamily="34" charset="0"/>
            </a:endParaRPr>
          </a:p>
        </p:txBody>
      </p:sp>
      <p:sp>
        <p:nvSpPr>
          <p:cNvPr id="61" name="TextBox 60"/>
          <p:cNvSpPr txBox="1"/>
          <p:nvPr/>
        </p:nvSpPr>
        <p:spPr>
          <a:xfrm>
            <a:off x="7924800" y="4343400"/>
            <a:ext cx="3479800" cy="200055"/>
          </a:xfrm>
          <a:prstGeom prst="rect">
            <a:avLst/>
          </a:prstGeom>
          <a:noFill/>
        </p:spPr>
        <p:txBody>
          <a:bodyPr wrap="square" lIns="0" tIns="0" rIns="0" bIns="0" anchor="t">
            <a:spAutoFit/>
          </a:bodyPr>
          <a:lstStyle/>
          <a:p>
            <a:r>
              <a:rPr sz="1300" b="0" i="0">
                <a:solidFill>
                  <a:srgbClr val="1A1A1A"/>
                </a:solidFill>
                <a:latin typeface="Mark Offc For MC Medium" panose="020B0604020101010102" pitchFamily="34" charset="0"/>
              </a:rPr>
              <a:t>Preset Comparison</a:t>
            </a:r>
          </a:p>
        </p:txBody>
      </p:sp>
      <p:sp>
        <p:nvSpPr>
          <p:cNvPr id="62" name="TextBox 61"/>
          <p:cNvSpPr txBox="1"/>
          <p:nvPr/>
        </p:nvSpPr>
        <p:spPr>
          <a:xfrm>
            <a:off x="7924800" y="4610100"/>
            <a:ext cx="3479800" cy="343427"/>
          </a:xfrm>
          <a:prstGeom prst="rect">
            <a:avLst/>
          </a:prstGeom>
          <a:noFill/>
        </p:spPr>
        <p:txBody>
          <a:bodyPr wrap="square" lIns="0" tIns="0" rIns="0" bIns="0" anchor="t">
            <a:spAutoFit/>
          </a:bodyPr>
          <a:lstStyle/>
          <a:p>
            <a:pPr>
              <a:lnSpc>
                <a:spcPct val="112000"/>
              </a:lnSpc>
            </a:pPr>
            <a:r>
              <a:rPr sz="1050" b="0" i="0">
                <a:solidFill>
                  <a:srgbClr val="656A71"/>
                </a:solidFill>
                <a:latin typeface="Mark Offc For MC" panose="020B0504020101010102" pitchFamily="34" charset="0"/>
              </a:rPr>
              <a:t>--compare-presets builds a matrix of mean distortion to find the optimal configuration.</a:t>
            </a:r>
          </a:p>
        </p:txBody>
      </p:sp>
      <p:sp>
        <p:nvSpPr>
          <p:cNvPr id="63" name="Rounded Rectangle 62"/>
          <p:cNvSpPr/>
          <p:nvPr/>
        </p:nvSpPr>
        <p:spPr>
          <a:xfrm>
            <a:off x="7137400" y="5270500"/>
            <a:ext cx="4445000" cy="711200"/>
          </a:xfrm>
          <a:prstGeom prst="roundRect">
            <a:avLst>
              <a:gd name="adj" fmla="val 8000"/>
            </a:avLst>
          </a:prstGeom>
          <a:solidFill>
            <a:srgbClr val="FFEDE2"/>
          </a:solidFill>
          <a:ln w="12700">
            <a:solidFill>
              <a:srgbClr val="FF671B"/>
            </a:solidFill>
          </a:ln>
          <a:effectLst/>
        </p:spPr>
        <p:txBody>
          <a:bodyPr rtlCol="0" anchor="ctr"/>
          <a:lstStyle/>
          <a:p>
            <a:pPr algn="ctr"/>
            <a:endParaRPr>
              <a:latin typeface="Mark Offc For MC" panose="020B0504020101010102" pitchFamily="34" charset="0"/>
            </a:endParaRPr>
          </a:p>
        </p:txBody>
      </p:sp>
      <p:sp>
        <p:nvSpPr>
          <p:cNvPr id="64" name="TextBox 63"/>
          <p:cNvSpPr txBox="1"/>
          <p:nvPr/>
        </p:nvSpPr>
        <p:spPr>
          <a:xfrm>
            <a:off x="7366000" y="5438837"/>
            <a:ext cx="4013200" cy="374526"/>
          </a:xfrm>
          <a:prstGeom prst="rect">
            <a:avLst/>
          </a:prstGeom>
          <a:noFill/>
        </p:spPr>
        <p:txBody>
          <a:bodyPr wrap="square" lIns="0" tIns="0" rIns="0" bIns="0" anchor="ctr">
            <a:spAutoFit/>
          </a:bodyPr>
          <a:lstStyle/>
          <a:p>
            <a:pPr>
              <a:lnSpc>
                <a:spcPct val="114000"/>
              </a:lnSpc>
            </a:pPr>
            <a:r>
              <a:rPr sz="1150" b="0" i="0" dirty="0">
                <a:solidFill>
                  <a:srgbClr val="D84E0C"/>
                </a:solidFill>
                <a:latin typeface="Mark Offc For MC" panose="020B0504020101010102" pitchFamily="34" charset="0"/>
              </a:rPr>
              <a:t>Insight.  </a:t>
            </a:r>
            <a:r>
              <a:rPr sz="1100" b="0" i="0" dirty="0">
                <a:solidFill>
                  <a:srgbClr val="3C3F44"/>
                </a:solidFill>
                <a:latin typeface="Mark Offc For MC" panose="020B0504020101010102" pitchFamily="34" charset="0"/>
              </a:rPr>
              <a:t>We don’t just enforce rules</a:t>
            </a:r>
            <a:r>
              <a:rPr lang="en-US" sz="1100" b="0" i="0" dirty="0">
                <a:solidFill>
                  <a:srgbClr val="3C3F44"/>
                </a:solidFill>
                <a:latin typeface="Mark Offc For MC" panose="020B0504020101010102" pitchFamily="34" charset="0"/>
              </a:rPr>
              <a:t>,</a:t>
            </a:r>
            <a:r>
              <a:rPr sz="1100" b="0" i="0" dirty="0">
                <a:solidFill>
                  <a:srgbClr val="3C3F44"/>
                </a:solidFill>
                <a:latin typeface="Mark Offc For MC" panose="020B0504020101010102" pitchFamily="34" charset="0"/>
              </a:rPr>
              <a:t> we quantify their mathematical impact.</a:t>
            </a:r>
          </a:p>
        </p:txBody>
      </p:sp>
      <p:sp>
        <p:nvSpPr>
          <p:cNvPr id="65" name="TextBox 64"/>
          <p:cNvSpPr txBox="1"/>
          <p:nvPr/>
        </p:nvSpPr>
        <p:spPr>
          <a:xfrm>
            <a:off x="609600" y="6509350"/>
            <a:ext cx="2540000" cy="138499"/>
          </a:xfrm>
          <a:prstGeom prst="rect">
            <a:avLst/>
          </a:prstGeom>
          <a:noFill/>
        </p:spPr>
        <p:txBody>
          <a:bodyPr wrap="square" lIns="0" tIns="0" rIns="0" bIns="0" anchor="ctr">
            <a:spAutoFit/>
          </a:bodyPr>
          <a:lstStyle/>
          <a:p>
            <a:r>
              <a:rPr sz="900" b="0" i="0">
                <a:solidFill>
                  <a:srgbClr val="FF671B"/>
                </a:solidFill>
                <a:latin typeface="Mark Offc For MC" panose="020B0504020101010102" pitchFamily="34" charset="0"/>
              </a:rPr>
              <a:t>09</a:t>
            </a:r>
            <a:r>
              <a:rPr sz="900" b="0" i="0">
                <a:solidFill>
                  <a:srgbClr val="9CA0A6"/>
                </a:solidFill>
                <a:latin typeface="Mark Offc For MC" panose="020B0504020101010102" pitchFamily="34" charset="0"/>
              </a:rPr>
              <a:t>  /  13</a:t>
            </a:r>
          </a:p>
        </p:txBody>
      </p:sp>
      <p:sp>
        <p:nvSpPr>
          <p:cNvPr id="66" name="TextBox 65"/>
          <p:cNvSpPr txBox="1"/>
          <p:nvPr/>
        </p:nvSpPr>
        <p:spPr>
          <a:xfrm>
            <a:off x="11912600" y="2931613"/>
            <a:ext cx="100027" cy="2021387"/>
          </a:xfrm>
          <a:prstGeom prst="rect">
            <a:avLst/>
          </a:prstGeom>
          <a:noFill/>
        </p:spPr>
        <p:txBody>
          <a:bodyPr vert="vert270" wrap="none" lIns="0" tIns="0" rIns="0" bIns="0">
            <a:spAutoFit/>
          </a:bodyPr>
          <a:lstStyle/>
          <a:p>
            <a:r>
              <a:rPr sz="650">
                <a:solidFill>
                  <a:srgbClr val="9CA0A6"/>
                </a:solidFill>
                <a:latin typeface="Mark Offc For MC" panose="020B0504020101010102" pitchFamily="34" charset="0"/>
              </a:rPr>
              <a:t>© 2025 Mastercard. Proprietary and Confidential.</a:t>
            </a:r>
          </a:p>
        </p:txBody>
      </p:sp>
      <p:sp>
        <p:nvSpPr>
          <p:cNvPr id="67" name="Oval 66"/>
          <p:cNvSpPr/>
          <p:nvPr/>
        </p:nvSpPr>
        <p:spPr>
          <a:xfrm>
            <a:off x="11080496" y="6248400"/>
            <a:ext cx="330200" cy="330200"/>
          </a:xfrm>
          <a:prstGeom prst="ellipse">
            <a:avLst/>
          </a:prstGeom>
          <a:solidFill>
            <a:srgbClr val="EB001B"/>
          </a:solidFill>
          <a:ln>
            <a:noFill/>
          </a:ln>
          <a:effectLst/>
        </p:spPr>
        <p:txBody>
          <a:bodyPr rtlCol="0" anchor="ctr"/>
          <a:lstStyle/>
          <a:p>
            <a:pPr algn="ctr"/>
            <a:endParaRPr>
              <a:latin typeface="Mark Offc For MC" panose="020B0504020101010102" pitchFamily="34" charset="0"/>
            </a:endParaRPr>
          </a:p>
        </p:txBody>
      </p:sp>
      <p:sp>
        <p:nvSpPr>
          <p:cNvPr id="68" name="Oval 67"/>
          <p:cNvSpPr/>
          <p:nvPr/>
        </p:nvSpPr>
        <p:spPr>
          <a:xfrm>
            <a:off x="11252200" y="6248400"/>
            <a:ext cx="330200" cy="330200"/>
          </a:xfrm>
          <a:prstGeom prst="ellipse">
            <a:avLst/>
          </a:prstGeom>
          <a:solidFill>
            <a:srgbClr val="F79E1B"/>
          </a:solidFill>
          <a:ln>
            <a:noFill/>
          </a:ln>
          <a:effectLst/>
        </p:spPr>
        <p:txBody>
          <a:bodyPr rtlCol="0" anchor="ctr"/>
          <a:lstStyle/>
          <a:p>
            <a:pPr algn="ctr"/>
            <a:endParaRPr>
              <a:latin typeface="Mark Offc For MC" panose="020B0504020101010102" pitchFamily="34" charset="0"/>
            </a:endParaRPr>
          </a:p>
        </p:txBody>
      </p:sp>
      <p:sp>
        <p:nvSpPr>
          <p:cNvPr id="69" name="Oval 68"/>
          <p:cNvSpPr/>
          <p:nvPr/>
        </p:nvSpPr>
        <p:spPr>
          <a:xfrm>
            <a:off x="11252200" y="6272339"/>
            <a:ext cx="158496" cy="282321"/>
          </a:xfrm>
          <a:prstGeom prst="ellipse">
            <a:avLst/>
          </a:prstGeom>
          <a:solidFill>
            <a:srgbClr val="FF5F00"/>
          </a:solidFill>
          <a:ln>
            <a:noFill/>
          </a:ln>
          <a:effectLst/>
        </p:spPr>
        <p:txBody>
          <a:bodyPr rtlCol="0" anchor="ctr"/>
          <a:lstStyle/>
          <a:p>
            <a:pPr algn="ctr"/>
            <a:endParaRPr>
              <a:latin typeface="Mark Offc For MC" panose="020B0504020101010102" pitchFamily="34" charset="0"/>
            </a:endParaRPr>
          </a:p>
        </p:txBody>
      </p:sp>
      <p:pic>
        <p:nvPicPr>
          <p:cNvPr id="71" name="Picture 70">
            <a:extLst>
              <a:ext uri="{FF2B5EF4-FFF2-40B4-BE49-F238E27FC236}">
                <a16:creationId xmlns:a16="http://schemas.microsoft.com/office/drawing/2014/main" id="{8CCB2F0C-8561-D2C7-082C-A044F5BA214E}"/>
              </a:ext>
            </a:extLst>
          </p:cNvPr>
          <p:cNvPicPr>
            <a:picLocks noChangeAspect="1"/>
          </p:cNvPicPr>
          <p:nvPr/>
        </p:nvPicPr>
        <p:blipFill>
          <a:blip r:embed="rId2"/>
          <a:stretch>
            <a:fillRect/>
          </a:stretch>
        </p:blipFill>
        <p:spPr>
          <a:xfrm>
            <a:off x="7355332" y="2315464"/>
            <a:ext cx="402336" cy="402336"/>
          </a:xfrm>
          <a:prstGeom prst="rect">
            <a:avLst/>
          </a:prstGeom>
        </p:spPr>
      </p:pic>
      <p:pic>
        <p:nvPicPr>
          <p:cNvPr id="73" name="Picture 72">
            <a:extLst>
              <a:ext uri="{FF2B5EF4-FFF2-40B4-BE49-F238E27FC236}">
                <a16:creationId xmlns:a16="http://schemas.microsoft.com/office/drawing/2014/main" id="{6ADD4423-AF2F-7B0E-6925-45DAAB9D7276}"/>
              </a:ext>
            </a:extLst>
          </p:cNvPr>
          <p:cNvPicPr>
            <a:picLocks noChangeAspect="1"/>
          </p:cNvPicPr>
          <p:nvPr/>
        </p:nvPicPr>
        <p:blipFill>
          <a:blip r:embed="rId3"/>
          <a:stretch>
            <a:fillRect/>
          </a:stretch>
        </p:blipFill>
        <p:spPr>
          <a:xfrm>
            <a:off x="7355332" y="3394964"/>
            <a:ext cx="402336" cy="402336"/>
          </a:xfrm>
          <a:prstGeom prst="rect">
            <a:avLst/>
          </a:prstGeom>
        </p:spPr>
      </p:pic>
      <p:pic>
        <p:nvPicPr>
          <p:cNvPr id="75" name="Picture 74">
            <a:extLst>
              <a:ext uri="{FF2B5EF4-FFF2-40B4-BE49-F238E27FC236}">
                <a16:creationId xmlns:a16="http://schemas.microsoft.com/office/drawing/2014/main" id="{4BB6A11B-E633-1206-1C6D-54F4484A67E4}"/>
              </a:ext>
            </a:extLst>
          </p:cNvPr>
          <p:cNvPicPr>
            <a:picLocks noChangeAspect="1"/>
          </p:cNvPicPr>
          <p:nvPr/>
        </p:nvPicPr>
        <p:blipFill>
          <a:blip r:embed="rId4"/>
          <a:stretch>
            <a:fillRect/>
          </a:stretch>
        </p:blipFill>
        <p:spPr>
          <a:xfrm>
            <a:off x="7354062" y="4460240"/>
            <a:ext cx="402336" cy="40233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endParaRPr>
              <a:latin typeface="Mark Offc For MC" panose="020B0504020101010102" pitchFamily="34" charset="0"/>
            </a:endParaRPr>
          </a:p>
        </p:txBody>
      </p:sp>
      <p:sp>
        <p:nvSpPr>
          <p:cNvPr id="3" name="TextBox 2"/>
          <p:cNvSpPr txBox="1"/>
          <p:nvPr/>
        </p:nvSpPr>
        <p:spPr>
          <a:xfrm>
            <a:off x="609600" y="508000"/>
            <a:ext cx="6350000" cy="161583"/>
          </a:xfrm>
          <a:prstGeom prst="rect">
            <a:avLst/>
          </a:prstGeom>
          <a:noFill/>
        </p:spPr>
        <p:txBody>
          <a:bodyPr wrap="square" lIns="0" tIns="0" rIns="0" bIns="0" anchor="t">
            <a:spAutoFit/>
          </a:bodyPr>
          <a:lstStyle/>
          <a:p>
            <a:r>
              <a:rPr sz="1050" b="0" i="0" spc="160" dirty="0">
                <a:solidFill>
                  <a:srgbClr val="FF671B"/>
                </a:solidFill>
                <a:latin typeface="Mark Offc For MC Light" panose="020B0504020101010102" pitchFamily="34" charset="0"/>
              </a:rPr>
              <a:t>POLICY ENFORCEMENT</a:t>
            </a:r>
          </a:p>
        </p:txBody>
      </p:sp>
      <p:sp>
        <p:nvSpPr>
          <p:cNvPr id="4" name="TextBox 3"/>
          <p:cNvSpPr txBox="1"/>
          <p:nvPr/>
        </p:nvSpPr>
        <p:spPr>
          <a:xfrm>
            <a:off x="609600" y="736600"/>
            <a:ext cx="10972800" cy="340029"/>
          </a:xfrm>
          <a:prstGeom prst="rect">
            <a:avLst/>
          </a:prstGeom>
          <a:noFill/>
        </p:spPr>
        <p:txBody>
          <a:bodyPr wrap="square" lIns="0" tIns="0" rIns="0" bIns="0" anchor="t">
            <a:spAutoFit/>
          </a:bodyPr>
          <a:lstStyle/>
          <a:p>
            <a:pPr>
              <a:lnSpc>
                <a:spcPct val="106000"/>
              </a:lnSpc>
            </a:pPr>
            <a:r>
              <a:rPr sz="2300" b="0" i="0">
                <a:solidFill>
                  <a:srgbClr val="1A1A1A"/>
                </a:solidFill>
                <a:latin typeface="Mark Offc For MC" panose="020B0504020101010102" pitchFamily="34" charset="0"/>
              </a:rPr>
              <a:t>The system actively guards against unauthorized data combinations.</a:t>
            </a:r>
          </a:p>
        </p:txBody>
      </p:sp>
      <p:cxnSp>
        <p:nvCxnSpPr>
          <p:cNvPr id="5" name="Connector 4"/>
          <p:cNvCxnSpPr/>
          <p:nvPr/>
        </p:nvCxnSpPr>
        <p:spPr>
          <a:xfrm>
            <a:off x="609600" y="1625600"/>
            <a:ext cx="10972800" cy="0"/>
          </a:xfrm>
          <a:prstGeom prst="line">
            <a:avLst/>
          </a:prstGeom>
          <a:ln w="12700">
            <a:solidFill>
              <a:srgbClr val="E6E2DC"/>
            </a:solidFill>
          </a:ln>
        </p:spPr>
      </p:cxnSp>
      <p:sp>
        <p:nvSpPr>
          <p:cNvPr id="6" name="Rectangle 5"/>
          <p:cNvSpPr/>
          <p:nvPr/>
        </p:nvSpPr>
        <p:spPr>
          <a:xfrm>
            <a:off x="609600" y="1610360"/>
            <a:ext cx="685800" cy="30480"/>
          </a:xfrm>
          <a:prstGeom prst="rect">
            <a:avLst/>
          </a:prstGeom>
          <a:solidFill>
            <a:srgbClr val="FF671B"/>
          </a:solidFill>
          <a:ln>
            <a:noFill/>
          </a:ln>
          <a:effectLst/>
        </p:spPr>
        <p:txBody>
          <a:bodyPr rtlCol="0" anchor="ctr"/>
          <a:lstStyle/>
          <a:p>
            <a:pPr algn="ctr"/>
            <a:endParaRPr>
              <a:latin typeface="Mark Offc For MC" panose="020B0504020101010102" pitchFamily="34" charset="0"/>
            </a:endParaRPr>
          </a:p>
        </p:txBody>
      </p:sp>
      <p:sp>
        <p:nvSpPr>
          <p:cNvPr id="7" name="TextBox 6"/>
          <p:cNvSpPr txBox="1"/>
          <p:nvPr/>
        </p:nvSpPr>
        <p:spPr>
          <a:xfrm>
            <a:off x="1270000" y="2120156"/>
            <a:ext cx="3073400" cy="153888"/>
          </a:xfrm>
          <a:prstGeom prst="rect">
            <a:avLst/>
          </a:prstGeom>
          <a:noFill/>
        </p:spPr>
        <p:txBody>
          <a:bodyPr wrap="square" lIns="0" tIns="0" rIns="0" bIns="0" anchor="ctr">
            <a:spAutoFit/>
          </a:bodyPr>
          <a:lstStyle/>
          <a:p>
            <a:r>
              <a:rPr sz="1000" b="0" i="0" spc="80">
                <a:solidFill>
                  <a:srgbClr val="656A71"/>
                </a:solidFill>
                <a:latin typeface="Mark Offc For MC" panose="020B0504020101010102" pitchFamily="34" charset="0"/>
              </a:rPr>
              <a:t>DATA SCENARIO</a:t>
            </a:r>
          </a:p>
        </p:txBody>
      </p:sp>
      <p:sp>
        <p:nvSpPr>
          <p:cNvPr id="8" name="TextBox 7"/>
          <p:cNvSpPr txBox="1"/>
          <p:nvPr/>
        </p:nvSpPr>
        <p:spPr>
          <a:xfrm>
            <a:off x="4445000" y="2120156"/>
            <a:ext cx="5359400" cy="153888"/>
          </a:xfrm>
          <a:prstGeom prst="rect">
            <a:avLst/>
          </a:prstGeom>
          <a:noFill/>
        </p:spPr>
        <p:txBody>
          <a:bodyPr wrap="square" lIns="0" tIns="0" rIns="0" bIns="0" anchor="ctr">
            <a:spAutoFit/>
          </a:bodyPr>
          <a:lstStyle/>
          <a:p>
            <a:r>
              <a:rPr sz="1000" b="0" i="0" spc="80">
                <a:solidFill>
                  <a:srgbClr val="656A71"/>
                </a:solidFill>
                <a:latin typeface="Mark Offc For MC" panose="020B0504020101010102" pitchFamily="34" charset="0"/>
              </a:rPr>
              <a:t>POLICY CONDITION</a:t>
            </a:r>
          </a:p>
        </p:txBody>
      </p:sp>
      <p:sp>
        <p:nvSpPr>
          <p:cNvPr id="9" name="TextBox 8"/>
          <p:cNvSpPr txBox="1"/>
          <p:nvPr/>
        </p:nvSpPr>
        <p:spPr>
          <a:xfrm>
            <a:off x="9906000" y="2120156"/>
            <a:ext cx="2032000" cy="153888"/>
          </a:xfrm>
          <a:prstGeom prst="rect">
            <a:avLst/>
          </a:prstGeom>
          <a:noFill/>
        </p:spPr>
        <p:txBody>
          <a:bodyPr wrap="square" lIns="0" tIns="0" rIns="0" bIns="0" anchor="ctr">
            <a:spAutoFit/>
          </a:bodyPr>
          <a:lstStyle/>
          <a:p>
            <a:r>
              <a:rPr sz="1000" b="0" i="0" spc="80">
                <a:solidFill>
                  <a:srgbClr val="656A71"/>
                </a:solidFill>
                <a:latin typeface="Mark Offc For MC" panose="020B0504020101010102" pitchFamily="34" charset="0"/>
              </a:rPr>
              <a:t>STATUS</a:t>
            </a:r>
          </a:p>
        </p:txBody>
      </p:sp>
      <p:cxnSp>
        <p:nvCxnSpPr>
          <p:cNvPr id="10" name="Connector 9"/>
          <p:cNvCxnSpPr/>
          <p:nvPr/>
        </p:nvCxnSpPr>
        <p:spPr>
          <a:xfrm>
            <a:off x="609600" y="2413000"/>
            <a:ext cx="10972800" cy="0"/>
          </a:xfrm>
          <a:prstGeom prst="line">
            <a:avLst/>
          </a:prstGeom>
          <a:ln w="20320">
            <a:solidFill>
              <a:srgbClr val="1A1A1A"/>
            </a:solidFill>
          </a:ln>
        </p:spPr>
      </p:cxnSp>
      <p:sp>
        <p:nvSpPr>
          <p:cNvPr id="11" name="Rounded Rectangle 10"/>
          <p:cNvSpPr/>
          <p:nvPr/>
        </p:nvSpPr>
        <p:spPr>
          <a:xfrm>
            <a:off x="635000" y="2590800"/>
            <a:ext cx="406400" cy="406400"/>
          </a:xfrm>
          <a:prstGeom prst="roundRect">
            <a:avLst>
              <a:gd name="adj" fmla="val 26000"/>
            </a:avLst>
          </a:prstGeom>
          <a:solidFill>
            <a:srgbClr val="ECEEF2"/>
          </a:solidFill>
          <a:ln>
            <a:noFill/>
          </a:ln>
          <a:effectLst/>
        </p:spPr>
        <p:txBody>
          <a:bodyPr rtlCol="0" anchor="ctr"/>
          <a:lstStyle/>
          <a:p>
            <a:pPr algn="ctr"/>
            <a:endParaRPr>
              <a:latin typeface="Mark Offc For MC" panose="020B0504020101010102" pitchFamily="34" charset="0"/>
            </a:endParaRPr>
          </a:p>
        </p:txBody>
      </p:sp>
      <p:sp>
        <p:nvSpPr>
          <p:cNvPr id="13" name="TextBox 12"/>
          <p:cNvSpPr txBox="1"/>
          <p:nvPr/>
        </p:nvSpPr>
        <p:spPr>
          <a:xfrm>
            <a:off x="1270000" y="2693972"/>
            <a:ext cx="3073400" cy="200055"/>
          </a:xfrm>
          <a:prstGeom prst="rect">
            <a:avLst/>
          </a:prstGeom>
          <a:noFill/>
        </p:spPr>
        <p:txBody>
          <a:bodyPr wrap="square" lIns="0" tIns="0" rIns="0" bIns="0" anchor="ctr">
            <a:spAutoFit/>
          </a:bodyPr>
          <a:lstStyle/>
          <a:p>
            <a:r>
              <a:rPr sz="1300" b="0" i="0" dirty="0">
                <a:solidFill>
                  <a:srgbClr val="1A1A1A"/>
                </a:solidFill>
                <a:latin typeface="Mark Offc For MC Medium" panose="020B0604020101010102" pitchFamily="34" charset="0"/>
              </a:rPr>
              <a:t>Fraud / Chargebacks</a:t>
            </a:r>
          </a:p>
        </p:txBody>
      </p:sp>
      <p:sp>
        <p:nvSpPr>
          <p:cNvPr id="14" name="TextBox 13"/>
          <p:cNvSpPr txBox="1"/>
          <p:nvPr/>
        </p:nvSpPr>
        <p:spPr>
          <a:xfrm>
            <a:off x="4445000" y="2709361"/>
            <a:ext cx="5359400" cy="169277"/>
          </a:xfrm>
          <a:prstGeom prst="rect">
            <a:avLst/>
          </a:prstGeom>
          <a:noFill/>
        </p:spPr>
        <p:txBody>
          <a:bodyPr wrap="square" lIns="0" tIns="0" rIns="0" bIns="0" anchor="ctr">
            <a:spAutoFit/>
          </a:bodyPr>
          <a:lstStyle/>
          <a:p>
            <a:r>
              <a:rPr sz="1100" b="0" i="0">
                <a:solidFill>
                  <a:srgbClr val="3C3F44"/>
                </a:solidFill>
                <a:latin typeface="Mark Offc For MC" panose="020B0504020101010102" pitchFamily="34" charset="0"/>
              </a:rPr>
              <a:t>Must set privacy_basis: clearing_spend</a:t>
            </a:r>
          </a:p>
        </p:txBody>
      </p:sp>
      <p:sp>
        <p:nvSpPr>
          <p:cNvPr id="15" name="Rounded Rectangle 14"/>
          <p:cNvSpPr/>
          <p:nvPr/>
        </p:nvSpPr>
        <p:spPr>
          <a:xfrm>
            <a:off x="9906000" y="2641600"/>
            <a:ext cx="797560" cy="304800"/>
          </a:xfrm>
          <a:prstGeom prst="roundRect">
            <a:avLst>
              <a:gd name="adj" fmla="val 50000"/>
            </a:avLst>
          </a:prstGeom>
          <a:solidFill>
            <a:srgbClr val="FFFFFF"/>
          </a:solidFill>
          <a:ln w="13970">
            <a:solidFill>
              <a:srgbClr val="1D2735"/>
            </a:solidFill>
          </a:ln>
          <a:effectLst/>
        </p:spPr>
        <p:txBody>
          <a:bodyPr rtlCol="0" anchor="ctr"/>
          <a:lstStyle/>
          <a:p>
            <a:pPr algn="ctr"/>
            <a:endParaRPr>
              <a:latin typeface="Mark Offc For MC" panose="020B0504020101010102" pitchFamily="34" charset="0"/>
            </a:endParaRPr>
          </a:p>
        </p:txBody>
      </p:sp>
      <p:sp>
        <p:nvSpPr>
          <p:cNvPr id="16" name="TextBox 15"/>
          <p:cNvSpPr txBox="1"/>
          <p:nvPr/>
        </p:nvSpPr>
        <p:spPr>
          <a:xfrm>
            <a:off x="9906000" y="2724750"/>
            <a:ext cx="797560" cy="138499"/>
          </a:xfrm>
          <a:prstGeom prst="rect">
            <a:avLst/>
          </a:prstGeom>
          <a:noFill/>
        </p:spPr>
        <p:txBody>
          <a:bodyPr wrap="square" lIns="0" tIns="0" rIns="0" bIns="0" anchor="ctr">
            <a:spAutoFit/>
          </a:bodyPr>
          <a:lstStyle/>
          <a:p>
            <a:pPr algn="ctr"/>
            <a:r>
              <a:rPr sz="900" b="0" i="0">
                <a:solidFill>
                  <a:srgbClr val="1D2735"/>
                </a:solidFill>
                <a:latin typeface="Mark Offc For MC" panose="020B0504020101010102" pitchFamily="34" charset="0"/>
              </a:rPr>
              <a:t>ENFORCED</a:t>
            </a:r>
          </a:p>
        </p:txBody>
      </p:sp>
      <p:cxnSp>
        <p:nvCxnSpPr>
          <p:cNvPr id="17" name="Connector 16"/>
          <p:cNvCxnSpPr/>
          <p:nvPr/>
        </p:nvCxnSpPr>
        <p:spPr>
          <a:xfrm>
            <a:off x="609600" y="3175000"/>
            <a:ext cx="10972800" cy="0"/>
          </a:xfrm>
          <a:prstGeom prst="line">
            <a:avLst/>
          </a:prstGeom>
          <a:ln w="12700">
            <a:solidFill>
              <a:srgbClr val="EFECE7"/>
            </a:solidFill>
          </a:ln>
        </p:spPr>
      </p:cxnSp>
      <p:sp>
        <p:nvSpPr>
          <p:cNvPr id="18" name="Rounded Rectangle 17"/>
          <p:cNvSpPr/>
          <p:nvPr/>
        </p:nvSpPr>
        <p:spPr>
          <a:xfrm>
            <a:off x="635000" y="3352800"/>
            <a:ext cx="406400" cy="406400"/>
          </a:xfrm>
          <a:prstGeom prst="roundRect">
            <a:avLst>
              <a:gd name="adj" fmla="val 26000"/>
            </a:avLst>
          </a:prstGeom>
          <a:solidFill>
            <a:srgbClr val="FFEDE2"/>
          </a:solidFill>
          <a:ln>
            <a:noFill/>
          </a:ln>
          <a:effectLst/>
        </p:spPr>
        <p:txBody>
          <a:bodyPr rtlCol="0" anchor="ctr"/>
          <a:lstStyle/>
          <a:p>
            <a:pPr algn="ctr"/>
            <a:endParaRPr>
              <a:latin typeface="Mark Offc For MC" panose="020B0504020101010102" pitchFamily="34" charset="0"/>
            </a:endParaRPr>
          </a:p>
        </p:txBody>
      </p:sp>
      <p:sp>
        <p:nvSpPr>
          <p:cNvPr id="20" name="TextBox 19"/>
          <p:cNvSpPr txBox="1"/>
          <p:nvPr/>
        </p:nvSpPr>
        <p:spPr>
          <a:xfrm>
            <a:off x="1270000" y="3455972"/>
            <a:ext cx="3073400" cy="200055"/>
          </a:xfrm>
          <a:prstGeom prst="rect">
            <a:avLst/>
          </a:prstGeom>
          <a:noFill/>
        </p:spPr>
        <p:txBody>
          <a:bodyPr wrap="square" lIns="0" tIns="0" rIns="0" bIns="0" anchor="ctr">
            <a:spAutoFit/>
          </a:bodyPr>
          <a:lstStyle/>
          <a:p>
            <a:r>
              <a:rPr sz="1300" b="0" i="0">
                <a:solidFill>
                  <a:srgbClr val="1A1A1A"/>
                </a:solidFill>
                <a:latin typeface="Mark Offc For MC Medium" panose="020B0604020101010102" pitchFamily="34" charset="0"/>
              </a:rPr>
              <a:t>Digital Wallets</a:t>
            </a:r>
          </a:p>
        </p:txBody>
      </p:sp>
      <p:sp>
        <p:nvSpPr>
          <p:cNvPr id="21" name="TextBox 20"/>
          <p:cNvSpPr txBox="1"/>
          <p:nvPr/>
        </p:nvSpPr>
        <p:spPr>
          <a:xfrm>
            <a:off x="4445000" y="3471361"/>
            <a:ext cx="5359400" cy="169277"/>
          </a:xfrm>
          <a:prstGeom prst="rect">
            <a:avLst/>
          </a:prstGeom>
          <a:noFill/>
        </p:spPr>
        <p:txBody>
          <a:bodyPr wrap="square" lIns="0" tIns="0" rIns="0" bIns="0" anchor="ctr">
            <a:spAutoFit/>
          </a:bodyPr>
          <a:lstStyle/>
          <a:p>
            <a:r>
              <a:rPr sz="1100" b="0" i="0">
                <a:solidFill>
                  <a:srgbClr val="3C3F44"/>
                </a:solidFill>
                <a:latin typeface="Mark Offc For MC" panose="020B0504020101010102" pitchFamily="34" charset="0"/>
              </a:rPr>
              <a:t>Requires explicit Privacy-team review</a:t>
            </a:r>
          </a:p>
        </p:txBody>
      </p:sp>
      <p:sp>
        <p:nvSpPr>
          <p:cNvPr id="22" name="Rounded Rectangle 21"/>
          <p:cNvSpPr/>
          <p:nvPr/>
        </p:nvSpPr>
        <p:spPr>
          <a:xfrm>
            <a:off x="9906000" y="3403600"/>
            <a:ext cx="1295400" cy="304800"/>
          </a:xfrm>
          <a:prstGeom prst="roundRect">
            <a:avLst>
              <a:gd name="adj" fmla="val 50000"/>
            </a:avLst>
          </a:prstGeom>
          <a:solidFill>
            <a:srgbClr val="FFFFFF"/>
          </a:solidFill>
          <a:ln w="13970">
            <a:solidFill>
              <a:srgbClr val="D84E0C"/>
            </a:solidFill>
          </a:ln>
          <a:effectLst/>
        </p:spPr>
        <p:txBody>
          <a:bodyPr rtlCol="0" anchor="ctr"/>
          <a:lstStyle/>
          <a:p>
            <a:pPr algn="ctr"/>
            <a:endParaRPr>
              <a:latin typeface="Mark Offc For MC" panose="020B0504020101010102" pitchFamily="34" charset="0"/>
            </a:endParaRPr>
          </a:p>
        </p:txBody>
      </p:sp>
      <p:sp>
        <p:nvSpPr>
          <p:cNvPr id="23" name="TextBox 22"/>
          <p:cNvSpPr txBox="1"/>
          <p:nvPr/>
        </p:nvSpPr>
        <p:spPr>
          <a:xfrm>
            <a:off x="9906000" y="3486750"/>
            <a:ext cx="1295400" cy="138499"/>
          </a:xfrm>
          <a:prstGeom prst="rect">
            <a:avLst/>
          </a:prstGeom>
          <a:noFill/>
        </p:spPr>
        <p:txBody>
          <a:bodyPr wrap="square" lIns="0" tIns="0" rIns="0" bIns="0" anchor="ctr">
            <a:spAutoFit/>
          </a:bodyPr>
          <a:lstStyle/>
          <a:p>
            <a:pPr algn="ctr"/>
            <a:r>
              <a:rPr sz="900" b="0" i="0">
                <a:solidFill>
                  <a:srgbClr val="D84E0C"/>
                </a:solidFill>
                <a:latin typeface="Mark Offc For MC" panose="020B0504020101010102" pitchFamily="34" charset="0"/>
              </a:rPr>
              <a:t>MANUAL APPROVAL</a:t>
            </a:r>
          </a:p>
        </p:txBody>
      </p:sp>
      <p:cxnSp>
        <p:nvCxnSpPr>
          <p:cNvPr id="24" name="Connector 23"/>
          <p:cNvCxnSpPr/>
          <p:nvPr/>
        </p:nvCxnSpPr>
        <p:spPr>
          <a:xfrm>
            <a:off x="609600" y="3937000"/>
            <a:ext cx="10972800" cy="0"/>
          </a:xfrm>
          <a:prstGeom prst="line">
            <a:avLst/>
          </a:prstGeom>
          <a:ln w="12700">
            <a:solidFill>
              <a:srgbClr val="EFECE7"/>
            </a:solidFill>
          </a:ln>
        </p:spPr>
      </p:cxnSp>
      <p:sp>
        <p:nvSpPr>
          <p:cNvPr id="25" name="Rounded Rectangle 24"/>
          <p:cNvSpPr/>
          <p:nvPr/>
        </p:nvSpPr>
        <p:spPr>
          <a:xfrm>
            <a:off x="635000" y="4114800"/>
            <a:ext cx="406400" cy="406400"/>
          </a:xfrm>
          <a:prstGeom prst="roundRect">
            <a:avLst>
              <a:gd name="adj" fmla="val 26000"/>
            </a:avLst>
          </a:prstGeom>
          <a:solidFill>
            <a:srgbClr val="FFEDE2"/>
          </a:solidFill>
          <a:ln>
            <a:noFill/>
          </a:ln>
          <a:effectLst/>
        </p:spPr>
        <p:txBody>
          <a:bodyPr rtlCol="0" anchor="ctr"/>
          <a:lstStyle/>
          <a:p>
            <a:pPr algn="ctr"/>
            <a:endParaRPr>
              <a:latin typeface="Mark Offc For MC" panose="020B0504020101010102" pitchFamily="34" charset="0"/>
            </a:endParaRPr>
          </a:p>
        </p:txBody>
      </p:sp>
      <p:sp>
        <p:nvSpPr>
          <p:cNvPr id="27" name="TextBox 26"/>
          <p:cNvSpPr txBox="1"/>
          <p:nvPr/>
        </p:nvSpPr>
        <p:spPr>
          <a:xfrm>
            <a:off x="1270000" y="4217972"/>
            <a:ext cx="3073400" cy="200055"/>
          </a:xfrm>
          <a:prstGeom prst="rect">
            <a:avLst/>
          </a:prstGeom>
          <a:noFill/>
        </p:spPr>
        <p:txBody>
          <a:bodyPr wrap="square" lIns="0" tIns="0" rIns="0" bIns="0" anchor="ctr">
            <a:spAutoFit/>
          </a:bodyPr>
          <a:lstStyle/>
          <a:p>
            <a:r>
              <a:rPr sz="1300" b="0" i="0">
                <a:solidFill>
                  <a:srgbClr val="1A1A1A"/>
                </a:solidFill>
                <a:latin typeface="Mark Offc For MC Medium" panose="020B0604020101010102" pitchFamily="34" charset="0"/>
              </a:rPr>
              <a:t>Dual-Entity-Axis</a:t>
            </a:r>
          </a:p>
        </p:txBody>
      </p:sp>
      <p:sp>
        <p:nvSpPr>
          <p:cNvPr id="28" name="TextBox 27"/>
          <p:cNvSpPr txBox="1"/>
          <p:nvPr/>
        </p:nvSpPr>
        <p:spPr>
          <a:xfrm>
            <a:off x="4445000" y="4233361"/>
            <a:ext cx="5359400" cy="169277"/>
          </a:xfrm>
          <a:prstGeom prst="rect">
            <a:avLst/>
          </a:prstGeom>
          <a:noFill/>
        </p:spPr>
        <p:txBody>
          <a:bodyPr wrap="square" lIns="0" tIns="0" rIns="0" bIns="0" anchor="ctr">
            <a:spAutoFit/>
          </a:bodyPr>
          <a:lstStyle/>
          <a:p>
            <a:r>
              <a:rPr sz="1100" b="0" i="0">
                <a:solidFill>
                  <a:srgbClr val="3C3F44"/>
                </a:solidFill>
                <a:latin typeface="Mark Offc For MC" panose="020B0504020101010102" pitchFamily="34" charset="0"/>
              </a:rPr>
              <a:t>Requires explicit Privacy-team review</a:t>
            </a:r>
          </a:p>
        </p:txBody>
      </p:sp>
      <p:sp>
        <p:nvSpPr>
          <p:cNvPr id="29" name="Rounded Rectangle 28"/>
          <p:cNvSpPr/>
          <p:nvPr/>
        </p:nvSpPr>
        <p:spPr>
          <a:xfrm>
            <a:off x="9906000" y="4165600"/>
            <a:ext cx="1295400" cy="304800"/>
          </a:xfrm>
          <a:prstGeom prst="roundRect">
            <a:avLst>
              <a:gd name="adj" fmla="val 50000"/>
            </a:avLst>
          </a:prstGeom>
          <a:solidFill>
            <a:srgbClr val="FFFFFF"/>
          </a:solidFill>
          <a:ln w="13970">
            <a:solidFill>
              <a:srgbClr val="D84E0C"/>
            </a:solidFill>
          </a:ln>
          <a:effectLst/>
        </p:spPr>
        <p:txBody>
          <a:bodyPr rtlCol="0" anchor="ctr"/>
          <a:lstStyle/>
          <a:p>
            <a:pPr algn="ctr"/>
            <a:endParaRPr>
              <a:latin typeface="Mark Offc For MC" panose="020B0504020101010102" pitchFamily="34" charset="0"/>
            </a:endParaRPr>
          </a:p>
        </p:txBody>
      </p:sp>
      <p:sp>
        <p:nvSpPr>
          <p:cNvPr id="30" name="TextBox 29"/>
          <p:cNvSpPr txBox="1"/>
          <p:nvPr/>
        </p:nvSpPr>
        <p:spPr>
          <a:xfrm>
            <a:off x="9906000" y="4248750"/>
            <a:ext cx="1295400" cy="138499"/>
          </a:xfrm>
          <a:prstGeom prst="rect">
            <a:avLst/>
          </a:prstGeom>
          <a:noFill/>
        </p:spPr>
        <p:txBody>
          <a:bodyPr wrap="square" lIns="0" tIns="0" rIns="0" bIns="0" anchor="ctr">
            <a:spAutoFit/>
          </a:bodyPr>
          <a:lstStyle/>
          <a:p>
            <a:pPr algn="ctr"/>
            <a:r>
              <a:rPr sz="900" b="0" i="0">
                <a:solidFill>
                  <a:srgbClr val="D84E0C"/>
                </a:solidFill>
                <a:latin typeface="Mark Offc For MC" panose="020B0504020101010102" pitchFamily="34" charset="0"/>
              </a:rPr>
              <a:t>MANUAL APPROVAL</a:t>
            </a:r>
          </a:p>
        </p:txBody>
      </p:sp>
      <p:cxnSp>
        <p:nvCxnSpPr>
          <p:cNvPr id="31" name="Connector 30"/>
          <p:cNvCxnSpPr/>
          <p:nvPr/>
        </p:nvCxnSpPr>
        <p:spPr>
          <a:xfrm>
            <a:off x="609600" y="4699000"/>
            <a:ext cx="10972800" cy="0"/>
          </a:xfrm>
          <a:prstGeom prst="line">
            <a:avLst/>
          </a:prstGeom>
          <a:ln w="12700">
            <a:solidFill>
              <a:srgbClr val="EFECE7"/>
            </a:solidFill>
          </a:ln>
        </p:spPr>
      </p:cxnSp>
      <p:sp>
        <p:nvSpPr>
          <p:cNvPr id="32" name="Rounded Rectangle 31"/>
          <p:cNvSpPr/>
          <p:nvPr/>
        </p:nvSpPr>
        <p:spPr>
          <a:xfrm>
            <a:off x="635000" y="4876800"/>
            <a:ext cx="406400" cy="406400"/>
          </a:xfrm>
          <a:prstGeom prst="roundRect">
            <a:avLst>
              <a:gd name="adj" fmla="val 26000"/>
            </a:avLst>
          </a:prstGeom>
          <a:solidFill>
            <a:srgbClr val="ECEEF2"/>
          </a:solidFill>
          <a:ln>
            <a:noFill/>
          </a:ln>
          <a:effectLst/>
        </p:spPr>
        <p:txBody>
          <a:bodyPr rtlCol="0" anchor="ctr"/>
          <a:lstStyle/>
          <a:p>
            <a:pPr algn="ctr"/>
            <a:endParaRPr>
              <a:latin typeface="Mark Offc For MC" panose="020B0504020101010102" pitchFamily="34" charset="0"/>
            </a:endParaRPr>
          </a:p>
        </p:txBody>
      </p:sp>
      <p:sp>
        <p:nvSpPr>
          <p:cNvPr id="34" name="TextBox 33"/>
          <p:cNvSpPr txBox="1"/>
          <p:nvPr/>
        </p:nvSpPr>
        <p:spPr>
          <a:xfrm>
            <a:off x="1270000" y="4979972"/>
            <a:ext cx="3073400" cy="200055"/>
          </a:xfrm>
          <a:prstGeom prst="rect">
            <a:avLst/>
          </a:prstGeom>
          <a:noFill/>
        </p:spPr>
        <p:txBody>
          <a:bodyPr wrap="square" lIns="0" tIns="0" rIns="0" bIns="0" anchor="ctr">
            <a:spAutoFit/>
          </a:bodyPr>
          <a:lstStyle/>
          <a:p>
            <a:r>
              <a:rPr sz="1300" b="0" i="0">
                <a:solidFill>
                  <a:srgbClr val="1A1A1A"/>
                </a:solidFill>
                <a:latin typeface="Mark Offc For MC Medium" panose="020B0604020101010102" pitchFamily="34" charset="0"/>
              </a:rPr>
              <a:t>Top-Merchant Lists</a:t>
            </a:r>
          </a:p>
        </p:txBody>
      </p:sp>
      <p:sp>
        <p:nvSpPr>
          <p:cNvPr id="35" name="TextBox 34"/>
          <p:cNvSpPr txBox="1"/>
          <p:nvPr/>
        </p:nvSpPr>
        <p:spPr>
          <a:xfrm>
            <a:off x="4445000" y="4995361"/>
            <a:ext cx="5359400" cy="169277"/>
          </a:xfrm>
          <a:prstGeom prst="rect">
            <a:avLst/>
          </a:prstGeom>
          <a:noFill/>
        </p:spPr>
        <p:txBody>
          <a:bodyPr wrap="square" lIns="0" tIns="0" rIns="0" bIns="0" anchor="ctr">
            <a:spAutoFit/>
          </a:bodyPr>
          <a:lstStyle/>
          <a:p>
            <a:r>
              <a:rPr sz="1100" b="0" i="0">
                <a:solidFill>
                  <a:srgbClr val="3C3F44"/>
                </a:solidFill>
                <a:latin typeface="Mark Offc For MC" panose="020B0504020101010102" pitchFamily="34" charset="0"/>
              </a:rPr>
              <a:t>Strictly prohibited</a:t>
            </a:r>
          </a:p>
        </p:txBody>
      </p:sp>
      <p:sp>
        <p:nvSpPr>
          <p:cNvPr id="36" name="Rounded Rectangle 35"/>
          <p:cNvSpPr/>
          <p:nvPr/>
        </p:nvSpPr>
        <p:spPr>
          <a:xfrm>
            <a:off x="9906000" y="4927600"/>
            <a:ext cx="1082039" cy="304800"/>
          </a:xfrm>
          <a:prstGeom prst="roundRect">
            <a:avLst>
              <a:gd name="adj" fmla="val 50000"/>
            </a:avLst>
          </a:prstGeom>
          <a:solidFill>
            <a:srgbClr val="1A1A1A"/>
          </a:solidFill>
          <a:ln w="13970">
            <a:solidFill>
              <a:srgbClr val="1A1A1A"/>
            </a:solidFill>
          </a:ln>
          <a:effectLst/>
        </p:spPr>
        <p:txBody>
          <a:bodyPr rtlCol="0" anchor="ctr"/>
          <a:lstStyle/>
          <a:p>
            <a:pPr algn="ctr"/>
            <a:endParaRPr>
              <a:latin typeface="Mark Offc For MC" panose="020B0504020101010102" pitchFamily="34" charset="0"/>
            </a:endParaRPr>
          </a:p>
        </p:txBody>
      </p:sp>
      <p:sp>
        <p:nvSpPr>
          <p:cNvPr id="37" name="TextBox 36"/>
          <p:cNvSpPr txBox="1"/>
          <p:nvPr/>
        </p:nvSpPr>
        <p:spPr>
          <a:xfrm>
            <a:off x="9906000" y="5010750"/>
            <a:ext cx="1082039" cy="138499"/>
          </a:xfrm>
          <a:prstGeom prst="rect">
            <a:avLst/>
          </a:prstGeom>
          <a:noFill/>
        </p:spPr>
        <p:txBody>
          <a:bodyPr wrap="square" lIns="0" tIns="0" rIns="0" bIns="0" anchor="ctr">
            <a:spAutoFit/>
          </a:bodyPr>
          <a:lstStyle/>
          <a:p>
            <a:pPr algn="ctr"/>
            <a:r>
              <a:rPr sz="900" b="0" i="0">
                <a:solidFill>
                  <a:srgbClr val="FFFFFF"/>
                </a:solidFill>
                <a:latin typeface="Mark Offc For MC" panose="020B0504020101010102" pitchFamily="34" charset="0"/>
              </a:rPr>
              <a:t>HARD BLOCKED</a:t>
            </a:r>
          </a:p>
        </p:txBody>
      </p:sp>
      <p:cxnSp>
        <p:nvCxnSpPr>
          <p:cNvPr id="38" name="Connector 37"/>
          <p:cNvCxnSpPr/>
          <p:nvPr/>
        </p:nvCxnSpPr>
        <p:spPr>
          <a:xfrm>
            <a:off x="609600" y="5461000"/>
            <a:ext cx="10972800" cy="0"/>
          </a:xfrm>
          <a:prstGeom prst="line">
            <a:avLst/>
          </a:prstGeom>
          <a:ln w="12700">
            <a:solidFill>
              <a:srgbClr val="EFECE7"/>
            </a:solidFill>
          </a:ln>
        </p:spPr>
      </p:cxnSp>
      <p:sp>
        <p:nvSpPr>
          <p:cNvPr id="39" name="TextBox 38"/>
          <p:cNvSpPr txBox="1"/>
          <p:nvPr/>
        </p:nvSpPr>
        <p:spPr>
          <a:xfrm>
            <a:off x="609600" y="6509350"/>
            <a:ext cx="2540000" cy="138499"/>
          </a:xfrm>
          <a:prstGeom prst="rect">
            <a:avLst/>
          </a:prstGeom>
          <a:noFill/>
        </p:spPr>
        <p:txBody>
          <a:bodyPr wrap="square" lIns="0" tIns="0" rIns="0" bIns="0" anchor="ctr">
            <a:spAutoFit/>
          </a:bodyPr>
          <a:lstStyle/>
          <a:p>
            <a:r>
              <a:rPr sz="900" b="0" i="0">
                <a:solidFill>
                  <a:srgbClr val="FF671B"/>
                </a:solidFill>
                <a:latin typeface="Mark Offc For MC" panose="020B0504020101010102" pitchFamily="34" charset="0"/>
              </a:rPr>
              <a:t>10</a:t>
            </a:r>
            <a:r>
              <a:rPr sz="900" b="0" i="0">
                <a:solidFill>
                  <a:srgbClr val="9CA0A6"/>
                </a:solidFill>
                <a:latin typeface="Mark Offc For MC" panose="020B0504020101010102" pitchFamily="34" charset="0"/>
              </a:rPr>
              <a:t>  /  13</a:t>
            </a:r>
          </a:p>
        </p:txBody>
      </p:sp>
      <p:sp>
        <p:nvSpPr>
          <p:cNvPr id="40" name="TextBox 39"/>
          <p:cNvSpPr txBox="1"/>
          <p:nvPr/>
        </p:nvSpPr>
        <p:spPr>
          <a:xfrm>
            <a:off x="11912600" y="2931613"/>
            <a:ext cx="100027" cy="2021387"/>
          </a:xfrm>
          <a:prstGeom prst="rect">
            <a:avLst/>
          </a:prstGeom>
          <a:noFill/>
        </p:spPr>
        <p:txBody>
          <a:bodyPr vert="vert270" wrap="none" lIns="0" tIns="0" rIns="0" bIns="0">
            <a:spAutoFit/>
          </a:bodyPr>
          <a:lstStyle/>
          <a:p>
            <a:r>
              <a:rPr sz="650">
                <a:solidFill>
                  <a:srgbClr val="9CA0A6"/>
                </a:solidFill>
                <a:latin typeface="Mark Offc For MC" panose="020B0504020101010102" pitchFamily="34" charset="0"/>
              </a:rPr>
              <a:t>© 2025 Mastercard. Proprietary and Confidential.</a:t>
            </a:r>
          </a:p>
        </p:txBody>
      </p:sp>
      <p:sp>
        <p:nvSpPr>
          <p:cNvPr id="41" name="Oval 40"/>
          <p:cNvSpPr/>
          <p:nvPr/>
        </p:nvSpPr>
        <p:spPr>
          <a:xfrm>
            <a:off x="11080496" y="6248400"/>
            <a:ext cx="330200" cy="330200"/>
          </a:xfrm>
          <a:prstGeom prst="ellipse">
            <a:avLst/>
          </a:prstGeom>
          <a:solidFill>
            <a:srgbClr val="EB001B"/>
          </a:solidFill>
          <a:ln>
            <a:noFill/>
          </a:ln>
          <a:effectLst/>
        </p:spPr>
        <p:txBody>
          <a:bodyPr rtlCol="0" anchor="ctr"/>
          <a:lstStyle/>
          <a:p>
            <a:pPr algn="ctr"/>
            <a:endParaRPr>
              <a:latin typeface="Mark Offc For MC" panose="020B0504020101010102" pitchFamily="34" charset="0"/>
            </a:endParaRPr>
          </a:p>
        </p:txBody>
      </p:sp>
      <p:sp>
        <p:nvSpPr>
          <p:cNvPr id="42" name="Oval 41"/>
          <p:cNvSpPr/>
          <p:nvPr/>
        </p:nvSpPr>
        <p:spPr>
          <a:xfrm>
            <a:off x="11252200" y="6248400"/>
            <a:ext cx="330200" cy="330200"/>
          </a:xfrm>
          <a:prstGeom prst="ellipse">
            <a:avLst/>
          </a:prstGeom>
          <a:solidFill>
            <a:srgbClr val="F79E1B"/>
          </a:solidFill>
          <a:ln>
            <a:noFill/>
          </a:ln>
          <a:effectLst/>
        </p:spPr>
        <p:txBody>
          <a:bodyPr rtlCol="0" anchor="ctr"/>
          <a:lstStyle/>
          <a:p>
            <a:pPr algn="ctr"/>
            <a:endParaRPr>
              <a:latin typeface="Mark Offc For MC" panose="020B0504020101010102" pitchFamily="34" charset="0"/>
            </a:endParaRPr>
          </a:p>
        </p:txBody>
      </p:sp>
      <p:sp>
        <p:nvSpPr>
          <p:cNvPr id="43" name="Oval 42"/>
          <p:cNvSpPr/>
          <p:nvPr/>
        </p:nvSpPr>
        <p:spPr>
          <a:xfrm>
            <a:off x="11252200" y="6272339"/>
            <a:ext cx="158496" cy="282321"/>
          </a:xfrm>
          <a:prstGeom prst="ellipse">
            <a:avLst/>
          </a:prstGeom>
          <a:solidFill>
            <a:srgbClr val="FF5F00"/>
          </a:solidFill>
          <a:ln>
            <a:noFill/>
          </a:ln>
          <a:effectLst/>
        </p:spPr>
        <p:txBody>
          <a:bodyPr rtlCol="0" anchor="ctr"/>
          <a:lstStyle/>
          <a:p>
            <a:pPr algn="ctr"/>
            <a:endParaRPr>
              <a:latin typeface="Mark Offc For MC" panose="020B0504020101010102" pitchFamily="34" charset="0"/>
            </a:endParaRPr>
          </a:p>
        </p:txBody>
      </p:sp>
      <p:pic>
        <p:nvPicPr>
          <p:cNvPr id="45" name="Picture 44">
            <a:extLst>
              <a:ext uri="{FF2B5EF4-FFF2-40B4-BE49-F238E27FC236}">
                <a16:creationId xmlns:a16="http://schemas.microsoft.com/office/drawing/2014/main" id="{30D96EBA-4FE3-EC66-F7D0-ED63AAB6F76E}"/>
              </a:ext>
            </a:extLst>
          </p:cNvPr>
          <p:cNvPicPr>
            <a:picLocks noChangeAspect="1"/>
          </p:cNvPicPr>
          <p:nvPr/>
        </p:nvPicPr>
        <p:blipFill>
          <a:blip r:embed="rId2"/>
          <a:stretch>
            <a:fillRect/>
          </a:stretch>
        </p:blipFill>
        <p:spPr>
          <a:xfrm>
            <a:off x="639064" y="2594864"/>
            <a:ext cx="402336" cy="402336"/>
          </a:xfrm>
          <a:prstGeom prst="rect">
            <a:avLst/>
          </a:prstGeom>
        </p:spPr>
      </p:pic>
      <p:pic>
        <p:nvPicPr>
          <p:cNvPr id="47" name="Picture 46">
            <a:extLst>
              <a:ext uri="{FF2B5EF4-FFF2-40B4-BE49-F238E27FC236}">
                <a16:creationId xmlns:a16="http://schemas.microsoft.com/office/drawing/2014/main" id="{C0BDD5A5-CF8E-1BD6-6EB3-EF11494B4D36}"/>
              </a:ext>
            </a:extLst>
          </p:cNvPr>
          <p:cNvPicPr>
            <a:picLocks noChangeAspect="1"/>
          </p:cNvPicPr>
          <p:nvPr/>
        </p:nvPicPr>
        <p:blipFill>
          <a:blip r:embed="rId3"/>
          <a:stretch>
            <a:fillRect/>
          </a:stretch>
        </p:blipFill>
        <p:spPr>
          <a:xfrm>
            <a:off x="635000" y="3352800"/>
            <a:ext cx="402336" cy="402336"/>
          </a:xfrm>
          <a:prstGeom prst="rect">
            <a:avLst/>
          </a:prstGeom>
        </p:spPr>
      </p:pic>
      <p:pic>
        <p:nvPicPr>
          <p:cNvPr id="49" name="Picture 48">
            <a:extLst>
              <a:ext uri="{FF2B5EF4-FFF2-40B4-BE49-F238E27FC236}">
                <a16:creationId xmlns:a16="http://schemas.microsoft.com/office/drawing/2014/main" id="{009E9B7A-AED0-B23F-1070-9AFF7F6A790B}"/>
              </a:ext>
            </a:extLst>
          </p:cNvPr>
          <p:cNvPicPr>
            <a:picLocks noChangeAspect="1"/>
          </p:cNvPicPr>
          <p:nvPr/>
        </p:nvPicPr>
        <p:blipFill>
          <a:blip r:embed="rId4"/>
          <a:stretch>
            <a:fillRect/>
          </a:stretch>
        </p:blipFill>
        <p:spPr>
          <a:xfrm>
            <a:off x="635000" y="4114799"/>
            <a:ext cx="402336" cy="402336"/>
          </a:xfrm>
          <a:prstGeom prst="rect">
            <a:avLst/>
          </a:prstGeom>
        </p:spPr>
      </p:pic>
      <p:pic>
        <p:nvPicPr>
          <p:cNvPr id="51" name="Picture 50">
            <a:extLst>
              <a:ext uri="{FF2B5EF4-FFF2-40B4-BE49-F238E27FC236}">
                <a16:creationId xmlns:a16="http://schemas.microsoft.com/office/drawing/2014/main" id="{CE643F13-626F-D794-37B2-A7A17714B3B3}"/>
              </a:ext>
            </a:extLst>
          </p:cNvPr>
          <p:cNvPicPr>
            <a:picLocks noChangeAspect="1"/>
          </p:cNvPicPr>
          <p:nvPr/>
        </p:nvPicPr>
        <p:blipFill>
          <a:blip r:embed="rId5"/>
          <a:stretch>
            <a:fillRect/>
          </a:stretch>
        </p:blipFill>
        <p:spPr>
          <a:xfrm>
            <a:off x="639064" y="4880864"/>
            <a:ext cx="402336" cy="40233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endParaRPr>
              <a:latin typeface="Mark Offc For MC" panose="020B0504020101010102" pitchFamily="34" charset="0"/>
            </a:endParaRPr>
          </a:p>
        </p:txBody>
      </p:sp>
      <p:sp>
        <p:nvSpPr>
          <p:cNvPr id="3" name="TextBox 2"/>
          <p:cNvSpPr txBox="1"/>
          <p:nvPr/>
        </p:nvSpPr>
        <p:spPr>
          <a:xfrm>
            <a:off x="609600" y="508000"/>
            <a:ext cx="6350000" cy="161583"/>
          </a:xfrm>
          <a:prstGeom prst="rect">
            <a:avLst/>
          </a:prstGeom>
          <a:noFill/>
        </p:spPr>
        <p:txBody>
          <a:bodyPr wrap="square" lIns="0" tIns="0" rIns="0" bIns="0" anchor="t">
            <a:spAutoFit/>
          </a:bodyPr>
          <a:lstStyle/>
          <a:p>
            <a:r>
              <a:rPr sz="1050" b="0" i="0" spc="160" dirty="0">
                <a:solidFill>
                  <a:srgbClr val="FF671B"/>
                </a:solidFill>
                <a:latin typeface="Mark Offc For MC Light" panose="020B0504020101010102" pitchFamily="34" charset="0"/>
              </a:rPr>
              <a:t>DELIVERABLES</a:t>
            </a:r>
          </a:p>
        </p:txBody>
      </p:sp>
      <p:sp>
        <p:nvSpPr>
          <p:cNvPr id="4" name="TextBox 3"/>
          <p:cNvSpPr txBox="1"/>
          <p:nvPr/>
        </p:nvSpPr>
        <p:spPr>
          <a:xfrm>
            <a:off x="609600" y="736600"/>
            <a:ext cx="10972800" cy="340029"/>
          </a:xfrm>
          <a:prstGeom prst="rect">
            <a:avLst/>
          </a:prstGeom>
          <a:noFill/>
        </p:spPr>
        <p:txBody>
          <a:bodyPr wrap="square" lIns="0" tIns="0" rIns="0" bIns="0" anchor="t">
            <a:spAutoFit/>
          </a:bodyPr>
          <a:lstStyle/>
          <a:p>
            <a:pPr>
              <a:lnSpc>
                <a:spcPct val="106000"/>
              </a:lnSpc>
            </a:pPr>
            <a:r>
              <a:rPr sz="2300" b="0" i="0" dirty="0">
                <a:solidFill>
                  <a:srgbClr val="1A1A1A"/>
                </a:solidFill>
                <a:latin typeface="Mark Offc For MC" panose="020B0504020101010102" pitchFamily="34" charset="0"/>
              </a:rPr>
              <a:t>Actionable intelligence, packaged for decisions and for audit.</a:t>
            </a:r>
          </a:p>
        </p:txBody>
      </p:sp>
      <p:cxnSp>
        <p:nvCxnSpPr>
          <p:cNvPr id="5" name="Connector 4"/>
          <p:cNvCxnSpPr/>
          <p:nvPr/>
        </p:nvCxnSpPr>
        <p:spPr>
          <a:xfrm>
            <a:off x="609600" y="1625600"/>
            <a:ext cx="10972800" cy="0"/>
          </a:xfrm>
          <a:prstGeom prst="line">
            <a:avLst/>
          </a:prstGeom>
          <a:ln w="12700">
            <a:solidFill>
              <a:srgbClr val="E6E2DC"/>
            </a:solidFill>
          </a:ln>
        </p:spPr>
      </p:cxnSp>
      <p:sp>
        <p:nvSpPr>
          <p:cNvPr id="6" name="Rectangle 5"/>
          <p:cNvSpPr/>
          <p:nvPr/>
        </p:nvSpPr>
        <p:spPr>
          <a:xfrm>
            <a:off x="609600" y="1610360"/>
            <a:ext cx="685800" cy="30480"/>
          </a:xfrm>
          <a:prstGeom prst="rect">
            <a:avLst/>
          </a:prstGeom>
          <a:solidFill>
            <a:srgbClr val="FF671B"/>
          </a:solidFill>
          <a:ln>
            <a:noFill/>
          </a:ln>
          <a:effectLst/>
        </p:spPr>
        <p:txBody>
          <a:bodyPr rtlCol="0" anchor="ctr"/>
          <a:lstStyle/>
          <a:p>
            <a:pPr algn="ctr"/>
            <a:endParaRPr>
              <a:latin typeface="Mark Offc For MC" panose="020B0504020101010102" pitchFamily="34" charset="0"/>
            </a:endParaRPr>
          </a:p>
        </p:txBody>
      </p:sp>
      <p:sp>
        <p:nvSpPr>
          <p:cNvPr id="7" name="Rounded Rectangle 6"/>
          <p:cNvSpPr/>
          <p:nvPr/>
        </p:nvSpPr>
        <p:spPr>
          <a:xfrm>
            <a:off x="609600" y="1930400"/>
            <a:ext cx="3454400" cy="3810000"/>
          </a:xfrm>
          <a:prstGeom prst="roundRect">
            <a:avLst>
              <a:gd name="adj" fmla="val 5000"/>
            </a:avLst>
          </a:prstGeom>
          <a:solidFill>
            <a:srgbClr val="FFFFFF"/>
          </a:solidFill>
          <a:ln w="12700">
            <a:solidFill>
              <a:srgbClr val="E6E2DC"/>
            </a:solidFill>
          </a:ln>
          <a:effectLst>
            <a:outerShdw blurRad="114300" dist="38100" dir="5400000" rotWithShape="0">
              <a:srgbClr val="1A1A1A">
                <a:alpha val="22000"/>
              </a:srgbClr>
            </a:outerShdw>
          </a:effectLst>
        </p:spPr>
        <p:txBody>
          <a:bodyPr rtlCol="0" anchor="ctr"/>
          <a:lstStyle/>
          <a:p>
            <a:pPr algn="ctr"/>
            <a:endParaRPr>
              <a:latin typeface="Mark Offc For MC" panose="020B0504020101010102" pitchFamily="34" charset="0"/>
            </a:endParaRPr>
          </a:p>
        </p:txBody>
      </p:sp>
      <p:sp>
        <p:nvSpPr>
          <p:cNvPr id="8" name="Rounded Rectangle 7"/>
          <p:cNvSpPr/>
          <p:nvPr/>
        </p:nvSpPr>
        <p:spPr>
          <a:xfrm>
            <a:off x="889000" y="2235200"/>
            <a:ext cx="558800" cy="558800"/>
          </a:xfrm>
          <a:prstGeom prst="roundRect">
            <a:avLst>
              <a:gd name="adj" fmla="val 26000"/>
            </a:avLst>
          </a:prstGeom>
          <a:solidFill>
            <a:srgbClr val="FFEDE2"/>
          </a:solidFill>
          <a:ln>
            <a:noFill/>
          </a:ln>
          <a:effectLst/>
        </p:spPr>
        <p:txBody>
          <a:bodyPr rtlCol="0" anchor="ctr"/>
          <a:lstStyle/>
          <a:p>
            <a:pPr algn="ctr"/>
            <a:endParaRPr>
              <a:latin typeface="Mark Offc For MC" panose="020B0504020101010102" pitchFamily="34" charset="0"/>
            </a:endParaRPr>
          </a:p>
        </p:txBody>
      </p:sp>
      <p:sp>
        <p:nvSpPr>
          <p:cNvPr id="10" name="TextBox 9"/>
          <p:cNvSpPr txBox="1"/>
          <p:nvPr/>
        </p:nvSpPr>
        <p:spPr>
          <a:xfrm>
            <a:off x="2667000" y="2311400"/>
            <a:ext cx="1143000" cy="200055"/>
          </a:xfrm>
          <a:prstGeom prst="rect">
            <a:avLst/>
          </a:prstGeom>
          <a:noFill/>
        </p:spPr>
        <p:txBody>
          <a:bodyPr wrap="square" lIns="0" tIns="0" rIns="0" bIns="0" anchor="t">
            <a:spAutoFit/>
          </a:bodyPr>
          <a:lstStyle/>
          <a:p>
            <a:pPr algn="r"/>
            <a:r>
              <a:rPr sz="1300" b="0" i="0">
                <a:solidFill>
                  <a:srgbClr val="D84E0C"/>
                </a:solidFill>
                <a:latin typeface="Mark Offc For MC" panose="020B0504020101010102" pitchFamily="34" charset="0"/>
              </a:rPr>
              <a:t>.xlsx</a:t>
            </a:r>
          </a:p>
        </p:txBody>
      </p:sp>
      <p:sp>
        <p:nvSpPr>
          <p:cNvPr id="11" name="TextBox 10"/>
          <p:cNvSpPr txBox="1"/>
          <p:nvPr/>
        </p:nvSpPr>
        <p:spPr>
          <a:xfrm>
            <a:off x="889000" y="2971800"/>
            <a:ext cx="2895600" cy="253916"/>
          </a:xfrm>
          <a:prstGeom prst="rect">
            <a:avLst/>
          </a:prstGeom>
          <a:noFill/>
        </p:spPr>
        <p:txBody>
          <a:bodyPr wrap="square" lIns="0" tIns="0" rIns="0" bIns="0" anchor="t">
            <a:spAutoFit/>
          </a:bodyPr>
          <a:lstStyle/>
          <a:p>
            <a:r>
              <a:rPr sz="1650" b="0" i="0" dirty="0">
                <a:solidFill>
                  <a:srgbClr val="1A1A1A"/>
                </a:solidFill>
                <a:latin typeface="Mark Offc For MC Medium" panose="020B0604020101010102" pitchFamily="34" charset="0"/>
              </a:rPr>
              <a:t>The Excel Report</a:t>
            </a:r>
          </a:p>
        </p:txBody>
      </p:sp>
      <p:cxnSp>
        <p:nvCxnSpPr>
          <p:cNvPr id="12" name="Connector 11"/>
          <p:cNvCxnSpPr/>
          <p:nvPr/>
        </p:nvCxnSpPr>
        <p:spPr>
          <a:xfrm>
            <a:off x="889000" y="3454400"/>
            <a:ext cx="2895600" cy="0"/>
          </a:xfrm>
          <a:prstGeom prst="line">
            <a:avLst/>
          </a:prstGeom>
          <a:ln w="12700">
            <a:solidFill>
              <a:srgbClr val="EFECE7"/>
            </a:solidFill>
          </a:ln>
        </p:spPr>
      </p:cxnSp>
      <p:sp>
        <p:nvSpPr>
          <p:cNvPr id="13" name="TextBox 12"/>
          <p:cNvSpPr txBox="1"/>
          <p:nvPr/>
        </p:nvSpPr>
        <p:spPr>
          <a:xfrm>
            <a:off x="889000" y="3632200"/>
            <a:ext cx="2895600" cy="1322029"/>
          </a:xfrm>
          <a:prstGeom prst="rect">
            <a:avLst/>
          </a:prstGeom>
          <a:noFill/>
        </p:spPr>
        <p:txBody>
          <a:bodyPr wrap="square" lIns="0" tIns="0" rIns="0" bIns="0" anchor="t">
            <a:spAutoFit/>
          </a:bodyPr>
          <a:lstStyle/>
          <a:p>
            <a:pPr>
              <a:lnSpc>
                <a:spcPct val="118000"/>
              </a:lnSpc>
              <a:spcAft>
                <a:spcPts val="1000"/>
              </a:spcAft>
            </a:pPr>
            <a:r>
              <a:rPr sz="1200" b="0" i="0" dirty="0">
                <a:solidFill>
                  <a:srgbClr val="FF671B"/>
                </a:solidFill>
                <a:latin typeface="Mark Offc For MC" panose="020B0504020101010102" pitchFamily="34" charset="0"/>
              </a:rPr>
              <a:t>—  </a:t>
            </a:r>
            <a:r>
              <a:rPr sz="1200" b="0" i="0" dirty="0">
                <a:solidFill>
                  <a:srgbClr val="3C3F44"/>
                </a:solidFill>
                <a:latin typeface="Mark Offc For MC" panose="020B0504020101010102" pitchFamily="34" charset="0"/>
              </a:rPr>
              <a:t>Executive summary &amp; run metadata.</a:t>
            </a:r>
          </a:p>
          <a:p>
            <a:pPr>
              <a:lnSpc>
                <a:spcPct val="118000"/>
              </a:lnSpc>
              <a:spcAft>
                <a:spcPts val="1000"/>
              </a:spcAft>
            </a:pPr>
            <a:r>
              <a:rPr sz="1200" b="0" i="0" dirty="0">
                <a:solidFill>
                  <a:srgbClr val="FF671B"/>
                </a:solidFill>
                <a:latin typeface="Mark Offc For MC" panose="020B0504020101010102" pitchFamily="34" charset="0"/>
              </a:rPr>
              <a:t>—  </a:t>
            </a:r>
            <a:r>
              <a:rPr sz="1200" b="0" i="0" dirty="0">
                <a:solidFill>
                  <a:srgbClr val="3C3F44"/>
                </a:solidFill>
                <a:latin typeface="Mark Offc For MC" panose="020B0504020101010102" pitchFamily="34" charset="0"/>
              </a:rPr>
              <a:t>Category comparisons (Target vs. Best-in-Class).</a:t>
            </a:r>
          </a:p>
          <a:p>
            <a:pPr>
              <a:lnSpc>
                <a:spcPct val="118000"/>
              </a:lnSpc>
              <a:spcAft>
                <a:spcPts val="1000"/>
              </a:spcAft>
            </a:pPr>
            <a:r>
              <a:rPr sz="1200" b="0" i="0" dirty="0">
                <a:solidFill>
                  <a:srgbClr val="FF671B"/>
                </a:solidFill>
                <a:latin typeface="Mark Offc For MC" panose="020B0504020101010102" pitchFamily="34" charset="0"/>
              </a:rPr>
              <a:t>—  </a:t>
            </a:r>
            <a:r>
              <a:rPr sz="1200" b="0" i="0" dirty="0">
                <a:solidFill>
                  <a:srgbClr val="3C3F44"/>
                </a:solidFill>
                <a:latin typeface="Mark Offc For MC" panose="020B0504020101010102" pitchFamily="34" charset="0"/>
              </a:rPr>
              <a:t>Rank changes &amp; weight methods.</a:t>
            </a:r>
          </a:p>
        </p:txBody>
      </p:sp>
      <p:sp>
        <p:nvSpPr>
          <p:cNvPr id="14" name="Rounded Rectangle 13"/>
          <p:cNvSpPr/>
          <p:nvPr/>
        </p:nvSpPr>
        <p:spPr>
          <a:xfrm>
            <a:off x="4368800" y="1930400"/>
            <a:ext cx="3454400" cy="3810000"/>
          </a:xfrm>
          <a:prstGeom prst="roundRect">
            <a:avLst>
              <a:gd name="adj" fmla="val 5000"/>
            </a:avLst>
          </a:prstGeom>
          <a:solidFill>
            <a:srgbClr val="FFFFFF"/>
          </a:solidFill>
          <a:ln w="12700">
            <a:solidFill>
              <a:srgbClr val="E6E2DC"/>
            </a:solidFill>
          </a:ln>
          <a:effectLst>
            <a:outerShdw blurRad="114300" dist="38100" dir="5400000" rotWithShape="0">
              <a:srgbClr val="1A1A1A">
                <a:alpha val="22000"/>
              </a:srgbClr>
            </a:outerShdw>
          </a:effectLst>
        </p:spPr>
        <p:txBody>
          <a:bodyPr rtlCol="0" anchor="ctr"/>
          <a:lstStyle/>
          <a:p>
            <a:pPr algn="ctr"/>
            <a:endParaRPr>
              <a:latin typeface="Mark Offc For MC" panose="020B0504020101010102" pitchFamily="34" charset="0"/>
            </a:endParaRPr>
          </a:p>
        </p:txBody>
      </p:sp>
      <p:sp>
        <p:nvSpPr>
          <p:cNvPr id="15" name="Rounded Rectangle 14"/>
          <p:cNvSpPr/>
          <p:nvPr/>
        </p:nvSpPr>
        <p:spPr>
          <a:xfrm>
            <a:off x="4648200" y="2235200"/>
            <a:ext cx="558800" cy="558800"/>
          </a:xfrm>
          <a:prstGeom prst="roundRect">
            <a:avLst>
              <a:gd name="adj" fmla="val 26000"/>
            </a:avLst>
          </a:prstGeom>
          <a:solidFill>
            <a:srgbClr val="FFEDE2"/>
          </a:solidFill>
          <a:ln>
            <a:noFill/>
          </a:ln>
          <a:effectLst/>
        </p:spPr>
        <p:txBody>
          <a:bodyPr rtlCol="0" anchor="ctr"/>
          <a:lstStyle/>
          <a:p>
            <a:pPr algn="ctr"/>
            <a:endParaRPr>
              <a:latin typeface="Mark Offc For MC" panose="020B0504020101010102" pitchFamily="34" charset="0"/>
            </a:endParaRPr>
          </a:p>
        </p:txBody>
      </p:sp>
      <p:sp>
        <p:nvSpPr>
          <p:cNvPr id="17" name="TextBox 16"/>
          <p:cNvSpPr txBox="1"/>
          <p:nvPr/>
        </p:nvSpPr>
        <p:spPr>
          <a:xfrm>
            <a:off x="6426200" y="2311400"/>
            <a:ext cx="1143000" cy="200055"/>
          </a:xfrm>
          <a:prstGeom prst="rect">
            <a:avLst/>
          </a:prstGeom>
          <a:noFill/>
        </p:spPr>
        <p:txBody>
          <a:bodyPr wrap="square" lIns="0" tIns="0" rIns="0" bIns="0" anchor="t">
            <a:spAutoFit/>
          </a:bodyPr>
          <a:lstStyle/>
          <a:p>
            <a:pPr algn="r"/>
            <a:r>
              <a:rPr sz="1300" b="0" i="0">
                <a:solidFill>
                  <a:srgbClr val="D84E0C"/>
                </a:solidFill>
                <a:latin typeface="Mark Offc For MC" panose="020B0504020101010102" pitchFamily="34" charset="0"/>
              </a:rPr>
              <a:t>.csv</a:t>
            </a:r>
          </a:p>
        </p:txBody>
      </p:sp>
      <p:sp>
        <p:nvSpPr>
          <p:cNvPr id="18" name="TextBox 17"/>
          <p:cNvSpPr txBox="1"/>
          <p:nvPr/>
        </p:nvSpPr>
        <p:spPr>
          <a:xfrm>
            <a:off x="4648200" y="2971800"/>
            <a:ext cx="2895600" cy="253916"/>
          </a:xfrm>
          <a:prstGeom prst="rect">
            <a:avLst/>
          </a:prstGeom>
          <a:noFill/>
        </p:spPr>
        <p:txBody>
          <a:bodyPr wrap="square" lIns="0" tIns="0" rIns="0" bIns="0" anchor="t">
            <a:spAutoFit/>
          </a:bodyPr>
          <a:lstStyle/>
          <a:p>
            <a:r>
              <a:rPr sz="1650" b="0" i="0">
                <a:solidFill>
                  <a:srgbClr val="1A1A1A"/>
                </a:solidFill>
                <a:latin typeface="Mark Offc For MC Medium" panose="020B0604020101010102" pitchFamily="34" charset="0"/>
              </a:rPr>
              <a:t>The Balanced Export</a:t>
            </a:r>
          </a:p>
        </p:txBody>
      </p:sp>
      <p:cxnSp>
        <p:nvCxnSpPr>
          <p:cNvPr id="19" name="Connector 18"/>
          <p:cNvCxnSpPr/>
          <p:nvPr/>
        </p:nvCxnSpPr>
        <p:spPr>
          <a:xfrm>
            <a:off x="4648200" y="3454400"/>
            <a:ext cx="2895600" cy="0"/>
          </a:xfrm>
          <a:prstGeom prst="line">
            <a:avLst/>
          </a:prstGeom>
          <a:ln w="12700">
            <a:solidFill>
              <a:srgbClr val="EFECE7"/>
            </a:solidFill>
          </a:ln>
        </p:spPr>
      </p:cxnSp>
      <p:sp>
        <p:nvSpPr>
          <p:cNvPr id="20" name="TextBox 19"/>
          <p:cNvSpPr txBox="1"/>
          <p:nvPr/>
        </p:nvSpPr>
        <p:spPr>
          <a:xfrm>
            <a:off x="4648200" y="3632200"/>
            <a:ext cx="2895600" cy="1322029"/>
          </a:xfrm>
          <a:prstGeom prst="rect">
            <a:avLst/>
          </a:prstGeom>
          <a:noFill/>
        </p:spPr>
        <p:txBody>
          <a:bodyPr wrap="square" lIns="0" tIns="0" rIns="0" bIns="0" anchor="t">
            <a:spAutoFit/>
          </a:bodyPr>
          <a:lstStyle/>
          <a:p>
            <a:pPr>
              <a:lnSpc>
                <a:spcPct val="118000"/>
              </a:lnSpc>
              <a:spcAft>
                <a:spcPts val="1000"/>
              </a:spcAft>
            </a:pPr>
            <a:r>
              <a:rPr sz="1200" b="0" i="0" dirty="0">
                <a:solidFill>
                  <a:srgbClr val="FF671B"/>
                </a:solidFill>
                <a:latin typeface="Mark Offc For MC" panose="020B0504020101010102" pitchFamily="34" charset="0"/>
              </a:rPr>
              <a:t>—  </a:t>
            </a:r>
            <a:r>
              <a:rPr sz="1200" b="0" i="0" dirty="0">
                <a:solidFill>
                  <a:srgbClr val="3C3F44"/>
                </a:solidFill>
                <a:latin typeface="Mark Offc For MC" panose="020B0504020101010102" pitchFamily="34" charset="0"/>
              </a:rPr>
              <a:t>BI-ready for Tableau &amp; Power BI.</a:t>
            </a:r>
          </a:p>
          <a:p>
            <a:pPr>
              <a:lnSpc>
                <a:spcPct val="118000"/>
              </a:lnSpc>
              <a:spcAft>
                <a:spcPts val="1000"/>
              </a:spcAft>
            </a:pPr>
            <a:r>
              <a:rPr sz="1200" b="0" i="0" dirty="0">
                <a:solidFill>
                  <a:srgbClr val="FF671B"/>
                </a:solidFill>
                <a:latin typeface="Mark Offc For MC" panose="020B0504020101010102" pitchFamily="34" charset="0"/>
              </a:rPr>
              <a:t>—  </a:t>
            </a:r>
            <a:r>
              <a:rPr sz="1200" b="0" i="0" dirty="0">
                <a:solidFill>
                  <a:srgbClr val="3C3F44"/>
                </a:solidFill>
                <a:latin typeface="Mark Offc For MC" panose="020B0504020101010102" pitchFamily="34" charset="0"/>
              </a:rPr>
              <a:t>Enriched metrics (</a:t>
            </a:r>
            <a:r>
              <a:rPr sz="1200" b="0" i="0" dirty="0" err="1">
                <a:solidFill>
                  <a:srgbClr val="3C3F44"/>
                </a:solidFill>
                <a:latin typeface="Mark Offc For MC" panose="020B0504020101010102" pitchFamily="34" charset="0"/>
              </a:rPr>
              <a:t>Distortion_PP</a:t>
            </a:r>
            <a:r>
              <a:rPr sz="1200" b="0" i="0" dirty="0">
                <a:solidFill>
                  <a:srgbClr val="3C3F44"/>
                </a:solidFill>
                <a:latin typeface="Mark Offc For MC" panose="020B0504020101010102" pitchFamily="34" charset="0"/>
              </a:rPr>
              <a:t>, </a:t>
            </a:r>
            <a:r>
              <a:rPr sz="1200" b="0" i="0" dirty="0" err="1">
                <a:solidFill>
                  <a:srgbClr val="3C3F44"/>
                </a:solidFill>
                <a:latin typeface="Mark Offc For MC" panose="020B0504020101010102" pitchFamily="34" charset="0"/>
              </a:rPr>
              <a:t>Raw_Share</a:t>
            </a:r>
            <a:r>
              <a:rPr sz="1200" b="0" i="0" dirty="0">
                <a:solidFill>
                  <a:srgbClr val="3C3F44"/>
                </a:solidFill>
                <a:latin typeface="Mark Offc For MC" panose="020B0504020101010102" pitchFamily="34" charset="0"/>
              </a:rPr>
              <a:t>).</a:t>
            </a:r>
          </a:p>
          <a:p>
            <a:pPr>
              <a:lnSpc>
                <a:spcPct val="118000"/>
              </a:lnSpc>
              <a:spcAft>
                <a:spcPts val="1000"/>
              </a:spcAft>
            </a:pPr>
            <a:r>
              <a:rPr sz="1200" b="0" i="0" dirty="0">
                <a:solidFill>
                  <a:srgbClr val="FF671B"/>
                </a:solidFill>
                <a:latin typeface="Mark Offc For MC" panose="020B0504020101010102" pitchFamily="34" charset="0"/>
              </a:rPr>
              <a:t>—  </a:t>
            </a:r>
            <a:r>
              <a:rPr sz="1200" b="0" i="0" dirty="0">
                <a:solidFill>
                  <a:srgbClr val="3C3F44"/>
                </a:solidFill>
                <a:latin typeface="Mark Offc For MC" panose="020B0504020101010102" pitchFamily="34" charset="0"/>
              </a:rPr>
              <a:t>Schema-validated for parity with Excel.</a:t>
            </a:r>
          </a:p>
        </p:txBody>
      </p:sp>
      <p:sp>
        <p:nvSpPr>
          <p:cNvPr id="21" name="Rounded Rectangle 20"/>
          <p:cNvSpPr/>
          <p:nvPr/>
        </p:nvSpPr>
        <p:spPr>
          <a:xfrm>
            <a:off x="8128000" y="1930400"/>
            <a:ext cx="3454400" cy="3810000"/>
          </a:xfrm>
          <a:prstGeom prst="roundRect">
            <a:avLst>
              <a:gd name="adj" fmla="val 5000"/>
            </a:avLst>
          </a:prstGeom>
          <a:solidFill>
            <a:srgbClr val="FFFFFF"/>
          </a:solidFill>
          <a:ln w="12700">
            <a:solidFill>
              <a:srgbClr val="E6E2DC"/>
            </a:solidFill>
          </a:ln>
          <a:effectLst>
            <a:outerShdw blurRad="114300" dist="38100" dir="5400000" rotWithShape="0">
              <a:srgbClr val="1A1A1A">
                <a:alpha val="22000"/>
              </a:srgbClr>
            </a:outerShdw>
          </a:effectLst>
        </p:spPr>
        <p:txBody>
          <a:bodyPr rtlCol="0" anchor="ctr"/>
          <a:lstStyle/>
          <a:p>
            <a:pPr algn="ctr"/>
            <a:endParaRPr>
              <a:latin typeface="Mark Offc For MC" panose="020B0504020101010102" pitchFamily="34" charset="0"/>
            </a:endParaRPr>
          </a:p>
        </p:txBody>
      </p:sp>
      <p:sp>
        <p:nvSpPr>
          <p:cNvPr id="22" name="Rounded Rectangle 21"/>
          <p:cNvSpPr/>
          <p:nvPr/>
        </p:nvSpPr>
        <p:spPr>
          <a:xfrm>
            <a:off x="8407400" y="2235200"/>
            <a:ext cx="558800" cy="558800"/>
          </a:xfrm>
          <a:prstGeom prst="roundRect">
            <a:avLst>
              <a:gd name="adj" fmla="val 26000"/>
            </a:avLst>
          </a:prstGeom>
          <a:solidFill>
            <a:srgbClr val="FFEDE2"/>
          </a:solidFill>
          <a:ln>
            <a:noFill/>
          </a:ln>
          <a:effectLst/>
        </p:spPr>
        <p:txBody>
          <a:bodyPr rtlCol="0" anchor="ctr"/>
          <a:lstStyle/>
          <a:p>
            <a:pPr algn="ctr"/>
            <a:endParaRPr>
              <a:latin typeface="Mark Offc For MC" panose="020B0504020101010102" pitchFamily="34" charset="0"/>
            </a:endParaRPr>
          </a:p>
        </p:txBody>
      </p:sp>
      <p:sp>
        <p:nvSpPr>
          <p:cNvPr id="24" name="TextBox 23"/>
          <p:cNvSpPr txBox="1"/>
          <p:nvPr/>
        </p:nvSpPr>
        <p:spPr>
          <a:xfrm>
            <a:off x="10185400" y="2311400"/>
            <a:ext cx="1143000" cy="200055"/>
          </a:xfrm>
          <a:prstGeom prst="rect">
            <a:avLst/>
          </a:prstGeom>
          <a:noFill/>
        </p:spPr>
        <p:txBody>
          <a:bodyPr wrap="square" lIns="0" tIns="0" rIns="0" bIns="0" anchor="t">
            <a:spAutoFit/>
          </a:bodyPr>
          <a:lstStyle/>
          <a:p>
            <a:pPr algn="r"/>
            <a:r>
              <a:rPr sz="1300" b="0" i="0">
                <a:solidFill>
                  <a:srgbClr val="D84E0C"/>
                </a:solidFill>
                <a:latin typeface="Mark Offc For MC" panose="020B0504020101010102" pitchFamily="34" charset="0"/>
              </a:rPr>
              <a:t>.zip</a:t>
            </a:r>
          </a:p>
        </p:txBody>
      </p:sp>
      <p:sp>
        <p:nvSpPr>
          <p:cNvPr id="25" name="TextBox 24"/>
          <p:cNvSpPr txBox="1"/>
          <p:nvPr/>
        </p:nvSpPr>
        <p:spPr>
          <a:xfrm>
            <a:off x="8407400" y="2971800"/>
            <a:ext cx="2895600" cy="253916"/>
          </a:xfrm>
          <a:prstGeom prst="rect">
            <a:avLst/>
          </a:prstGeom>
          <a:noFill/>
        </p:spPr>
        <p:txBody>
          <a:bodyPr wrap="square" lIns="0" tIns="0" rIns="0" bIns="0" anchor="t">
            <a:spAutoFit/>
          </a:bodyPr>
          <a:lstStyle/>
          <a:p>
            <a:r>
              <a:rPr sz="1650" b="0" i="0">
                <a:solidFill>
                  <a:srgbClr val="1A1A1A"/>
                </a:solidFill>
                <a:latin typeface="Mark Offc For MC Medium" panose="020B0604020101010102" pitchFamily="34" charset="0"/>
              </a:rPr>
              <a:t>The Audit Package</a:t>
            </a:r>
          </a:p>
        </p:txBody>
      </p:sp>
      <p:cxnSp>
        <p:nvCxnSpPr>
          <p:cNvPr id="26" name="Connector 25"/>
          <p:cNvCxnSpPr/>
          <p:nvPr/>
        </p:nvCxnSpPr>
        <p:spPr>
          <a:xfrm>
            <a:off x="8407400" y="3454400"/>
            <a:ext cx="2895600" cy="0"/>
          </a:xfrm>
          <a:prstGeom prst="line">
            <a:avLst/>
          </a:prstGeom>
          <a:ln w="12700">
            <a:solidFill>
              <a:srgbClr val="EFECE7"/>
            </a:solidFill>
          </a:ln>
        </p:spPr>
      </p:cxnSp>
      <p:sp>
        <p:nvSpPr>
          <p:cNvPr id="27" name="TextBox 26"/>
          <p:cNvSpPr txBox="1"/>
          <p:nvPr/>
        </p:nvSpPr>
        <p:spPr>
          <a:xfrm>
            <a:off x="8407400" y="3632200"/>
            <a:ext cx="2895600" cy="975908"/>
          </a:xfrm>
          <a:prstGeom prst="rect">
            <a:avLst/>
          </a:prstGeom>
          <a:noFill/>
        </p:spPr>
        <p:txBody>
          <a:bodyPr wrap="square" lIns="0" tIns="0" rIns="0" bIns="0" anchor="t">
            <a:spAutoFit/>
          </a:bodyPr>
          <a:lstStyle/>
          <a:p>
            <a:pPr>
              <a:lnSpc>
                <a:spcPct val="118000"/>
              </a:lnSpc>
              <a:spcAft>
                <a:spcPts val="1000"/>
              </a:spcAft>
            </a:pPr>
            <a:r>
              <a:rPr sz="1200" b="0" i="0" dirty="0">
                <a:solidFill>
                  <a:srgbClr val="FF671B"/>
                </a:solidFill>
                <a:latin typeface="Mark Offc For MC" panose="020B0504020101010102" pitchFamily="34" charset="0"/>
              </a:rPr>
              <a:t>—  </a:t>
            </a:r>
            <a:r>
              <a:rPr sz="1200" b="0" i="0" dirty="0">
                <a:solidFill>
                  <a:srgbClr val="3C3F44"/>
                </a:solidFill>
                <a:latin typeface="Mark Offc For MC" panose="020B0504020101010102" pitchFamily="34" charset="0"/>
              </a:rPr>
              <a:t>Immutable snapshot of inputs, config &amp; logs.</a:t>
            </a:r>
          </a:p>
          <a:p>
            <a:pPr>
              <a:lnSpc>
                <a:spcPct val="118000"/>
              </a:lnSpc>
              <a:spcAft>
                <a:spcPts val="1000"/>
              </a:spcAft>
            </a:pPr>
            <a:r>
              <a:rPr sz="1200" b="0" i="0" dirty="0">
                <a:solidFill>
                  <a:srgbClr val="FF671B"/>
                </a:solidFill>
                <a:latin typeface="Mark Offc For MC" panose="020B0504020101010102" pitchFamily="34" charset="0"/>
              </a:rPr>
              <a:t>—  </a:t>
            </a:r>
            <a:r>
              <a:rPr sz="1200" b="0" i="0" dirty="0">
                <a:solidFill>
                  <a:srgbClr val="3C3F44"/>
                </a:solidFill>
                <a:latin typeface="Mark Offc For MC" panose="020B0504020101010102" pitchFamily="34" charset="0"/>
              </a:rPr>
              <a:t>Ready for immediate regulatory submission.</a:t>
            </a:r>
          </a:p>
        </p:txBody>
      </p:sp>
      <p:sp>
        <p:nvSpPr>
          <p:cNvPr id="28" name="TextBox 27"/>
          <p:cNvSpPr txBox="1"/>
          <p:nvPr/>
        </p:nvSpPr>
        <p:spPr>
          <a:xfrm>
            <a:off x="609600" y="6509350"/>
            <a:ext cx="2540000" cy="138499"/>
          </a:xfrm>
          <a:prstGeom prst="rect">
            <a:avLst/>
          </a:prstGeom>
          <a:noFill/>
        </p:spPr>
        <p:txBody>
          <a:bodyPr wrap="square" lIns="0" tIns="0" rIns="0" bIns="0" anchor="ctr">
            <a:spAutoFit/>
          </a:bodyPr>
          <a:lstStyle/>
          <a:p>
            <a:r>
              <a:rPr sz="900" b="0" i="0">
                <a:solidFill>
                  <a:srgbClr val="FF671B"/>
                </a:solidFill>
                <a:latin typeface="Mark Offc For MC" panose="020B0504020101010102" pitchFamily="34" charset="0"/>
              </a:rPr>
              <a:t>11</a:t>
            </a:r>
            <a:r>
              <a:rPr sz="900" b="0" i="0">
                <a:solidFill>
                  <a:srgbClr val="9CA0A6"/>
                </a:solidFill>
                <a:latin typeface="Mark Offc For MC" panose="020B0504020101010102" pitchFamily="34" charset="0"/>
              </a:rPr>
              <a:t>  /  13</a:t>
            </a:r>
          </a:p>
        </p:txBody>
      </p:sp>
      <p:sp>
        <p:nvSpPr>
          <p:cNvPr id="29" name="TextBox 28"/>
          <p:cNvSpPr txBox="1"/>
          <p:nvPr/>
        </p:nvSpPr>
        <p:spPr>
          <a:xfrm>
            <a:off x="11912600" y="2931613"/>
            <a:ext cx="100027" cy="2021387"/>
          </a:xfrm>
          <a:prstGeom prst="rect">
            <a:avLst/>
          </a:prstGeom>
          <a:noFill/>
        </p:spPr>
        <p:txBody>
          <a:bodyPr vert="vert270" wrap="none" lIns="0" tIns="0" rIns="0" bIns="0">
            <a:spAutoFit/>
          </a:bodyPr>
          <a:lstStyle/>
          <a:p>
            <a:r>
              <a:rPr sz="650">
                <a:solidFill>
                  <a:srgbClr val="9CA0A6"/>
                </a:solidFill>
                <a:latin typeface="Mark Offc For MC" panose="020B0504020101010102" pitchFamily="34" charset="0"/>
              </a:rPr>
              <a:t>© 2025 Mastercard. Proprietary and Confidential.</a:t>
            </a:r>
          </a:p>
        </p:txBody>
      </p:sp>
      <p:sp>
        <p:nvSpPr>
          <p:cNvPr id="30" name="Oval 29"/>
          <p:cNvSpPr/>
          <p:nvPr/>
        </p:nvSpPr>
        <p:spPr>
          <a:xfrm>
            <a:off x="11080496" y="6248400"/>
            <a:ext cx="330200" cy="330200"/>
          </a:xfrm>
          <a:prstGeom prst="ellipse">
            <a:avLst/>
          </a:prstGeom>
          <a:solidFill>
            <a:srgbClr val="EB001B"/>
          </a:solidFill>
          <a:ln>
            <a:noFill/>
          </a:ln>
          <a:effectLst/>
        </p:spPr>
        <p:txBody>
          <a:bodyPr rtlCol="0" anchor="ctr"/>
          <a:lstStyle/>
          <a:p>
            <a:pPr algn="ctr"/>
            <a:endParaRPr>
              <a:latin typeface="Mark Offc For MC" panose="020B0504020101010102" pitchFamily="34" charset="0"/>
            </a:endParaRPr>
          </a:p>
        </p:txBody>
      </p:sp>
      <p:sp>
        <p:nvSpPr>
          <p:cNvPr id="31" name="Oval 30"/>
          <p:cNvSpPr/>
          <p:nvPr/>
        </p:nvSpPr>
        <p:spPr>
          <a:xfrm>
            <a:off x="11252200" y="6248400"/>
            <a:ext cx="330200" cy="330200"/>
          </a:xfrm>
          <a:prstGeom prst="ellipse">
            <a:avLst/>
          </a:prstGeom>
          <a:solidFill>
            <a:srgbClr val="F79E1B"/>
          </a:solidFill>
          <a:ln>
            <a:noFill/>
          </a:ln>
          <a:effectLst/>
        </p:spPr>
        <p:txBody>
          <a:bodyPr rtlCol="0" anchor="ctr"/>
          <a:lstStyle/>
          <a:p>
            <a:pPr algn="ctr"/>
            <a:endParaRPr>
              <a:latin typeface="Mark Offc For MC" panose="020B0504020101010102" pitchFamily="34" charset="0"/>
            </a:endParaRPr>
          </a:p>
        </p:txBody>
      </p:sp>
      <p:sp>
        <p:nvSpPr>
          <p:cNvPr id="32" name="Oval 31"/>
          <p:cNvSpPr/>
          <p:nvPr/>
        </p:nvSpPr>
        <p:spPr>
          <a:xfrm>
            <a:off x="11252200" y="6272339"/>
            <a:ext cx="158496" cy="282321"/>
          </a:xfrm>
          <a:prstGeom prst="ellipse">
            <a:avLst/>
          </a:prstGeom>
          <a:solidFill>
            <a:srgbClr val="FF5F00"/>
          </a:solidFill>
          <a:ln>
            <a:noFill/>
          </a:ln>
          <a:effectLst/>
        </p:spPr>
        <p:txBody>
          <a:bodyPr rtlCol="0" anchor="ctr"/>
          <a:lstStyle/>
          <a:p>
            <a:pPr algn="ctr"/>
            <a:endParaRPr>
              <a:latin typeface="Mark Offc For MC" panose="020B0504020101010102" pitchFamily="34" charset="0"/>
            </a:endParaRPr>
          </a:p>
        </p:txBody>
      </p:sp>
      <p:pic>
        <p:nvPicPr>
          <p:cNvPr id="34" name="Picture 33">
            <a:extLst>
              <a:ext uri="{FF2B5EF4-FFF2-40B4-BE49-F238E27FC236}">
                <a16:creationId xmlns:a16="http://schemas.microsoft.com/office/drawing/2014/main" id="{1E18CEFF-043C-1899-FDDC-123888D9B11B}"/>
              </a:ext>
            </a:extLst>
          </p:cNvPr>
          <p:cNvPicPr>
            <a:picLocks noChangeAspect="1"/>
          </p:cNvPicPr>
          <p:nvPr/>
        </p:nvPicPr>
        <p:blipFill>
          <a:blip r:embed="rId2"/>
          <a:stretch>
            <a:fillRect/>
          </a:stretch>
        </p:blipFill>
        <p:spPr>
          <a:xfrm>
            <a:off x="939884" y="2296244"/>
            <a:ext cx="446872" cy="446872"/>
          </a:xfrm>
          <a:prstGeom prst="rect">
            <a:avLst/>
          </a:prstGeom>
        </p:spPr>
      </p:pic>
      <p:pic>
        <p:nvPicPr>
          <p:cNvPr id="36" name="Picture 35">
            <a:extLst>
              <a:ext uri="{FF2B5EF4-FFF2-40B4-BE49-F238E27FC236}">
                <a16:creationId xmlns:a16="http://schemas.microsoft.com/office/drawing/2014/main" id="{D5DC0901-10D9-E174-BA95-D3E5BE21DCFA}"/>
              </a:ext>
            </a:extLst>
          </p:cNvPr>
          <p:cNvPicPr>
            <a:picLocks noChangeAspect="1"/>
          </p:cNvPicPr>
          <p:nvPr/>
        </p:nvPicPr>
        <p:blipFill>
          <a:blip r:embed="rId3"/>
          <a:stretch>
            <a:fillRect/>
          </a:stretch>
        </p:blipFill>
        <p:spPr>
          <a:xfrm>
            <a:off x="4703572" y="2287427"/>
            <a:ext cx="448056" cy="448056"/>
          </a:xfrm>
          <a:prstGeom prst="rect">
            <a:avLst/>
          </a:prstGeom>
        </p:spPr>
      </p:pic>
      <p:pic>
        <p:nvPicPr>
          <p:cNvPr id="38" name="Picture 37">
            <a:extLst>
              <a:ext uri="{FF2B5EF4-FFF2-40B4-BE49-F238E27FC236}">
                <a16:creationId xmlns:a16="http://schemas.microsoft.com/office/drawing/2014/main" id="{1D58F0A6-880C-5DB5-54A8-A19FDAE7FEF6}"/>
              </a:ext>
            </a:extLst>
          </p:cNvPr>
          <p:cNvPicPr>
            <a:picLocks noChangeAspect="1"/>
          </p:cNvPicPr>
          <p:nvPr/>
        </p:nvPicPr>
        <p:blipFill>
          <a:blip r:embed="rId4"/>
          <a:stretch>
            <a:fillRect/>
          </a:stretch>
        </p:blipFill>
        <p:spPr>
          <a:xfrm>
            <a:off x="8459216" y="2295060"/>
            <a:ext cx="448056" cy="44805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Move="1" noResize="1" noEditPoints="1" noAdjustHandles="1" noChangeArrowheads="1" noChangeShapeType="1"/>
          </p:cNvSpPr>
          <p:nvPr/>
        </p:nvSpPr>
        <p:spPr>
          <a:xfrm>
            <a:off x="0" y="0"/>
            <a:ext cx="12192000" cy="6858000"/>
          </a:xfrm>
          <a:prstGeom prst="rect">
            <a:avLst/>
          </a:prstGeom>
          <a:solidFill>
            <a:srgbClr val="FFFFFF"/>
          </a:solidFill>
          <a:ln>
            <a:noFill/>
          </a:ln>
          <a:effectLst/>
        </p:spPr>
        <p:txBody>
          <a:bodyPr rtlCol="0" anchor="ctr"/>
          <a:lstStyle/>
          <a:p>
            <a:pPr algn="ctr"/>
            <a:endParaRPr dirty="0">
              <a:latin typeface="Mark Offc For MC" panose="020B0504020101010102" pitchFamily="34" charset="0"/>
            </a:endParaRPr>
          </a:p>
        </p:txBody>
      </p:sp>
      <p:sp>
        <p:nvSpPr>
          <p:cNvPr id="53" name="Rounded Rectangle 31">
            <a:extLst>
              <a:ext uri="{FF2B5EF4-FFF2-40B4-BE49-F238E27FC236}">
                <a16:creationId xmlns:a16="http://schemas.microsoft.com/office/drawing/2014/main" id="{3D86AA01-5BA6-3464-A737-23B9411634E9}"/>
              </a:ext>
            </a:extLst>
          </p:cNvPr>
          <p:cNvSpPr/>
          <p:nvPr/>
        </p:nvSpPr>
        <p:spPr>
          <a:xfrm>
            <a:off x="609600" y="1851349"/>
            <a:ext cx="10972800" cy="1149782"/>
          </a:xfrm>
          <a:prstGeom prst="roundRect">
            <a:avLst>
              <a:gd name="adj" fmla="val 6000"/>
            </a:avLst>
          </a:prstGeom>
          <a:solidFill>
            <a:srgbClr val="FBFAF8"/>
          </a:solidFill>
          <a:ln w="12700">
            <a:solidFill>
              <a:srgbClr val="E6E2DC"/>
            </a:solidFill>
          </a:ln>
          <a:effectLst/>
        </p:spPr>
        <p:txBody>
          <a:bodyPr rtlCol="0" anchor="ctr"/>
          <a:lstStyle/>
          <a:p>
            <a:pPr algn="ctr"/>
            <a:endParaRPr>
              <a:latin typeface="Mark Offc For MC" panose="020B0504020101010102" pitchFamily="34" charset="0"/>
            </a:endParaRPr>
          </a:p>
        </p:txBody>
      </p:sp>
      <p:sp>
        <p:nvSpPr>
          <p:cNvPr id="3" name="TextBox 2"/>
          <p:cNvSpPr txBox="1"/>
          <p:nvPr/>
        </p:nvSpPr>
        <p:spPr>
          <a:xfrm>
            <a:off x="609600" y="508000"/>
            <a:ext cx="6350000" cy="161583"/>
          </a:xfrm>
          <a:prstGeom prst="rect">
            <a:avLst/>
          </a:prstGeom>
          <a:noFill/>
        </p:spPr>
        <p:txBody>
          <a:bodyPr wrap="square" lIns="0" tIns="0" rIns="0" bIns="0" anchor="t">
            <a:spAutoFit/>
          </a:bodyPr>
          <a:lstStyle/>
          <a:p>
            <a:r>
              <a:rPr sz="1050" b="0" i="0" spc="160" dirty="0">
                <a:solidFill>
                  <a:srgbClr val="FF671B"/>
                </a:solidFill>
                <a:latin typeface="Mark Offc For MC Light" panose="020B0504020101010102" pitchFamily="34" charset="0"/>
              </a:rPr>
              <a:t>VERIFIED EXECUTION</a:t>
            </a:r>
          </a:p>
        </p:txBody>
      </p:sp>
      <p:sp>
        <p:nvSpPr>
          <p:cNvPr id="4" name="TextBox 3"/>
          <p:cNvSpPr txBox="1"/>
          <p:nvPr/>
        </p:nvSpPr>
        <p:spPr>
          <a:xfrm>
            <a:off x="609600" y="736600"/>
            <a:ext cx="10972800" cy="340029"/>
          </a:xfrm>
          <a:prstGeom prst="rect">
            <a:avLst/>
          </a:prstGeom>
          <a:noFill/>
        </p:spPr>
        <p:txBody>
          <a:bodyPr wrap="square" lIns="0" tIns="0" rIns="0" bIns="0" anchor="t">
            <a:spAutoFit/>
          </a:bodyPr>
          <a:lstStyle/>
          <a:p>
            <a:pPr>
              <a:lnSpc>
                <a:spcPct val="106000"/>
              </a:lnSpc>
            </a:pPr>
            <a:r>
              <a:rPr sz="2300" b="0" i="0" dirty="0">
                <a:solidFill>
                  <a:srgbClr val="1A1A1A"/>
                </a:solidFill>
                <a:latin typeface="Mark Offc For MC" panose="020B0504020101010102" pitchFamily="34" charset="0"/>
              </a:rPr>
              <a:t>A zero-trust release pipeline guarantees mathematical integrity.</a:t>
            </a:r>
          </a:p>
        </p:txBody>
      </p:sp>
      <p:cxnSp>
        <p:nvCxnSpPr>
          <p:cNvPr id="5" name="Connector 4"/>
          <p:cNvCxnSpPr/>
          <p:nvPr/>
        </p:nvCxnSpPr>
        <p:spPr>
          <a:xfrm>
            <a:off x="609600" y="1625600"/>
            <a:ext cx="10972800" cy="0"/>
          </a:xfrm>
          <a:prstGeom prst="line">
            <a:avLst/>
          </a:prstGeom>
          <a:ln w="12700">
            <a:solidFill>
              <a:srgbClr val="E6E2DC"/>
            </a:solidFill>
          </a:ln>
        </p:spPr>
      </p:cxnSp>
      <p:sp>
        <p:nvSpPr>
          <p:cNvPr id="6" name="Rectangle 5"/>
          <p:cNvSpPr/>
          <p:nvPr/>
        </p:nvSpPr>
        <p:spPr>
          <a:xfrm>
            <a:off x="609600" y="1610360"/>
            <a:ext cx="685800" cy="30480"/>
          </a:xfrm>
          <a:prstGeom prst="rect">
            <a:avLst/>
          </a:prstGeom>
          <a:solidFill>
            <a:srgbClr val="FF671B"/>
          </a:solidFill>
          <a:ln>
            <a:noFill/>
          </a:ln>
          <a:effectLst/>
        </p:spPr>
        <p:txBody>
          <a:bodyPr rtlCol="0" anchor="ctr"/>
          <a:lstStyle/>
          <a:p>
            <a:pPr algn="ctr"/>
            <a:endParaRPr>
              <a:latin typeface="Mark Offc For MC" panose="020B0504020101010102" pitchFamily="34" charset="0"/>
            </a:endParaRPr>
          </a:p>
        </p:txBody>
      </p:sp>
      <p:sp>
        <p:nvSpPr>
          <p:cNvPr id="26" name="TextBox 25"/>
          <p:cNvSpPr txBox="1"/>
          <p:nvPr/>
        </p:nvSpPr>
        <p:spPr>
          <a:xfrm>
            <a:off x="609600" y="3047171"/>
            <a:ext cx="10972800" cy="146194"/>
          </a:xfrm>
          <a:prstGeom prst="rect">
            <a:avLst/>
          </a:prstGeom>
          <a:noFill/>
        </p:spPr>
        <p:txBody>
          <a:bodyPr wrap="square" lIns="0" tIns="0" rIns="0" bIns="0" anchor="t">
            <a:spAutoFit/>
          </a:bodyPr>
          <a:lstStyle/>
          <a:p>
            <a:pPr algn="ctr"/>
            <a:r>
              <a:rPr sz="950" b="0" i="1" dirty="0">
                <a:solidFill>
                  <a:srgbClr val="9CA0A6"/>
                </a:solidFill>
                <a:latin typeface="Mark Offc For MC" panose="020B0504020101010102" pitchFamily="34" charset="0"/>
              </a:rPr>
              <a:t>continuous validation loop</a:t>
            </a:r>
          </a:p>
        </p:txBody>
      </p:sp>
      <p:sp>
        <p:nvSpPr>
          <p:cNvPr id="27" name="Rounded Rectangle 26"/>
          <p:cNvSpPr/>
          <p:nvPr/>
        </p:nvSpPr>
        <p:spPr>
          <a:xfrm>
            <a:off x="609600" y="3713996"/>
            <a:ext cx="3454400" cy="1904484"/>
          </a:xfrm>
          <a:prstGeom prst="roundRect">
            <a:avLst>
              <a:gd name="adj" fmla="val 6000"/>
            </a:avLst>
          </a:prstGeom>
          <a:solidFill>
            <a:srgbClr val="FBFAF8"/>
          </a:solidFill>
          <a:ln w="12700">
            <a:solidFill>
              <a:srgbClr val="E6E2DC"/>
            </a:solidFill>
          </a:ln>
          <a:effectLst/>
        </p:spPr>
        <p:txBody>
          <a:bodyPr rtlCol="0" anchor="ctr"/>
          <a:lstStyle/>
          <a:p>
            <a:pPr algn="ctr"/>
            <a:endParaRPr>
              <a:latin typeface="Mark Offc For MC" panose="020B0504020101010102" pitchFamily="34" charset="0"/>
            </a:endParaRPr>
          </a:p>
        </p:txBody>
      </p:sp>
      <p:sp>
        <p:nvSpPr>
          <p:cNvPr id="28" name="Rounded Rectangle 27"/>
          <p:cNvSpPr/>
          <p:nvPr/>
        </p:nvSpPr>
        <p:spPr>
          <a:xfrm>
            <a:off x="838200" y="3942596"/>
            <a:ext cx="431800" cy="431800"/>
          </a:xfrm>
          <a:prstGeom prst="roundRect">
            <a:avLst>
              <a:gd name="adj" fmla="val 26000"/>
            </a:avLst>
          </a:prstGeom>
          <a:solidFill>
            <a:srgbClr val="FFEDE2"/>
          </a:solidFill>
          <a:ln>
            <a:noFill/>
          </a:ln>
          <a:effectLst/>
        </p:spPr>
        <p:txBody>
          <a:bodyPr rtlCol="0" anchor="ctr"/>
          <a:lstStyle/>
          <a:p>
            <a:pPr algn="ctr"/>
            <a:endParaRPr>
              <a:latin typeface="Mark Offc For MC" panose="020B0504020101010102" pitchFamily="34" charset="0"/>
            </a:endParaRPr>
          </a:p>
        </p:txBody>
      </p:sp>
      <p:sp>
        <p:nvSpPr>
          <p:cNvPr id="30" name="TextBox 29"/>
          <p:cNvSpPr txBox="1"/>
          <p:nvPr/>
        </p:nvSpPr>
        <p:spPr>
          <a:xfrm>
            <a:off x="838200" y="4475996"/>
            <a:ext cx="2997200" cy="200055"/>
          </a:xfrm>
          <a:prstGeom prst="rect">
            <a:avLst/>
          </a:prstGeom>
          <a:noFill/>
        </p:spPr>
        <p:txBody>
          <a:bodyPr wrap="square" lIns="0" tIns="0" rIns="0" bIns="0" anchor="t">
            <a:spAutoFit/>
          </a:bodyPr>
          <a:lstStyle/>
          <a:p>
            <a:r>
              <a:rPr sz="1300" b="0" i="0">
                <a:solidFill>
                  <a:srgbClr val="1A1A1A"/>
                </a:solidFill>
                <a:latin typeface="Mark Offc For MC Medium" panose="020B0604020101010102" pitchFamily="34" charset="0"/>
              </a:rPr>
              <a:t>Gate Test Suite</a:t>
            </a:r>
          </a:p>
        </p:txBody>
      </p:sp>
      <p:sp>
        <p:nvSpPr>
          <p:cNvPr id="31" name="TextBox 30"/>
          <p:cNvSpPr txBox="1"/>
          <p:nvPr/>
        </p:nvSpPr>
        <p:spPr>
          <a:xfrm>
            <a:off x="838200" y="4780796"/>
            <a:ext cx="2997200" cy="371640"/>
          </a:xfrm>
          <a:prstGeom prst="rect">
            <a:avLst/>
          </a:prstGeom>
          <a:noFill/>
        </p:spPr>
        <p:txBody>
          <a:bodyPr wrap="square" lIns="0" tIns="0" rIns="0" bIns="0" anchor="t">
            <a:spAutoFit/>
          </a:bodyPr>
          <a:lstStyle/>
          <a:p>
            <a:pPr>
              <a:lnSpc>
                <a:spcPct val="116000"/>
              </a:lnSpc>
            </a:pPr>
            <a:r>
              <a:rPr sz="1100" b="0" i="0">
                <a:solidFill>
                  <a:srgbClr val="656A71"/>
                </a:solidFill>
                <a:latin typeface="Mark Offc For MC" panose="020B0504020101010102" pitchFamily="34" charset="0"/>
              </a:rPr>
              <a:t>17+ representative scenarios run on every commit.</a:t>
            </a:r>
          </a:p>
        </p:txBody>
      </p:sp>
      <p:sp>
        <p:nvSpPr>
          <p:cNvPr id="32" name="Rounded Rectangle 31"/>
          <p:cNvSpPr/>
          <p:nvPr/>
        </p:nvSpPr>
        <p:spPr>
          <a:xfrm>
            <a:off x="4368800" y="3713996"/>
            <a:ext cx="3454400" cy="1904484"/>
          </a:xfrm>
          <a:prstGeom prst="roundRect">
            <a:avLst>
              <a:gd name="adj" fmla="val 6000"/>
            </a:avLst>
          </a:prstGeom>
          <a:solidFill>
            <a:srgbClr val="FBFAF8"/>
          </a:solidFill>
          <a:ln w="12700">
            <a:solidFill>
              <a:srgbClr val="E6E2DC"/>
            </a:solidFill>
          </a:ln>
          <a:effectLst/>
        </p:spPr>
        <p:txBody>
          <a:bodyPr rtlCol="0" anchor="ctr"/>
          <a:lstStyle/>
          <a:p>
            <a:pPr algn="ctr"/>
            <a:endParaRPr>
              <a:latin typeface="Mark Offc For MC" panose="020B0504020101010102" pitchFamily="34" charset="0"/>
            </a:endParaRPr>
          </a:p>
        </p:txBody>
      </p:sp>
      <p:sp>
        <p:nvSpPr>
          <p:cNvPr id="33" name="Rounded Rectangle 32"/>
          <p:cNvSpPr/>
          <p:nvPr/>
        </p:nvSpPr>
        <p:spPr>
          <a:xfrm>
            <a:off x="4597400" y="3942596"/>
            <a:ext cx="431800" cy="431800"/>
          </a:xfrm>
          <a:prstGeom prst="roundRect">
            <a:avLst>
              <a:gd name="adj" fmla="val 26000"/>
            </a:avLst>
          </a:prstGeom>
          <a:solidFill>
            <a:srgbClr val="FFEDE2"/>
          </a:solidFill>
          <a:ln>
            <a:noFill/>
          </a:ln>
          <a:effectLst/>
        </p:spPr>
        <p:txBody>
          <a:bodyPr rtlCol="0" anchor="ctr"/>
          <a:lstStyle/>
          <a:p>
            <a:pPr algn="ctr"/>
            <a:endParaRPr>
              <a:latin typeface="Mark Offc For MC" panose="020B0504020101010102" pitchFamily="34" charset="0"/>
            </a:endParaRPr>
          </a:p>
        </p:txBody>
      </p:sp>
      <p:sp>
        <p:nvSpPr>
          <p:cNvPr id="35" name="TextBox 34"/>
          <p:cNvSpPr txBox="1"/>
          <p:nvPr/>
        </p:nvSpPr>
        <p:spPr>
          <a:xfrm>
            <a:off x="4597400" y="4475996"/>
            <a:ext cx="2997200" cy="200055"/>
          </a:xfrm>
          <a:prstGeom prst="rect">
            <a:avLst/>
          </a:prstGeom>
          <a:noFill/>
        </p:spPr>
        <p:txBody>
          <a:bodyPr wrap="square" lIns="0" tIns="0" rIns="0" bIns="0" anchor="t">
            <a:spAutoFit/>
          </a:bodyPr>
          <a:lstStyle/>
          <a:p>
            <a:r>
              <a:rPr sz="1300" b="0" i="0">
                <a:solidFill>
                  <a:srgbClr val="1A1A1A"/>
                </a:solidFill>
                <a:latin typeface="Mark Offc For MC Medium" panose="020B0604020101010102" pitchFamily="34" charset="0"/>
              </a:rPr>
              <a:t>Mathematical Parity</a:t>
            </a:r>
          </a:p>
        </p:txBody>
      </p:sp>
      <p:sp>
        <p:nvSpPr>
          <p:cNvPr id="36" name="TextBox 35"/>
          <p:cNvSpPr txBox="1"/>
          <p:nvPr/>
        </p:nvSpPr>
        <p:spPr>
          <a:xfrm>
            <a:off x="4597400" y="4780796"/>
            <a:ext cx="2997200" cy="567976"/>
          </a:xfrm>
          <a:prstGeom prst="rect">
            <a:avLst/>
          </a:prstGeom>
          <a:noFill/>
        </p:spPr>
        <p:txBody>
          <a:bodyPr wrap="square" lIns="0" tIns="0" rIns="0" bIns="0" anchor="t">
            <a:spAutoFit/>
          </a:bodyPr>
          <a:lstStyle/>
          <a:p>
            <a:pPr>
              <a:lnSpc>
                <a:spcPct val="116000"/>
              </a:lnSpc>
            </a:pPr>
            <a:r>
              <a:rPr sz="1100" b="0" i="0" dirty="0">
                <a:solidFill>
                  <a:srgbClr val="656A71"/>
                </a:solidFill>
                <a:latin typeface="Mark Offc For MC" panose="020B0504020101010102" pitchFamily="34" charset="0"/>
              </a:rPr>
              <a:t>CSV exports are cross-checked against compliant Excel outputs to a 0.01% tolerance.</a:t>
            </a:r>
          </a:p>
        </p:txBody>
      </p:sp>
      <p:sp>
        <p:nvSpPr>
          <p:cNvPr id="37" name="Rounded Rectangle 36"/>
          <p:cNvSpPr/>
          <p:nvPr/>
        </p:nvSpPr>
        <p:spPr>
          <a:xfrm>
            <a:off x="8128000" y="3713996"/>
            <a:ext cx="3454400" cy="1904484"/>
          </a:xfrm>
          <a:prstGeom prst="roundRect">
            <a:avLst>
              <a:gd name="adj" fmla="val 6000"/>
            </a:avLst>
          </a:prstGeom>
          <a:solidFill>
            <a:srgbClr val="FBFAF8"/>
          </a:solidFill>
          <a:ln w="12700">
            <a:solidFill>
              <a:srgbClr val="E6E2DC"/>
            </a:solidFill>
          </a:ln>
          <a:effectLst/>
        </p:spPr>
        <p:txBody>
          <a:bodyPr rtlCol="0" anchor="ctr"/>
          <a:lstStyle/>
          <a:p>
            <a:pPr algn="ctr"/>
            <a:endParaRPr>
              <a:latin typeface="Mark Offc For MC" panose="020B0504020101010102" pitchFamily="34" charset="0"/>
            </a:endParaRPr>
          </a:p>
        </p:txBody>
      </p:sp>
      <p:sp>
        <p:nvSpPr>
          <p:cNvPr id="38" name="Rounded Rectangle 37"/>
          <p:cNvSpPr/>
          <p:nvPr/>
        </p:nvSpPr>
        <p:spPr>
          <a:xfrm>
            <a:off x="8356600" y="3942596"/>
            <a:ext cx="431800" cy="431800"/>
          </a:xfrm>
          <a:prstGeom prst="roundRect">
            <a:avLst>
              <a:gd name="adj" fmla="val 26000"/>
            </a:avLst>
          </a:prstGeom>
          <a:solidFill>
            <a:srgbClr val="FFEDE2"/>
          </a:solidFill>
          <a:ln>
            <a:noFill/>
          </a:ln>
          <a:effectLst/>
        </p:spPr>
        <p:txBody>
          <a:bodyPr rtlCol="0" anchor="ctr"/>
          <a:lstStyle/>
          <a:p>
            <a:pPr algn="ctr"/>
            <a:endParaRPr>
              <a:latin typeface="Mark Offc For MC" panose="020B0504020101010102" pitchFamily="34" charset="0"/>
            </a:endParaRPr>
          </a:p>
        </p:txBody>
      </p:sp>
      <p:sp>
        <p:nvSpPr>
          <p:cNvPr id="40" name="TextBox 39"/>
          <p:cNvSpPr txBox="1"/>
          <p:nvPr/>
        </p:nvSpPr>
        <p:spPr>
          <a:xfrm>
            <a:off x="8356600" y="4475996"/>
            <a:ext cx="2997200" cy="200055"/>
          </a:xfrm>
          <a:prstGeom prst="rect">
            <a:avLst/>
          </a:prstGeom>
          <a:noFill/>
        </p:spPr>
        <p:txBody>
          <a:bodyPr wrap="square" lIns="0" tIns="0" rIns="0" bIns="0" anchor="t">
            <a:spAutoFit/>
          </a:bodyPr>
          <a:lstStyle/>
          <a:p>
            <a:r>
              <a:rPr sz="1300" b="0" i="0">
                <a:solidFill>
                  <a:srgbClr val="1A1A1A"/>
                </a:solidFill>
                <a:latin typeface="Mark Offc For MC Medium" panose="020B0604020101010102" pitchFamily="34" charset="0"/>
              </a:rPr>
              <a:t>Immutable Offline Deploys</a:t>
            </a:r>
          </a:p>
        </p:txBody>
      </p:sp>
      <p:sp>
        <p:nvSpPr>
          <p:cNvPr id="41" name="TextBox 40"/>
          <p:cNvSpPr txBox="1"/>
          <p:nvPr/>
        </p:nvSpPr>
        <p:spPr>
          <a:xfrm>
            <a:off x="8356600" y="4780796"/>
            <a:ext cx="2997200" cy="567976"/>
          </a:xfrm>
          <a:prstGeom prst="rect">
            <a:avLst/>
          </a:prstGeom>
          <a:noFill/>
        </p:spPr>
        <p:txBody>
          <a:bodyPr wrap="square" lIns="0" tIns="0" rIns="0" bIns="0" anchor="t">
            <a:spAutoFit/>
          </a:bodyPr>
          <a:lstStyle/>
          <a:p>
            <a:pPr>
              <a:lnSpc>
                <a:spcPct val="116000"/>
              </a:lnSpc>
            </a:pPr>
            <a:r>
              <a:rPr sz="1100" b="0" i="0">
                <a:solidFill>
                  <a:srgbClr val="656A71"/>
                </a:solidFill>
                <a:latin typeface="Mark Offc For MC" panose="020B0504020101010102" pitchFamily="34" charset="0"/>
              </a:rPr>
              <a:t>Checksum-verified bundles (offline_packages/) for air-gapped environments.</a:t>
            </a:r>
          </a:p>
        </p:txBody>
      </p:sp>
      <p:sp>
        <p:nvSpPr>
          <p:cNvPr id="42" name="TextBox 41"/>
          <p:cNvSpPr txBox="1"/>
          <p:nvPr/>
        </p:nvSpPr>
        <p:spPr>
          <a:xfrm>
            <a:off x="609600" y="6509350"/>
            <a:ext cx="2540000" cy="138499"/>
          </a:xfrm>
          <a:prstGeom prst="rect">
            <a:avLst/>
          </a:prstGeom>
          <a:noFill/>
        </p:spPr>
        <p:txBody>
          <a:bodyPr wrap="square" lIns="0" tIns="0" rIns="0" bIns="0" anchor="ctr">
            <a:spAutoFit/>
          </a:bodyPr>
          <a:lstStyle/>
          <a:p>
            <a:r>
              <a:rPr sz="900" b="0" i="0">
                <a:solidFill>
                  <a:srgbClr val="FF671B"/>
                </a:solidFill>
                <a:latin typeface="Mark Offc For MC" panose="020B0504020101010102" pitchFamily="34" charset="0"/>
              </a:rPr>
              <a:t>12</a:t>
            </a:r>
            <a:r>
              <a:rPr sz="900" b="0" i="0">
                <a:solidFill>
                  <a:srgbClr val="9CA0A6"/>
                </a:solidFill>
                <a:latin typeface="Mark Offc For MC" panose="020B0504020101010102" pitchFamily="34" charset="0"/>
              </a:rPr>
              <a:t>  /  13</a:t>
            </a:r>
          </a:p>
        </p:txBody>
      </p:sp>
      <p:sp>
        <p:nvSpPr>
          <p:cNvPr id="43" name="TextBox 42"/>
          <p:cNvSpPr txBox="1"/>
          <p:nvPr/>
        </p:nvSpPr>
        <p:spPr>
          <a:xfrm>
            <a:off x="11912600" y="2931613"/>
            <a:ext cx="100027" cy="2021387"/>
          </a:xfrm>
          <a:prstGeom prst="rect">
            <a:avLst/>
          </a:prstGeom>
          <a:noFill/>
        </p:spPr>
        <p:txBody>
          <a:bodyPr vert="vert270" wrap="none" lIns="0" tIns="0" rIns="0" bIns="0">
            <a:spAutoFit/>
          </a:bodyPr>
          <a:lstStyle/>
          <a:p>
            <a:r>
              <a:rPr sz="650">
                <a:solidFill>
                  <a:srgbClr val="9CA0A6"/>
                </a:solidFill>
                <a:latin typeface="Mark Offc For MC" panose="020B0504020101010102" pitchFamily="34" charset="0"/>
              </a:rPr>
              <a:t>© 2025 Mastercard. Proprietary and Confidential.</a:t>
            </a:r>
          </a:p>
        </p:txBody>
      </p:sp>
      <p:sp>
        <p:nvSpPr>
          <p:cNvPr id="44" name="Oval 43"/>
          <p:cNvSpPr/>
          <p:nvPr/>
        </p:nvSpPr>
        <p:spPr>
          <a:xfrm>
            <a:off x="11080496" y="6248400"/>
            <a:ext cx="330200" cy="330200"/>
          </a:xfrm>
          <a:prstGeom prst="ellipse">
            <a:avLst/>
          </a:prstGeom>
          <a:solidFill>
            <a:srgbClr val="EB001B"/>
          </a:solidFill>
          <a:ln>
            <a:noFill/>
          </a:ln>
          <a:effectLst/>
        </p:spPr>
        <p:txBody>
          <a:bodyPr rtlCol="0" anchor="ctr"/>
          <a:lstStyle/>
          <a:p>
            <a:pPr algn="ctr"/>
            <a:endParaRPr>
              <a:latin typeface="Mark Offc For MC" panose="020B0504020101010102" pitchFamily="34" charset="0"/>
            </a:endParaRPr>
          </a:p>
        </p:txBody>
      </p:sp>
      <p:sp>
        <p:nvSpPr>
          <p:cNvPr id="45" name="Oval 44"/>
          <p:cNvSpPr/>
          <p:nvPr/>
        </p:nvSpPr>
        <p:spPr>
          <a:xfrm>
            <a:off x="11252200" y="6248400"/>
            <a:ext cx="330200" cy="330200"/>
          </a:xfrm>
          <a:prstGeom prst="ellipse">
            <a:avLst/>
          </a:prstGeom>
          <a:solidFill>
            <a:srgbClr val="F79E1B"/>
          </a:solidFill>
          <a:ln>
            <a:noFill/>
          </a:ln>
          <a:effectLst/>
        </p:spPr>
        <p:txBody>
          <a:bodyPr rtlCol="0" anchor="ctr"/>
          <a:lstStyle/>
          <a:p>
            <a:pPr algn="ctr"/>
            <a:endParaRPr>
              <a:latin typeface="Mark Offc For MC" panose="020B0504020101010102" pitchFamily="34" charset="0"/>
            </a:endParaRPr>
          </a:p>
        </p:txBody>
      </p:sp>
      <p:sp>
        <p:nvSpPr>
          <p:cNvPr id="46" name="Oval 45"/>
          <p:cNvSpPr/>
          <p:nvPr/>
        </p:nvSpPr>
        <p:spPr>
          <a:xfrm>
            <a:off x="11252200" y="6272339"/>
            <a:ext cx="158496" cy="282321"/>
          </a:xfrm>
          <a:prstGeom prst="ellipse">
            <a:avLst/>
          </a:prstGeom>
          <a:solidFill>
            <a:srgbClr val="FF5F00"/>
          </a:solidFill>
          <a:ln>
            <a:noFill/>
          </a:ln>
          <a:effectLst/>
        </p:spPr>
        <p:txBody>
          <a:bodyPr rtlCol="0" anchor="ctr"/>
          <a:lstStyle/>
          <a:p>
            <a:pPr algn="ctr"/>
            <a:endParaRPr>
              <a:latin typeface="Mark Offc For MC" panose="020B0504020101010102" pitchFamily="34" charset="0"/>
            </a:endParaRPr>
          </a:p>
        </p:txBody>
      </p:sp>
      <p:grpSp>
        <p:nvGrpSpPr>
          <p:cNvPr id="62" name="Group 61">
            <a:extLst>
              <a:ext uri="{FF2B5EF4-FFF2-40B4-BE49-F238E27FC236}">
                <a16:creationId xmlns:a16="http://schemas.microsoft.com/office/drawing/2014/main" id="{59595332-E17B-2A13-78C9-4ADE449FDA75}"/>
              </a:ext>
            </a:extLst>
          </p:cNvPr>
          <p:cNvGrpSpPr/>
          <p:nvPr/>
        </p:nvGrpSpPr>
        <p:grpSpPr>
          <a:xfrm>
            <a:off x="757767" y="2006600"/>
            <a:ext cx="10676467" cy="812800"/>
            <a:chOff x="740833" y="2006600"/>
            <a:chExt cx="10676467" cy="812800"/>
          </a:xfrm>
        </p:grpSpPr>
        <p:grpSp>
          <p:nvGrpSpPr>
            <p:cNvPr id="56" name="Group 55">
              <a:extLst>
                <a:ext uri="{FF2B5EF4-FFF2-40B4-BE49-F238E27FC236}">
                  <a16:creationId xmlns:a16="http://schemas.microsoft.com/office/drawing/2014/main" id="{711EB273-E666-B9DD-CD18-93846AA2A4B7}"/>
                </a:ext>
              </a:extLst>
            </p:cNvPr>
            <p:cNvGrpSpPr/>
            <p:nvPr/>
          </p:nvGrpSpPr>
          <p:grpSpPr>
            <a:xfrm>
              <a:off x="740833" y="2006600"/>
              <a:ext cx="2413000" cy="812800"/>
              <a:chOff x="508000" y="2006600"/>
              <a:chExt cx="2413000" cy="812800"/>
            </a:xfrm>
          </p:grpSpPr>
          <p:sp>
            <p:nvSpPr>
              <p:cNvPr id="7" name="Rounded Rectangle 6"/>
              <p:cNvSpPr/>
              <p:nvPr/>
            </p:nvSpPr>
            <p:spPr>
              <a:xfrm>
                <a:off x="508000" y="2006600"/>
                <a:ext cx="2413000" cy="812800"/>
              </a:xfrm>
              <a:prstGeom prst="roundRect">
                <a:avLst>
                  <a:gd name="adj" fmla="val 14000"/>
                </a:avLst>
              </a:prstGeom>
              <a:solidFill>
                <a:srgbClr val="FFFFFF"/>
              </a:solidFill>
              <a:ln w="12700">
                <a:solidFill>
                  <a:srgbClr val="E6E2DC"/>
                </a:solidFill>
              </a:ln>
              <a:effectLst>
                <a:outerShdw blurRad="114300" dist="38100" dir="5400000" rotWithShape="0">
                  <a:srgbClr val="1A1A1A">
                    <a:alpha val="22000"/>
                  </a:srgbClr>
                </a:outerShdw>
              </a:effectLst>
            </p:spPr>
            <p:txBody>
              <a:bodyPr rtlCol="0" anchor="ctr"/>
              <a:lstStyle/>
              <a:p>
                <a:pPr algn="ctr"/>
                <a:endParaRPr>
                  <a:latin typeface="Mark Offc For MC" panose="020B0504020101010102" pitchFamily="34" charset="0"/>
                </a:endParaRPr>
              </a:p>
            </p:txBody>
          </p:sp>
          <p:sp>
            <p:nvSpPr>
              <p:cNvPr id="8" name="Rounded Rectangle 7"/>
              <p:cNvSpPr/>
              <p:nvPr/>
            </p:nvSpPr>
            <p:spPr>
              <a:xfrm>
                <a:off x="685800" y="2197100"/>
                <a:ext cx="431800" cy="431800"/>
              </a:xfrm>
              <a:prstGeom prst="roundRect">
                <a:avLst>
                  <a:gd name="adj" fmla="val 26000"/>
                </a:avLst>
              </a:prstGeom>
              <a:solidFill>
                <a:srgbClr val="FFEDE2"/>
              </a:solidFill>
              <a:ln>
                <a:noFill/>
              </a:ln>
              <a:effectLst/>
            </p:spPr>
            <p:txBody>
              <a:bodyPr rtlCol="0" anchor="ctr"/>
              <a:lstStyle/>
              <a:p>
                <a:pPr algn="ctr"/>
                <a:endParaRPr>
                  <a:latin typeface="Mark Offc For MC" panose="020B0504020101010102" pitchFamily="34" charset="0"/>
                </a:endParaRPr>
              </a:p>
            </p:txBody>
          </p:sp>
          <p:sp>
            <p:nvSpPr>
              <p:cNvPr id="10" name="TextBox 9"/>
              <p:cNvSpPr txBox="1"/>
              <p:nvPr/>
            </p:nvSpPr>
            <p:spPr>
              <a:xfrm>
                <a:off x="1219200" y="2312972"/>
                <a:ext cx="1600200" cy="200055"/>
              </a:xfrm>
              <a:prstGeom prst="rect">
                <a:avLst/>
              </a:prstGeom>
              <a:noFill/>
            </p:spPr>
            <p:txBody>
              <a:bodyPr wrap="square" lIns="0" tIns="0" rIns="0" bIns="0" anchor="ctr">
                <a:spAutoFit/>
              </a:bodyPr>
              <a:lstStyle/>
              <a:p>
                <a:r>
                  <a:rPr sz="1300" b="0" i="0" dirty="0">
                    <a:solidFill>
                      <a:srgbClr val="1A1A1A"/>
                    </a:solidFill>
                    <a:latin typeface="Mark Offc For MC Medium" panose="020B0604020101010102" pitchFamily="34" charset="0"/>
                  </a:rPr>
                  <a:t>Code Commit</a:t>
                </a:r>
              </a:p>
            </p:txBody>
          </p:sp>
          <p:pic>
            <p:nvPicPr>
              <p:cNvPr id="48" name="Picture 47">
                <a:extLst>
                  <a:ext uri="{FF2B5EF4-FFF2-40B4-BE49-F238E27FC236}">
                    <a16:creationId xmlns:a16="http://schemas.microsoft.com/office/drawing/2014/main" id="{63F376FA-A84E-1B4F-3158-A26CD4A9FB7C}"/>
                  </a:ext>
                </a:extLst>
              </p:cNvPr>
              <p:cNvPicPr>
                <a:picLocks noChangeAspect="1"/>
              </p:cNvPicPr>
              <p:nvPr/>
            </p:nvPicPr>
            <p:blipFill>
              <a:blip r:embed="rId2"/>
              <a:stretch>
                <a:fillRect/>
              </a:stretch>
            </p:blipFill>
            <p:spPr>
              <a:xfrm>
                <a:off x="700532" y="2226564"/>
                <a:ext cx="402336" cy="402336"/>
              </a:xfrm>
              <a:prstGeom prst="rect">
                <a:avLst/>
              </a:prstGeom>
            </p:spPr>
          </p:pic>
        </p:grpSp>
        <p:grpSp>
          <p:nvGrpSpPr>
            <p:cNvPr id="57" name="Group 56">
              <a:extLst>
                <a:ext uri="{FF2B5EF4-FFF2-40B4-BE49-F238E27FC236}">
                  <a16:creationId xmlns:a16="http://schemas.microsoft.com/office/drawing/2014/main" id="{8364EBFE-2BFB-C3EA-F1D2-5D3FB7437959}"/>
                </a:ext>
              </a:extLst>
            </p:cNvPr>
            <p:cNvGrpSpPr/>
            <p:nvPr/>
          </p:nvGrpSpPr>
          <p:grpSpPr>
            <a:xfrm>
              <a:off x="3495322" y="2006600"/>
              <a:ext cx="2413000" cy="812800"/>
              <a:chOff x="3429000" y="2006600"/>
              <a:chExt cx="2413000" cy="812800"/>
            </a:xfrm>
          </p:grpSpPr>
          <p:sp>
            <p:nvSpPr>
              <p:cNvPr id="12" name="Rounded Rectangle 11"/>
              <p:cNvSpPr/>
              <p:nvPr/>
            </p:nvSpPr>
            <p:spPr>
              <a:xfrm>
                <a:off x="3429000" y="2006600"/>
                <a:ext cx="2413000" cy="812800"/>
              </a:xfrm>
              <a:prstGeom prst="roundRect">
                <a:avLst>
                  <a:gd name="adj" fmla="val 14000"/>
                </a:avLst>
              </a:prstGeom>
              <a:solidFill>
                <a:srgbClr val="FFFFFF"/>
              </a:solidFill>
              <a:ln w="12700">
                <a:solidFill>
                  <a:srgbClr val="E6E2DC"/>
                </a:solidFill>
              </a:ln>
              <a:effectLst>
                <a:outerShdw blurRad="114300" dist="38100" dir="5400000" rotWithShape="0">
                  <a:srgbClr val="1A1A1A">
                    <a:alpha val="22000"/>
                  </a:srgbClr>
                </a:outerShdw>
              </a:effectLst>
            </p:spPr>
            <p:txBody>
              <a:bodyPr rtlCol="0" anchor="ctr"/>
              <a:lstStyle/>
              <a:p>
                <a:pPr algn="ctr"/>
                <a:endParaRPr>
                  <a:latin typeface="Mark Offc For MC" panose="020B0504020101010102" pitchFamily="34" charset="0"/>
                </a:endParaRPr>
              </a:p>
            </p:txBody>
          </p:sp>
          <p:sp>
            <p:nvSpPr>
              <p:cNvPr id="13" name="Rounded Rectangle 12"/>
              <p:cNvSpPr/>
              <p:nvPr/>
            </p:nvSpPr>
            <p:spPr>
              <a:xfrm>
                <a:off x="3606800" y="2197100"/>
                <a:ext cx="431800" cy="431800"/>
              </a:xfrm>
              <a:prstGeom prst="roundRect">
                <a:avLst>
                  <a:gd name="adj" fmla="val 26000"/>
                </a:avLst>
              </a:prstGeom>
              <a:solidFill>
                <a:srgbClr val="FFEDE2"/>
              </a:solidFill>
              <a:ln>
                <a:noFill/>
              </a:ln>
              <a:effectLst/>
            </p:spPr>
            <p:txBody>
              <a:bodyPr rtlCol="0" anchor="ctr"/>
              <a:lstStyle/>
              <a:p>
                <a:pPr algn="ctr"/>
                <a:endParaRPr>
                  <a:latin typeface="Mark Offc For MC" panose="020B0504020101010102" pitchFamily="34" charset="0"/>
                </a:endParaRPr>
              </a:p>
            </p:txBody>
          </p:sp>
          <p:sp>
            <p:nvSpPr>
              <p:cNvPr id="15" name="TextBox 14"/>
              <p:cNvSpPr txBox="1"/>
              <p:nvPr/>
            </p:nvSpPr>
            <p:spPr>
              <a:xfrm>
                <a:off x="4140200" y="2312972"/>
                <a:ext cx="1600200" cy="200055"/>
              </a:xfrm>
              <a:prstGeom prst="rect">
                <a:avLst/>
              </a:prstGeom>
              <a:noFill/>
            </p:spPr>
            <p:txBody>
              <a:bodyPr wrap="square" lIns="0" tIns="0" rIns="0" bIns="0" anchor="ctr">
                <a:spAutoFit/>
              </a:bodyPr>
              <a:lstStyle/>
              <a:p>
                <a:r>
                  <a:rPr sz="1300" b="0" i="0" dirty="0">
                    <a:solidFill>
                      <a:srgbClr val="1A1A1A"/>
                    </a:solidFill>
                    <a:latin typeface="Mark Offc For MC Medium" panose="020B0604020101010102" pitchFamily="34" charset="0"/>
                  </a:rPr>
                  <a:t>GitHub Actions</a:t>
                </a:r>
              </a:p>
            </p:txBody>
          </p:sp>
          <p:pic>
            <p:nvPicPr>
              <p:cNvPr id="50" name="Picture 49">
                <a:extLst>
                  <a:ext uri="{FF2B5EF4-FFF2-40B4-BE49-F238E27FC236}">
                    <a16:creationId xmlns:a16="http://schemas.microsoft.com/office/drawing/2014/main" id="{8C987612-FF61-B382-B0D4-7BF089FB54DA}"/>
                  </a:ext>
                </a:extLst>
              </p:cNvPr>
              <p:cNvPicPr>
                <a:picLocks noChangeAspect="1"/>
              </p:cNvPicPr>
              <p:nvPr/>
            </p:nvPicPr>
            <p:blipFill>
              <a:blip r:embed="rId3"/>
              <a:stretch>
                <a:fillRect/>
              </a:stretch>
            </p:blipFill>
            <p:spPr>
              <a:xfrm>
                <a:off x="3621532" y="2211831"/>
                <a:ext cx="402336" cy="402336"/>
              </a:xfrm>
              <a:prstGeom prst="rect">
                <a:avLst/>
              </a:prstGeom>
            </p:spPr>
          </p:pic>
        </p:grpSp>
        <p:grpSp>
          <p:nvGrpSpPr>
            <p:cNvPr id="58" name="Group 57">
              <a:extLst>
                <a:ext uri="{FF2B5EF4-FFF2-40B4-BE49-F238E27FC236}">
                  <a16:creationId xmlns:a16="http://schemas.microsoft.com/office/drawing/2014/main" id="{7819B4ED-B971-BAA2-22A9-7811059F7FFD}"/>
                </a:ext>
              </a:extLst>
            </p:cNvPr>
            <p:cNvGrpSpPr/>
            <p:nvPr/>
          </p:nvGrpSpPr>
          <p:grpSpPr>
            <a:xfrm>
              <a:off x="6249811" y="2006600"/>
              <a:ext cx="2413000" cy="812800"/>
              <a:chOff x="6350000" y="2006600"/>
              <a:chExt cx="2413000" cy="812800"/>
            </a:xfrm>
          </p:grpSpPr>
          <p:sp>
            <p:nvSpPr>
              <p:cNvPr id="17" name="Rounded Rectangle 16"/>
              <p:cNvSpPr/>
              <p:nvPr/>
            </p:nvSpPr>
            <p:spPr>
              <a:xfrm>
                <a:off x="6350000" y="2006600"/>
                <a:ext cx="2413000" cy="812800"/>
              </a:xfrm>
              <a:prstGeom prst="roundRect">
                <a:avLst>
                  <a:gd name="adj" fmla="val 14000"/>
                </a:avLst>
              </a:prstGeom>
              <a:solidFill>
                <a:srgbClr val="FFFFFF"/>
              </a:solidFill>
              <a:ln w="12700">
                <a:solidFill>
                  <a:srgbClr val="E6E2DC"/>
                </a:solidFill>
              </a:ln>
              <a:effectLst>
                <a:outerShdw blurRad="114300" dist="38100" dir="5400000" rotWithShape="0">
                  <a:srgbClr val="1A1A1A">
                    <a:alpha val="22000"/>
                  </a:srgbClr>
                </a:outerShdw>
              </a:effectLst>
            </p:spPr>
            <p:txBody>
              <a:bodyPr rtlCol="0" anchor="ctr"/>
              <a:lstStyle/>
              <a:p>
                <a:pPr algn="ctr"/>
                <a:endParaRPr>
                  <a:latin typeface="Mark Offc For MC" panose="020B0504020101010102" pitchFamily="34" charset="0"/>
                </a:endParaRPr>
              </a:p>
            </p:txBody>
          </p:sp>
          <p:sp>
            <p:nvSpPr>
              <p:cNvPr id="18" name="Rounded Rectangle 17"/>
              <p:cNvSpPr/>
              <p:nvPr/>
            </p:nvSpPr>
            <p:spPr>
              <a:xfrm>
                <a:off x="6527800" y="2197100"/>
                <a:ext cx="431800" cy="431800"/>
              </a:xfrm>
              <a:prstGeom prst="roundRect">
                <a:avLst>
                  <a:gd name="adj" fmla="val 26000"/>
                </a:avLst>
              </a:prstGeom>
              <a:solidFill>
                <a:srgbClr val="FFEDE2"/>
              </a:solidFill>
              <a:ln>
                <a:noFill/>
              </a:ln>
              <a:effectLst/>
            </p:spPr>
            <p:txBody>
              <a:bodyPr rtlCol="0" anchor="ctr"/>
              <a:lstStyle/>
              <a:p>
                <a:pPr algn="ctr"/>
                <a:endParaRPr>
                  <a:latin typeface="Mark Offc For MC" panose="020B0504020101010102" pitchFamily="34" charset="0"/>
                </a:endParaRPr>
              </a:p>
            </p:txBody>
          </p:sp>
          <p:sp>
            <p:nvSpPr>
              <p:cNvPr id="20" name="TextBox 19"/>
              <p:cNvSpPr txBox="1"/>
              <p:nvPr/>
            </p:nvSpPr>
            <p:spPr>
              <a:xfrm>
                <a:off x="7061200" y="2312972"/>
                <a:ext cx="1600200" cy="200055"/>
              </a:xfrm>
              <a:prstGeom prst="rect">
                <a:avLst/>
              </a:prstGeom>
              <a:noFill/>
            </p:spPr>
            <p:txBody>
              <a:bodyPr wrap="square" lIns="0" tIns="0" rIns="0" bIns="0" anchor="ctr">
                <a:spAutoFit/>
              </a:bodyPr>
              <a:lstStyle/>
              <a:p>
                <a:r>
                  <a:rPr sz="1300" b="0" i="0" dirty="0">
                    <a:solidFill>
                      <a:srgbClr val="1A1A1A"/>
                    </a:solidFill>
                    <a:latin typeface="Mark Offc For MC Medium" panose="020B0604020101010102" pitchFamily="34" charset="0"/>
                  </a:rPr>
                  <a:t>Gate Tests</a:t>
                </a:r>
              </a:p>
            </p:txBody>
          </p:sp>
          <p:pic>
            <p:nvPicPr>
              <p:cNvPr id="52" name="Picture 51">
                <a:extLst>
                  <a:ext uri="{FF2B5EF4-FFF2-40B4-BE49-F238E27FC236}">
                    <a16:creationId xmlns:a16="http://schemas.microsoft.com/office/drawing/2014/main" id="{180C2736-12E0-95DA-822F-35CCB7C80357}"/>
                  </a:ext>
                </a:extLst>
              </p:cNvPr>
              <p:cNvPicPr>
                <a:picLocks noChangeAspect="1"/>
              </p:cNvPicPr>
              <p:nvPr/>
            </p:nvPicPr>
            <p:blipFill>
              <a:blip r:embed="rId4"/>
              <a:stretch>
                <a:fillRect/>
              </a:stretch>
            </p:blipFill>
            <p:spPr>
              <a:xfrm>
                <a:off x="6542532" y="2211831"/>
                <a:ext cx="402336" cy="402336"/>
              </a:xfrm>
              <a:prstGeom prst="rect">
                <a:avLst/>
              </a:prstGeom>
            </p:spPr>
          </p:pic>
        </p:grpSp>
        <p:grpSp>
          <p:nvGrpSpPr>
            <p:cNvPr id="61" name="Group 60">
              <a:extLst>
                <a:ext uri="{FF2B5EF4-FFF2-40B4-BE49-F238E27FC236}">
                  <a16:creationId xmlns:a16="http://schemas.microsoft.com/office/drawing/2014/main" id="{5DAF1B05-BA53-AA4A-2399-B54BB8E623E3}"/>
                </a:ext>
              </a:extLst>
            </p:cNvPr>
            <p:cNvGrpSpPr/>
            <p:nvPr/>
          </p:nvGrpSpPr>
          <p:grpSpPr>
            <a:xfrm>
              <a:off x="9004300" y="2006600"/>
              <a:ext cx="2413000" cy="812800"/>
              <a:chOff x="9271000" y="2006600"/>
              <a:chExt cx="2413000" cy="812800"/>
            </a:xfrm>
          </p:grpSpPr>
          <p:sp>
            <p:nvSpPr>
              <p:cNvPr id="22" name="Rounded Rectangle 21"/>
              <p:cNvSpPr/>
              <p:nvPr/>
            </p:nvSpPr>
            <p:spPr>
              <a:xfrm>
                <a:off x="9271000" y="2006600"/>
                <a:ext cx="2413000" cy="812800"/>
              </a:xfrm>
              <a:prstGeom prst="roundRect">
                <a:avLst>
                  <a:gd name="adj" fmla="val 14000"/>
                </a:avLst>
              </a:prstGeom>
              <a:solidFill>
                <a:srgbClr val="FFEDE2"/>
              </a:solidFill>
              <a:ln w="17780">
                <a:solidFill>
                  <a:srgbClr val="FF671B"/>
                </a:solidFill>
              </a:ln>
              <a:effectLst>
                <a:outerShdw blurRad="114300" dist="38100" dir="5400000" rotWithShape="0">
                  <a:srgbClr val="1A1A1A">
                    <a:alpha val="22000"/>
                  </a:srgbClr>
                </a:outerShdw>
              </a:effectLst>
            </p:spPr>
            <p:txBody>
              <a:bodyPr rtlCol="0" anchor="ctr"/>
              <a:lstStyle/>
              <a:p>
                <a:pPr algn="ctr"/>
                <a:endParaRPr>
                  <a:latin typeface="Mark Offc For MC" panose="020B0504020101010102" pitchFamily="34" charset="0"/>
                </a:endParaRPr>
              </a:p>
            </p:txBody>
          </p:sp>
          <p:sp>
            <p:nvSpPr>
              <p:cNvPr id="23" name="Rounded Rectangle 22"/>
              <p:cNvSpPr/>
              <p:nvPr/>
            </p:nvSpPr>
            <p:spPr>
              <a:xfrm>
                <a:off x="9448800" y="2197100"/>
                <a:ext cx="431800" cy="431800"/>
              </a:xfrm>
              <a:prstGeom prst="roundRect">
                <a:avLst>
                  <a:gd name="adj" fmla="val 26000"/>
                </a:avLst>
              </a:prstGeom>
              <a:solidFill>
                <a:schemeClr val="bg1"/>
              </a:solidFill>
              <a:ln>
                <a:noFill/>
              </a:ln>
              <a:effectLst/>
            </p:spPr>
            <p:txBody>
              <a:bodyPr rtlCol="0" anchor="ctr"/>
              <a:lstStyle/>
              <a:p>
                <a:pPr algn="ctr"/>
                <a:endParaRPr>
                  <a:latin typeface="Mark Offc For MC" panose="020B0504020101010102" pitchFamily="34" charset="0"/>
                </a:endParaRPr>
              </a:p>
            </p:txBody>
          </p:sp>
          <p:sp>
            <p:nvSpPr>
              <p:cNvPr id="25" name="TextBox 24"/>
              <p:cNvSpPr txBox="1"/>
              <p:nvPr/>
            </p:nvSpPr>
            <p:spPr>
              <a:xfrm>
                <a:off x="9982200" y="2312972"/>
                <a:ext cx="1600200" cy="200055"/>
              </a:xfrm>
              <a:prstGeom prst="rect">
                <a:avLst/>
              </a:prstGeom>
              <a:noFill/>
            </p:spPr>
            <p:txBody>
              <a:bodyPr wrap="square" lIns="0" tIns="0" rIns="0" bIns="0" anchor="ctr">
                <a:spAutoFit/>
              </a:bodyPr>
              <a:lstStyle/>
              <a:p>
                <a:r>
                  <a:rPr sz="1300" b="0" i="0">
                    <a:solidFill>
                      <a:srgbClr val="1A1A1A"/>
                    </a:solidFill>
                    <a:latin typeface="Mark Offc For MC Medium" panose="020B0604020101010102" pitchFamily="34" charset="0"/>
                  </a:rPr>
                  <a:t>Validated Release</a:t>
                </a:r>
              </a:p>
            </p:txBody>
          </p:sp>
          <p:pic>
            <p:nvPicPr>
              <p:cNvPr id="60" name="Picture 59">
                <a:extLst>
                  <a:ext uri="{FF2B5EF4-FFF2-40B4-BE49-F238E27FC236}">
                    <a16:creationId xmlns:a16="http://schemas.microsoft.com/office/drawing/2014/main" id="{C3D97FF2-43E3-B0B2-44BC-FE4B7A2D7A88}"/>
                  </a:ext>
                </a:extLst>
              </p:cNvPr>
              <p:cNvPicPr>
                <a:picLocks noChangeAspect="1"/>
              </p:cNvPicPr>
              <p:nvPr/>
            </p:nvPicPr>
            <p:blipFill>
              <a:blip r:embed="rId5"/>
              <a:stretch>
                <a:fillRect/>
              </a:stretch>
            </p:blipFill>
            <p:spPr>
              <a:xfrm>
                <a:off x="9463532" y="2211831"/>
                <a:ext cx="402336" cy="402336"/>
              </a:xfrm>
              <a:prstGeom prst="rect">
                <a:avLst/>
              </a:prstGeom>
            </p:spPr>
          </p:pic>
        </p:grpSp>
      </p:grpSp>
      <p:pic>
        <p:nvPicPr>
          <p:cNvPr id="64" name="Picture 63">
            <a:extLst>
              <a:ext uri="{FF2B5EF4-FFF2-40B4-BE49-F238E27FC236}">
                <a16:creationId xmlns:a16="http://schemas.microsoft.com/office/drawing/2014/main" id="{37ED7235-76ED-FAE8-F072-440E0D252BC7}"/>
              </a:ext>
            </a:extLst>
          </p:cNvPr>
          <p:cNvPicPr>
            <a:picLocks noChangeAspect="1"/>
          </p:cNvPicPr>
          <p:nvPr/>
        </p:nvPicPr>
        <p:blipFill>
          <a:blip r:embed="rId6"/>
          <a:stretch>
            <a:fillRect/>
          </a:stretch>
        </p:blipFill>
        <p:spPr>
          <a:xfrm>
            <a:off x="838200" y="3960981"/>
            <a:ext cx="402336" cy="402336"/>
          </a:xfrm>
          <a:prstGeom prst="rect">
            <a:avLst/>
          </a:prstGeom>
        </p:spPr>
      </p:pic>
      <p:pic>
        <p:nvPicPr>
          <p:cNvPr id="66" name="Picture 65">
            <a:extLst>
              <a:ext uri="{FF2B5EF4-FFF2-40B4-BE49-F238E27FC236}">
                <a16:creationId xmlns:a16="http://schemas.microsoft.com/office/drawing/2014/main" id="{CD5A8CD8-1974-2EA6-1B78-2C8925FC2F18}"/>
              </a:ext>
            </a:extLst>
          </p:cNvPr>
          <p:cNvPicPr>
            <a:picLocks noChangeAspect="1"/>
          </p:cNvPicPr>
          <p:nvPr/>
        </p:nvPicPr>
        <p:blipFill>
          <a:blip r:embed="rId7"/>
          <a:stretch>
            <a:fillRect/>
          </a:stretch>
        </p:blipFill>
        <p:spPr>
          <a:xfrm>
            <a:off x="4606488" y="3966988"/>
            <a:ext cx="402336" cy="402336"/>
          </a:xfrm>
          <a:prstGeom prst="rect">
            <a:avLst/>
          </a:prstGeom>
        </p:spPr>
      </p:pic>
      <p:pic>
        <p:nvPicPr>
          <p:cNvPr id="68" name="Picture 67">
            <a:extLst>
              <a:ext uri="{FF2B5EF4-FFF2-40B4-BE49-F238E27FC236}">
                <a16:creationId xmlns:a16="http://schemas.microsoft.com/office/drawing/2014/main" id="{98CAFAAA-3D1D-00DE-DD4D-256C3C3501DA}"/>
              </a:ext>
            </a:extLst>
          </p:cNvPr>
          <p:cNvPicPr>
            <a:picLocks noChangeAspect="1"/>
          </p:cNvPicPr>
          <p:nvPr/>
        </p:nvPicPr>
        <p:blipFill>
          <a:blip r:embed="rId8"/>
          <a:stretch>
            <a:fillRect/>
          </a:stretch>
        </p:blipFill>
        <p:spPr>
          <a:xfrm>
            <a:off x="8386064" y="3955365"/>
            <a:ext cx="402336" cy="40233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endParaRPr>
              <a:latin typeface="Mark Offc For MC" panose="020B0504020101010102" pitchFamily="34" charset="0"/>
            </a:endParaRPr>
          </a:p>
        </p:txBody>
      </p:sp>
      <p:sp>
        <p:nvSpPr>
          <p:cNvPr id="3" name="TextBox 2"/>
          <p:cNvSpPr txBox="1"/>
          <p:nvPr/>
        </p:nvSpPr>
        <p:spPr>
          <a:xfrm>
            <a:off x="609600" y="508000"/>
            <a:ext cx="6350000" cy="161583"/>
          </a:xfrm>
          <a:prstGeom prst="rect">
            <a:avLst/>
          </a:prstGeom>
          <a:noFill/>
        </p:spPr>
        <p:txBody>
          <a:bodyPr wrap="square" lIns="0" tIns="0" rIns="0" bIns="0" anchor="t">
            <a:spAutoFit/>
          </a:bodyPr>
          <a:lstStyle/>
          <a:p>
            <a:r>
              <a:rPr sz="1050" b="0" i="0" spc="160" dirty="0">
                <a:solidFill>
                  <a:srgbClr val="FF671B"/>
                </a:solidFill>
                <a:latin typeface="Mark Offc For MC Light" panose="020B0504020101010102" pitchFamily="34" charset="0"/>
              </a:rPr>
              <a:t>VALUE REALIZATION</a:t>
            </a:r>
          </a:p>
        </p:txBody>
      </p:sp>
      <p:sp>
        <p:nvSpPr>
          <p:cNvPr id="4" name="TextBox 3"/>
          <p:cNvSpPr txBox="1"/>
          <p:nvPr/>
        </p:nvSpPr>
        <p:spPr>
          <a:xfrm>
            <a:off x="609600" y="736600"/>
            <a:ext cx="10972800" cy="340029"/>
          </a:xfrm>
          <a:prstGeom prst="rect">
            <a:avLst/>
          </a:prstGeom>
          <a:noFill/>
        </p:spPr>
        <p:txBody>
          <a:bodyPr wrap="square" lIns="0" tIns="0" rIns="0" bIns="0" anchor="t">
            <a:spAutoFit/>
          </a:bodyPr>
          <a:lstStyle/>
          <a:p>
            <a:pPr>
              <a:lnSpc>
                <a:spcPct val="106000"/>
              </a:lnSpc>
            </a:pPr>
            <a:r>
              <a:rPr lang="en-US" sz="2300" b="0" i="0" dirty="0">
                <a:solidFill>
                  <a:srgbClr val="1A1A1A"/>
                </a:solidFill>
                <a:latin typeface="Mark Offc For MC" panose="020B0504020101010102" pitchFamily="34" charset="0"/>
              </a:rPr>
              <a:t>Autobench turns regulatory constraint into analytical advantage.</a:t>
            </a:r>
          </a:p>
        </p:txBody>
      </p:sp>
      <p:cxnSp>
        <p:nvCxnSpPr>
          <p:cNvPr id="5" name="Connector 4"/>
          <p:cNvCxnSpPr/>
          <p:nvPr/>
        </p:nvCxnSpPr>
        <p:spPr>
          <a:xfrm>
            <a:off x="609600" y="1625600"/>
            <a:ext cx="10972800" cy="0"/>
          </a:xfrm>
          <a:prstGeom prst="line">
            <a:avLst/>
          </a:prstGeom>
          <a:ln w="12700">
            <a:solidFill>
              <a:srgbClr val="E6E2DC"/>
            </a:solidFill>
          </a:ln>
        </p:spPr>
      </p:cxnSp>
      <p:sp>
        <p:nvSpPr>
          <p:cNvPr id="6" name="Rectangle 5"/>
          <p:cNvSpPr/>
          <p:nvPr/>
        </p:nvSpPr>
        <p:spPr>
          <a:xfrm>
            <a:off x="609600" y="1610360"/>
            <a:ext cx="685800" cy="30480"/>
          </a:xfrm>
          <a:prstGeom prst="rect">
            <a:avLst/>
          </a:prstGeom>
          <a:solidFill>
            <a:srgbClr val="FF671B"/>
          </a:solidFill>
          <a:ln>
            <a:noFill/>
          </a:ln>
          <a:effectLst/>
        </p:spPr>
        <p:txBody>
          <a:bodyPr rtlCol="0" anchor="ctr"/>
          <a:lstStyle/>
          <a:p>
            <a:pPr algn="ctr"/>
            <a:endParaRPr>
              <a:latin typeface="Mark Offc For MC" panose="020B0504020101010102" pitchFamily="34" charset="0"/>
            </a:endParaRPr>
          </a:p>
        </p:txBody>
      </p:sp>
      <p:sp>
        <p:nvSpPr>
          <p:cNvPr id="7" name="Rounded Rectangle 6"/>
          <p:cNvSpPr/>
          <p:nvPr/>
        </p:nvSpPr>
        <p:spPr>
          <a:xfrm>
            <a:off x="609600" y="1930400"/>
            <a:ext cx="3454400" cy="2717800"/>
          </a:xfrm>
          <a:prstGeom prst="roundRect">
            <a:avLst>
              <a:gd name="adj" fmla="val 5000"/>
            </a:avLst>
          </a:prstGeom>
          <a:solidFill>
            <a:srgbClr val="FBFAF8"/>
          </a:solidFill>
          <a:ln w="12700">
            <a:solidFill>
              <a:srgbClr val="E6E2DC"/>
            </a:solidFill>
          </a:ln>
          <a:effectLst/>
        </p:spPr>
        <p:txBody>
          <a:bodyPr rtlCol="0" anchor="ctr"/>
          <a:lstStyle/>
          <a:p>
            <a:pPr algn="ctr"/>
            <a:endParaRPr>
              <a:latin typeface="Mark Offc For MC" panose="020B0504020101010102" pitchFamily="34" charset="0"/>
            </a:endParaRPr>
          </a:p>
        </p:txBody>
      </p:sp>
      <p:sp>
        <p:nvSpPr>
          <p:cNvPr id="8" name="Rounded Rectangle 7"/>
          <p:cNvSpPr/>
          <p:nvPr/>
        </p:nvSpPr>
        <p:spPr>
          <a:xfrm>
            <a:off x="863600" y="2209800"/>
            <a:ext cx="533400" cy="533400"/>
          </a:xfrm>
          <a:prstGeom prst="roundRect">
            <a:avLst>
              <a:gd name="adj" fmla="val 26000"/>
            </a:avLst>
          </a:prstGeom>
          <a:solidFill>
            <a:srgbClr val="FFEDE2"/>
          </a:solidFill>
          <a:ln>
            <a:noFill/>
          </a:ln>
          <a:effectLst/>
        </p:spPr>
        <p:txBody>
          <a:bodyPr rtlCol="0" anchor="ctr"/>
          <a:lstStyle/>
          <a:p>
            <a:pPr algn="ctr"/>
            <a:endParaRPr>
              <a:latin typeface="Mark Offc For MC" panose="020B0504020101010102" pitchFamily="34" charset="0"/>
            </a:endParaRPr>
          </a:p>
        </p:txBody>
      </p:sp>
      <p:sp>
        <p:nvSpPr>
          <p:cNvPr id="10" name="TextBox 9"/>
          <p:cNvSpPr txBox="1"/>
          <p:nvPr/>
        </p:nvSpPr>
        <p:spPr>
          <a:xfrm>
            <a:off x="863600" y="2921000"/>
            <a:ext cx="2946400" cy="229165"/>
          </a:xfrm>
          <a:prstGeom prst="rect">
            <a:avLst/>
          </a:prstGeom>
          <a:noFill/>
        </p:spPr>
        <p:txBody>
          <a:bodyPr wrap="square" lIns="0" tIns="0" rIns="0" bIns="0" anchor="t">
            <a:spAutoFit/>
          </a:bodyPr>
          <a:lstStyle/>
          <a:p>
            <a:pPr>
              <a:lnSpc>
                <a:spcPct val="102000"/>
              </a:lnSpc>
            </a:pPr>
            <a:r>
              <a:rPr sz="1600" b="0" i="0" dirty="0">
                <a:solidFill>
                  <a:srgbClr val="1A1A1A"/>
                </a:solidFill>
                <a:latin typeface="Mark Offc For MC Medium" panose="020B0604020101010102" pitchFamily="34" charset="0"/>
              </a:rPr>
              <a:t>Absolute Compliance</a:t>
            </a:r>
          </a:p>
        </p:txBody>
      </p:sp>
      <p:sp>
        <p:nvSpPr>
          <p:cNvPr id="11" name="TextBox 10"/>
          <p:cNvSpPr txBox="1"/>
          <p:nvPr/>
        </p:nvSpPr>
        <p:spPr>
          <a:xfrm>
            <a:off x="863600" y="3378834"/>
            <a:ext cx="2946400" cy="963084"/>
          </a:xfrm>
          <a:prstGeom prst="rect">
            <a:avLst/>
          </a:prstGeom>
          <a:noFill/>
        </p:spPr>
        <p:txBody>
          <a:bodyPr wrap="square" lIns="0" tIns="0" rIns="0" bIns="0" anchor="t">
            <a:spAutoFit/>
          </a:bodyPr>
          <a:lstStyle/>
          <a:p>
            <a:pPr>
              <a:lnSpc>
                <a:spcPct val="118000"/>
              </a:lnSpc>
              <a:spcAft>
                <a:spcPts val="900"/>
              </a:spcAft>
            </a:pPr>
            <a:r>
              <a:rPr sz="1200" b="0" i="0" dirty="0">
                <a:solidFill>
                  <a:srgbClr val="FF671B"/>
                </a:solidFill>
                <a:latin typeface="Mark Offc For MC" panose="020B0504020101010102" pitchFamily="34" charset="0"/>
              </a:rPr>
              <a:t>—  </a:t>
            </a:r>
            <a:r>
              <a:rPr sz="1200" b="0" i="0" dirty="0">
                <a:solidFill>
                  <a:srgbClr val="3C3F44"/>
                </a:solidFill>
                <a:latin typeface="Mark Offc For MC" panose="020B0504020101010102" pitchFamily="34" charset="0"/>
              </a:rPr>
              <a:t>100% adherence to Control 3.2 privacy caps.</a:t>
            </a:r>
          </a:p>
          <a:p>
            <a:pPr>
              <a:lnSpc>
                <a:spcPct val="118000"/>
              </a:lnSpc>
              <a:spcAft>
                <a:spcPts val="900"/>
              </a:spcAft>
            </a:pPr>
            <a:r>
              <a:rPr sz="1200" b="0" i="0" dirty="0">
                <a:solidFill>
                  <a:srgbClr val="FF671B"/>
                </a:solidFill>
                <a:latin typeface="Mark Offc For MC" panose="020B0504020101010102" pitchFamily="34" charset="0"/>
              </a:rPr>
              <a:t>—  </a:t>
            </a:r>
            <a:r>
              <a:rPr sz="1200" b="0" i="0" dirty="0">
                <a:solidFill>
                  <a:srgbClr val="3C3F44"/>
                </a:solidFill>
                <a:latin typeface="Mark Offc For MC" panose="020B0504020101010102" pitchFamily="34" charset="0"/>
              </a:rPr>
              <a:t>Cryptographically verifiable audit trails.</a:t>
            </a:r>
          </a:p>
        </p:txBody>
      </p:sp>
      <p:sp>
        <p:nvSpPr>
          <p:cNvPr id="12" name="Rounded Rectangle 11"/>
          <p:cNvSpPr/>
          <p:nvPr/>
        </p:nvSpPr>
        <p:spPr>
          <a:xfrm>
            <a:off x="4368800" y="1930400"/>
            <a:ext cx="3454400" cy="2717800"/>
          </a:xfrm>
          <a:prstGeom prst="roundRect">
            <a:avLst>
              <a:gd name="adj" fmla="val 5000"/>
            </a:avLst>
          </a:prstGeom>
          <a:solidFill>
            <a:srgbClr val="FBFAF8"/>
          </a:solidFill>
          <a:ln w="12700">
            <a:solidFill>
              <a:srgbClr val="E6E2DC"/>
            </a:solidFill>
          </a:ln>
          <a:effectLst/>
        </p:spPr>
        <p:txBody>
          <a:bodyPr rtlCol="0" anchor="ctr"/>
          <a:lstStyle/>
          <a:p>
            <a:pPr algn="ctr"/>
            <a:endParaRPr>
              <a:latin typeface="Mark Offc For MC" panose="020B0504020101010102" pitchFamily="34" charset="0"/>
            </a:endParaRPr>
          </a:p>
        </p:txBody>
      </p:sp>
      <p:sp>
        <p:nvSpPr>
          <p:cNvPr id="13" name="Rounded Rectangle 12"/>
          <p:cNvSpPr/>
          <p:nvPr/>
        </p:nvSpPr>
        <p:spPr>
          <a:xfrm>
            <a:off x="4622800" y="2209800"/>
            <a:ext cx="533400" cy="533400"/>
          </a:xfrm>
          <a:prstGeom prst="roundRect">
            <a:avLst>
              <a:gd name="adj" fmla="val 26000"/>
            </a:avLst>
          </a:prstGeom>
          <a:solidFill>
            <a:srgbClr val="FFEDE2"/>
          </a:solidFill>
          <a:ln>
            <a:noFill/>
          </a:ln>
          <a:effectLst/>
        </p:spPr>
        <p:txBody>
          <a:bodyPr rtlCol="0" anchor="ctr"/>
          <a:lstStyle/>
          <a:p>
            <a:pPr algn="ctr"/>
            <a:endParaRPr>
              <a:latin typeface="Mark Offc For MC" panose="020B0504020101010102" pitchFamily="34" charset="0"/>
            </a:endParaRPr>
          </a:p>
        </p:txBody>
      </p:sp>
      <p:sp>
        <p:nvSpPr>
          <p:cNvPr id="15" name="TextBox 14"/>
          <p:cNvSpPr txBox="1"/>
          <p:nvPr/>
        </p:nvSpPr>
        <p:spPr>
          <a:xfrm>
            <a:off x="4622800" y="2921000"/>
            <a:ext cx="2946400" cy="229165"/>
          </a:xfrm>
          <a:prstGeom prst="rect">
            <a:avLst/>
          </a:prstGeom>
          <a:noFill/>
        </p:spPr>
        <p:txBody>
          <a:bodyPr wrap="square" lIns="0" tIns="0" rIns="0" bIns="0" anchor="t">
            <a:spAutoFit/>
          </a:bodyPr>
          <a:lstStyle/>
          <a:p>
            <a:pPr>
              <a:lnSpc>
                <a:spcPct val="102000"/>
              </a:lnSpc>
            </a:pPr>
            <a:r>
              <a:rPr sz="1600" b="0" i="0">
                <a:solidFill>
                  <a:srgbClr val="1A1A1A"/>
                </a:solidFill>
                <a:latin typeface="Mark Offc For MC Medium" panose="020B0604020101010102" pitchFamily="34" charset="0"/>
              </a:rPr>
              <a:t>Mathematical Superiority</a:t>
            </a:r>
          </a:p>
        </p:txBody>
      </p:sp>
      <p:sp>
        <p:nvSpPr>
          <p:cNvPr id="16" name="TextBox 15"/>
          <p:cNvSpPr txBox="1"/>
          <p:nvPr/>
        </p:nvSpPr>
        <p:spPr>
          <a:xfrm>
            <a:off x="4622800" y="3378834"/>
            <a:ext cx="2946400" cy="963084"/>
          </a:xfrm>
          <a:prstGeom prst="rect">
            <a:avLst/>
          </a:prstGeom>
          <a:noFill/>
        </p:spPr>
        <p:txBody>
          <a:bodyPr wrap="square" lIns="0" tIns="0" rIns="0" bIns="0" anchor="t">
            <a:spAutoFit/>
          </a:bodyPr>
          <a:lstStyle/>
          <a:p>
            <a:pPr>
              <a:lnSpc>
                <a:spcPct val="118000"/>
              </a:lnSpc>
              <a:spcAft>
                <a:spcPts val="900"/>
              </a:spcAft>
            </a:pPr>
            <a:r>
              <a:rPr sz="1200" b="0" i="0" dirty="0">
                <a:solidFill>
                  <a:srgbClr val="FF671B"/>
                </a:solidFill>
                <a:latin typeface="Mark Offc For MC" panose="020B0504020101010102" pitchFamily="34" charset="0"/>
              </a:rPr>
              <a:t>—  </a:t>
            </a:r>
            <a:r>
              <a:rPr sz="1200" b="0" i="0" dirty="0">
                <a:solidFill>
                  <a:srgbClr val="3C3F44"/>
                </a:solidFill>
                <a:latin typeface="Mark Offc For MC" panose="020B0504020101010102" pitchFamily="34" charset="0"/>
              </a:rPr>
              <a:t>Industry-leading LP solvers minimize data distortion.</a:t>
            </a:r>
          </a:p>
          <a:p>
            <a:pPr>
              <a:lnSpc>
                <a:spcPct val="118000"/>
              </a:lnSpc>
              <a:spcAft>
                <a:spcPts val="900"/>
              </a:spcAft>
            </a:pPr>
            <a:r>
              <a:rPr sz="1200" b="0" i="0" dirty="0">
                <a:solidFill>
                  <a:srgbClr val="FF671B"/>
                </a:solidFill>
                <a:latin typeface="Mark Offc For MC" panose="020B0504020101010102" pitchFamily="34" charset="0"/>
              </a:rPr>
              <a:t>—  </a:t>
            </a:r>
            <a:r>
              <a:rPr sz="1200" b="0" i="0" dirty="0">
                <a:solidFill>
                  <a:srgbClr val="3C3F44"/>
                </a:solidFill>
                <a:latin typeface="Mark Offc For MC" panose="020B0504020101010102" pitchFamily="34" charset="0"/>
              </a:rPr>
              <a:t>Unlocks insight in sparse data that legacy tools abandon.</a:t>
            </a:r>
          </a:p>
        </p:txBody>
      </p:sp>
      <p:sp>
        <p:nvSpPr>
          <p:cNvPr id="17" name="Rounded Rectangle 16"/>
          <p:cNvSpPr/>
          <p:nvPr/>
        </p:nvSpPr>
        <p:spPr>
          <a:xfrm>
            <a:off x="8128000" y="1930400"/>
            <a:ext cx="3454400" cy="2717800"/>
          </a:xfrm>
          <a:prstGeom prst="roundRect">
            <a:avLst>
              <a:gd name="adj" fmla="val 5000"/>
            </a:avLst>
          </a:prstGeom>
          <a:solidFill>
            <a:srgbClr val="FBFAF8"/>
          </a:solidFill>
          <a:ln w="12700">
            <a:solidFill>
              <a:srgbClr val="E6E2DC"/>
            </a:solidFill>
          </a:ln>
          <a:effectLst/>
        </p:spPr>
        <p:txBody>
          <a:bodyPr rtlCol="0" anchor="ctr"/>
          <a:lstStyle/>
          <a:p>
            <a:pPr algn="ctr"/>
            <a:endParaRPr>
              <a:latin typeface="Mark Offc For MC" panose="020B0504020101010102" pitchFamily="34" charset="0"/>
            </a:endParaRPr>
          </a:p>
        </p:txBody>
      </p:sp>
      <p:sp>
        <p:nvSpPr>
          <p:cNvPr id="18" name="Rounded Rectangle 17"/>
          <p:cNvSpPr/>
          <p:nvPr/>
        </p:nvSpPr>
        <p:spPr>
          <a:xfrm>
            <a:off x="8382000" y="2209800"/>
            <a:ext cx="533400" cy="533400"/>
          </a:xfrm>
          <a:prstGeom prst="roundRect">
            <a:avLst>
              <a:gd name="adj" fmla="val 26000"/>
            </a:avLst>
          </a:prstGeom>
          <a:solidFill>
            <a:srgbClr val="FFEDE2"/>
          </a:solidFill>
          <a:ln>
            <a:noFill/>
          </a:ln>
          <a:effectLst/>
        </p:spPr>
        <p:txBody>
          <a:bodyPr rtlCol="0" anchor="ctr"/>
          <a:lstStyle/>
          <a:p>
            <a:pPr algn="ctr"/>
            <a:endParaRPr>
              <a:latin typeface="Mark Offc For MC" panose="020B0504020101010102" pitchFamily="34" charset="0"/>
            </a:endParaRPr>
          </a:p>
        </p:txBody>
      </p:sp>
      <p:sp>
        <p:nvSpPr>
          <p:cNvPr id="20" name="TextBox 19"/>
          <p:cNvSpPr txBox="1"/>
          <p:nvPr/>
        </p:nvSpPr>
        <p:spPr>
          <a:xfrm>
            <a:off x="8382000" y="2921000"/>
            <a:ext cx="2946400" cy="229165"/>
          </a:xfrm>
          <a:prstGeom prst="rect">
            <a:avLst/>
          </a:prstGeom>
          <a:noFill/>
        </p:spPr>
        <p:txBody>
          <a:bodyPr wrap="square" lIns="0" tIns="0" rIns="0" bIns="0" anchor="t">
            <a:spAutoFit/>
          </a:bodyPr>
          <a:lstStyle/>
          <a:p>
            <a:pPr>
              <a:lnSpc>
                <a:spcPct val="102000"/>
              </a:lnSpc>
            </a:pPr>
            <a:r>
              <a:rPr sz="1600" b="0" i="0">
                <a:solidFill>
                  <a:srgbClr val="1A1A1A"/>
                </a:solidFill>
                <a:latin typeface="Mark Offc For MC Medium" panose="020B0604020101010102" pitchFamily="34" charset="0"/>
              </a:rPr>
              <a:t>Operational Agility</a:t>
            </a:r>
          </a:p>
        </p:txBody>
      </p:sp>
      <p:sp>
        <p:nvSpPr>
          <p:cNvPr id="21" name="TextBox 20"/>
          <p:cNvSpPr txBox="1"/>
          <p:nvPr/>
        </p:nvSpPr>
        <p:spPr>
          <a:xfrm>
            <a:off x="8382000" y="3378834"/>
            <a:ext cx="2946400" cy="745204"/>
          </a:xfrm>
          <a:prstGeom prst="rect">
            <a:avLst/>
          </a:prstGeom>
          <a:noFill/>
        </p:spPr>
        <p:txBody>
          <a:bodyPr wrap="square" lIns="0" tIns="0" rIns="0" bIns="0" anchor="t">
            <a:spAutoFit/>
          </a:bodyPr>
          <a:lstStyle/>
          <a:p>
            <a:pPr>
              <a:lnSpc>
                <a:spcPct val="118000"/>
              </a:lnSpc>
              <a:spcAft>
                <a:spcPts val="900"/>
              </a:spcAft>
            </a:pPr>
            <a:r>
              <a:rPr sz="1200" b="0" i="0" dirty="0">
                <a:solidFill>
                  <a:srgbClr val="FF671B"/>
                </a:solidFill>
                <a:latin typeface="Mark Offc For MC" panose="020B0504020101010102" pitchFamily="34" charset="0"/>
              </a:rPr>
              <a:t>—  </a:t>
            </a:r>
            <a:r>
              <a:rPr sz="1200" b="0" i="0" dirty="0">
                <a:solidFill>
                  <a:srgbClr val="3C3F44"/>
                </a:solidFill>
                <a:latin typeface="Mark Offc For MC" panose="020B0504020101010102" pitchFamily="34" charset="0"/>
              </a:rPr>
              <a:t>TUI and lean mode democratize access at massive scale.</a:t>
            </a:r>
          </a:p>
          <a:p>
            <a:pPr>
              <a:lnSpc>
                <a:spcPct val="118000"/>
              </a:lnSpc>
              <a:spcAft>
                <a:spcPts val="900"/>
              </a:spcAft>
            </a:pPr>
            <a:r>
              <a:rPr sz="1200" b="0" i="0" dirty="0">
                <a:solidFill>
                  <a:srgbClr val="FF671B"/>
                </a:solidFill>
                <a:latin typeface="Mark Offc For MC" panose="020B0504020101010102" pitchFamily="34" charset="0"/>
              </a:rPr>
              <a:t>—  </a:t>
            </a:r>
            <a:r>
              <a:rPr sz="1200" b="0" i="0" dirty="0">
                <a:solidFill>
                  <a:srgbClr val="3C3F44"/>
                </a:solidFill>
                <a:latin typeface="Mark Offc For MC" panose="020B0504020101010102" pitchFamily="34" charset="0"/>
              </a:rPr>
              <a:t>No infrastructure bloat.</a:t>
            </a:r>
          </a:p>
        </p:txBody>
      </p:sp>
      <p:sp>
        <p:nvSpPr>
          <p:cNvPr id="22" name="Rounded Rectangle 21"/>
          <p:cNvSpPr/>
          <p:nvPr/>
        </p:nvSpPr>
        <p:spPr>
          <a:xfrm>
            <a:off x="609600" y="5029200"/>
            <a:ext cx="10972800" cy="863600"/>
          </a:xfrm>
          <a:prstGeom prst="roundRect">
            <a:avLst>
              <a:gd name="adj" fmla="val 10000"/>
            </a:avLst>
          </a:prstGeom>
          <a:solidFill>
            <a:srgbClr val="FF671B"/>
          </a:solidFill>
          <a:ln>
            <a:noFill/>
          </a:ln>
          <a:effectLst/>
        </p:spPr>
        <p:txBody>
          <a:bodyPr rtlCol="0" anchor="ctr"/>
          <a:lstStyle/>
          <a:p>
            <a:pPr algn="ctr"/>
            <a:endParaRPr>
              <a:latin typeface="Mark Offc For MC" panose="020B0504020101010102" pitchFamily="34" charset="0"/>
            </a:endParaRPr>
          </a:p>
        </p:txBody>
      </p:sp>
      <p:sp>
        <p:nvSpPr>
          <p:cNvPr id="23" name="TextBox 22"/>
          <p:cNvSpPr txBox="1"/>
          <p:nvPr/>
        </p:nvSpPr>
        <p:spPr>
          <a:xfrm>
            <a:off x="609600" y="5322500"/>
            <a:ext cx="10972800" cy="276999"/>
          </a:xfrm>
          <a:prstGeom prst="rect">
            <a:avLst/>
          </a:prstGeom>
          <a:noFill/>
        </p:spPr>
        <p:txBody>
          <a:bodyPr wrap="square" lIns="0" tIns="0" rIns="0" bIns="0" anchor="ctr">
            <a:spAutoFit/>
          </a:bodyPr>
          <a:lstStyle/>
          <a:p>
            <a:pPr algn="ctr"/>
            <a:r>
              <a:rPr sz="1800" b="0" i="0">
                <a:solidFill>
                  <a:srgbClr val="FFFFFF"/>
                </a:solidFill>
                <a:latin typeface="Mark Offc For MC" panose="020B0504020101010102" pitchFamily="34" charset="0"/>
              </a:rPr>
              <a:t>Compliant data is no longer a compromise. It is an exact science.</a:t>
            </a:r>
          </a:p>
        </p:txBody>
      </p:sp>
      <p:sp>
        <p:nvSpPr>
          <p:cNvPr id="24" name="TextBox 23"/>
          <p:cNvSpPr txBox="1"/>
          <p:nvPr/>
        </p:nvSpPr>
        <p:spPr>
          <a:xfrm>
            <a:off x="609600" y="6509350"/>
            <a:ext cx="2540000" cy="138499"/>
          </a:xfrm>
          <a:prstGeom prst="rect">
            <a:avLst/>
          </a:prstGeom>
          <a:noFill/>
        </p:spPr>
        <p:txBody>
          <a:bodyPr wrap="square" lIns="0" tIns="0" rIns="0" bIns="0" anchor="ctr">
            <a:spAutoFit/>
          </a:bodyPr>
          <a:lstStyle/>
          <a:p>
            <a:r>
              <a:rPr sz="900" b="0" i="0" dirty="0">
                <a:solidFill>
                  <a:srgbClr val="FF671B"/>
                </a:solidFill>
                <a:latin typeface="Mark Offc For MC" panose="020B0504020101010102" pitchFamily="34" charset="0"/>
              </a:rPr>
              <a:t>13</a:t>
            </a:r>
            <a:r>
              <a:rPr sz="900" b="0" i="0" dirty="0">
                <a:solidFill>
                  <a:srgbClr val="9CA0A6"/>
                </a:solidFill>
                <a:latin typeface="Mark Offc For MC" panose="020B0504020101010102" pitchFamily="34" charset="0"/>
              </a:rPr>
              <a:t>  /  13</a:t>
            </a:r>
          </a:p>
        </p:txBody>
      </p:sp>
      <p:sp>
        <p:nvSpPr>
          <p:cNvPr id="25" name="TextBox 24"/>
          <p:cNvSpPr txBox="1"/>
          <p:nvPr/>
        </p:nvSpPr>
        <p:spPr>
          <a:xfrm>
            <a:off x="11912600" y="2931613"/>
            <a:ext cx="100027" cy="2021387"/>
          </a:xfrm>
          <a:prstGeom prst="rect">
            <a:avLst/>
          </a:prstGeom>
          <a:noFill/>
        </p:spPr>
        <p:txBody>
          <a:bodyPr vert="vert270" wrap="none" lIns="0" tIns="0" rIns="0" bIns="0">
            <a:spAutoFit/>
          </a:bodyPr>
          <a:lstStyle/>
          <a:p>
            <a:r>
              <a:rPr sz="650">
                <a:solidFill>
                  <a:srgbClr val="9CA0A6"/>
                </a:solidFill>
                <a:latin typeface="Mark Offc For MC" panose="020B0504020101010102" pitchFamily="34" charset="0"/>
              </a:rPr>
              <a:t>© 2025 Mastercard. Proprietary and Confidential.</a:t>
            </a:r>
          </a:p>
        </p:txBody>
      </p:sp>
      <p:sp>
        <p:nvSpPr>
          <p:cNvPr id="26" name="Oval 25"/>
          <p:cNvSpPr/>
          <p:nvPr/>
        </p:nvSpPr>
        <p:spPr>
          <a:xfrm>
            <a:off x="11080496" y="6248400"/>
            <a:ext cx="330200" cy="330200"/>
          </a:xfrm>
          <a:prstGeom prst="ellipse">
            <a:avLst/>
          </a:prstGeom>
          <a:solidFill>
            <a:srgbClr val="EB001B"/>
          </a:solidFill>
          <a:ln>
            <a:noFill/>
          </a:ln>
          <a:effectLst/>
        </p:spPr>
        <p:txBody>
          <a:bodyPr rtlCol="0" anchor="ctr"/>
          <a:lstStyle/>
          <a:p>
            <a:pPr algn="ctr"/>
            <a:endParaRPr>
              <a:latin typeface="Mark Offc For MC" panose="020B0504020101010102" pitchFamily="34" charset="0"/>
            </a:endParaRPr>
          </a:p>
        </p:txBody>
      </p:sp>
      <p:sp>
        <p:nvSpPr>
          <p:cNvPr id="27" name="Oval 26"/>
          <p:cNvSpPr/>
          <p:nvPr/>
        </p:nvSpPr>
        <p:spPr>
          <a:xfrm>
            <a:off x="11252200" y="6248400"/>
            <a:ext cx="330200" cy="330200"/>
          </a:xfrm>
          <a:prstGeom prst="ellipse">
            <a:avLst/>
          </a:prstGeom>
          <a:solidFill>
            <a:srgbClr val="F79E1B"/>
          </a:solidFill>
          <a:ln>
            <a:noFill/>
          </a:ln>
          <a:effectLst/>
        </p:spPr>
        <p:txBody>
          <a:bodyPr rtlCol="0" anchor="ctr"/>
          <a:lstStyle/>
          <a:p>
            <a:pPr algn="ctr"/>
            <a:endParaRPr>
              <a:latin typeface="Mark Offc For MC" panose="020B0504020101010102" pitchFamily="34" charset="0"/>
            </a:endParaRPr>
          </a:p>
        </p:txBody>
      </p:sp>
      <p:sp>
        <p:nvSpPr>
          <p:cNvPr id="28" name="Oval 27"/>
          <p:cNvSpPr/>
          <p:nvPr/>
        </p:nvSpPr>
        <p:spPr>
          <a:xfrm>
            <a:off x="11252200" y="6272339"/>
            <a:ext cx="158496" cy="282321"/>
          </a:xfrm>
          <a:prstGeom prst="ellipse">
            <a:avLst/>
          </a:prstGeom>
          <a:solidFill>
            <a:srgbClr val="FF5F00"/>
          </a:solidFill>
          <a:ln>
            <a:noFill/>
          </a:ln>
          <a:effectLst/>
        </p:spPr>
        <p:txBody>
          <a:bodyPr rtlCol="0" anchor="ctr"/>
          <a:lstStyle/>
          <a:p>
            <a:pPr algn="ctr"/>
            <a:endParaRPr>
              <a:latin typeface="Mark Offc For MC" panose="020B0504020101010102" pitchFamily="34" charset="0"/>
            </a:endParaRPr>
          </a:p>
        </p:txBody>
      </p:sp>
      <p:pic>
        <p:nvPicPr>
          <p:cNvPr id="30" name="Picture 29">
            <a:extLst>
              <a:ext uri="{FF2B5EF4-FFF2-40B4-BE49-F238E27FC236}">
                <a16:creationId xmlns:a16="http://schemas.microsoft.com/office/drawing/2014/main" id="{F4FD0DA3-EEA7-6C88-0EAE-01CF7CE2C8AE}"/>
              </a:ext>
            </a:extLst>
          </p:cNvPr>
          <p:cNvPicPr>
            <a:picLocks noChangeAspect="1"/>
          </p:cNvPicPr>
          <p:nvPr/>
        </p:nvPicPr>
        <p:blipFill>
          <a:blip r:embed="rId2"/>
          <a:stretch>
            <a:fillRect/>
          </a:stretch>
        </p:blipFill>
        <p:spPr>
          <a:xfrm>
            <a:off x="924560" y="2292837"/>
            <a:ext cx="402336" cy="402336"/>
          </a:xfrm>
          <a:prstGeom prst="rect">
            <a:avLst/>
          </a:prstGeom>
        </p:spPr>
      </p:pic>
      <p:pic>
        <p:nvPicPr>
          <p:cNvPr id="32" name="Picture 31">
            <a:extLst>
              <a:ext uri="{FF2B5EF4-FFF2-40B4-BE49-F238E27FC236}">
                <a16:creationId xmlns:a16="http://schemas.microsoft.com/office/drawing/2014/main" id="{A0B91447-77C8-3CAB-C5D5-C159E68DFE4A}"/>
              </a:ext>
            </a:extLst>
          </p:cNvPr>
          <p:cNvPicPr>
            <a:picLocks noChangeAspect="1"/>
          </p:cNvPicPr>
          <p:nvPr/>
        </p:nvPicPr>
        <p:blipFill>
          <a:blip r:embed="rId3"/>
          <a:stretch>
            <a:fillRect/>
          </a:stretch>
        </p:blipFill>
        <p:spPr>
          <a:xfrm>
            <a:off x="4688332" y="2292837"/>
            <a:ext cx="402336" cy="402336"/>
          </a:xfrm>
          <a:prstGeom prst="rect">
            <a:avLst/>
          </a:prstGeom>
        </p:spPr>
      </p:pic>
      <p:pic>
        <p:nvPicPr>
          <p:cNvPr id="34" name="Picture 33">
            <a:extLst>
              <a:ext uri="{FF2B5EF4-FFF2-40B4-BE49-F238E27FC236}">
                <a16:creationId xmlns:a16="http://schemas.microsoft.com/office/drawing/2014/main" id="{5969FEF3-D75B-845A-FEAD-E33F94FE5E1F}"/>
              </a:ext>
            </a:extLst>
          </p:cNvPr>
          <p:cNvPicPr>
            <a:picLocks noChangeAspect="1"/>
          </p:cNvPicPr>
          <p:nvPr/>
        </p:nvPicPr>
        <p:blipFill>
          <a:blip r:embed="rId4"/>
          <a:stretch>
            <a:fillRect/>
          </a:stretch>
        </p:blipFill>
        <p:spPr>
          <a:xfrm>
            <a:off x="8447532" y="2286347"/>
            <a:ext cx="402336" cy="40233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68163-4F89-B2F9-C627-7AAFB38400B1}"/>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BF60F5C-CC11-1F3C-171F-1622BE97104E}"/>
              </a:ext>
            </a:extLst>
          </p:cNvPr>
          <p:cNvGraphicFramePr>
            <a:graphicFrameLocks/>
          </p:cNvGraphicFramePr>
          <p:nvPr>
            <p:custDataLst>
              <p:tags r:id="rId1"/>
            </p:custDataLst>
            <p:extLst>
              <p:ext uri="{D42A27DB-BD31-4B8C-83A1-F6EECF244321}">
                <p14:modId xmlns:p14="http://schemas.microsoft.com/office/powerpoint/2010/main" val="3235696921"/>
              </p:ext>
            </p:extLst>
          </p:nvPr>
        </p:nvGraphicFramePr>
        <p:xfrm>
          <a:off x="1324" y="1324"/>
          <a:ext cx="1323" cy="1323"/>
        </p:xfrm>
        <a:graphic>
          <a:graphicData uri="http://schemas.openxmlformats.org/presentationml/2006/ole">
            <mc:AlternateContent xmlns:mc="http://schemas.openxmlformats.org/markup-compatibility/2006">
              <mc:Choice xmlns:v="urn:schemas-microsoft-com:vml" Requires="v">
                <p:oleObj name="think-cell Slide" r:id="rId14" imgW="435" imgH="435" progId="TCLayout.ActiveDocument.1">
                  <p:embed/>
                </p:oleObj>
              </mc:Choice>
              <mc:Fallback>
                <p:oleObj name="think-cell Slide" r:id="rId14" imgW="435" imgH="435" progId="TCLayout.ActiveDocument.1">
                  <p:embed/>
                  <p:pic>
                    <p:nvPicPr>
                      <p:cNvPr id="5" name="think-cell data - do not delete" hidden="1">
                        <a:extLst>
                          <a:ext uri="{FF2B5EF4-FFF2-40B4-BE49-F238E27FC236}">
                            <a16:creationId xmlns:a16="http://schemas.microsoft.com/office/drawing/2014/main" id="{5BF60F5C-CC11-1F3C-171F-1622BE97104E}"/>
                          </a:ext>
                        </a:extLst>
                      </p:cNvPr>
                      <p:cNvPicPr/>
                      <p:nvPr/>
                    </p:nvPicPr>
                    <p:blipFill>
                      <a:blip r:embed="rId15"/>
                      <a:stretch>
                        <a:fillRect/>
                      </a:stretch>
                    </p:blipFill>
                    <p:spPr>
                      <a:xfrm>
                        <a:off x="1324" y="1324"/>
                        <a:ext cx="1323" cy="1323"/>
                      </a:xfrm>
                      <a:prstGeom prst="rect">
                        <a:avLst/>
                      </a:prstGeom>
                    </p:spPr>
                  </p:pic>
                </p:oleObj>
              </mc:Fallback>
            </mc:AlternateContent>
          </a:graphicData>
        </a:graphic>
      </p:graphicFrame>
      <p:sp>
        <p:nvSpPr>
          <p:cNvPr id="7" name="Rectangle: Rounded Corners 6">
            <a:extLst>
              <a:ext uri="{FF2B5EF4-FFF2-40B4-BE49-F238E27FC236}">
                <a16:creationId xmlns:a16="http://schemas.microsoft.com/office/drawing/2014/main" id="{7D5C5839-2FE6-7FA7-5F26-A65E3BDDF6D9}"/>
              </a:ext>
            </a:extLst>
          </p:cNvPr>
          <p:cNvSpPr/>
          <p:nvPr/>
        </p:nvSpPr>
        <p:spPr>
          <a:xfrm>
            <a:off x="6253439" y="1996836"/>
            <a:ext cx="5273468" cy="2450155"/>
          </a:xfrm>
          <a:prstGeom prst="roundRect">
            <a:avLst>
              <a:gd name="adj" fmla="val 3309"/>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500"/>
          </a:p>
        </p:txBody>
      </p:sp>
      <p:sp>
        <p:nvSpPr>
          <p:cNvPr id="4" name="Rectangle: Rounded Corners 3">
            <a:extLst>
              <a:ext uri="{FF2B5EF4-FFF2-40B4-BE49-F238E27FC236}">
                <a16:creationId xmlns:a16="http://schemas.microsoft.com/office/drawing/2014/main" id="{115DD033-F1DB-5CED-3B4C-4A8C46C5EE2C}"/>
              </a:ext>
            </a:extLst>
          </p:cNvPr>
          <p:cNvSpPr/>
          <p:nvPr/>
        </p:nvSpPr>
        <p:spPr>
          <a:xfrm>
            <a:off x="403748" y="1996837"/>
            <a:ext cx="6460550" cy="2450155"/>
          </a:xfrm>
          <a:prstGeom prst="roundRect">
            <a:avLst>
              <a:gd name="adj" fmla="val 3309"/>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500"/>
          </a:p>
        </p:txBody>
      </p:sp>
      <p:graphicFrame>
        <p:nvGraphicFramePr>
          <p:cNvPr id="52" name="Table 51">
            <a:extLst>
              <a:ext uri="{FF2B5EF4-FFF2-40B4-BE49-F238E27FC236}">
                <a16:creationId xmlns:a16="http://schemas.microsoft.com/office/drawing/2014/main" id="{889C02BA-E8A0-8F4F-13D6-9687CC5D587D}"/>
              </a:ext>
            </a:extLst>
          </p:cNvPr>
          <p:cNvGraphicFramePr>
            <a:graphicFrameLocks noGrp="1"/>
          </p:cNvGraphicFramePr>
          <p:nvPr>
            <p:extLst>
              <p:ext uri="{D42A27DB-BD31-4B8C-83A1-F6EECF244321}">
                <p14:modId xmlns:p14="http://schemas.microsoft.com/office/powerpoint/2010/main" val="336828974"/>
              </p:ext>
            </p:extLst>
          </p:nvPr>
        </p:nvGraphicFramePr>
        <p:xfrm>
          <a:off x="665094" y="2189132"/>
          <a:ext cx="4615376" cy="1819548"/>
        </p:xfrm>
        <a:graphic>
          <a:graphicData uri="http://schemas.openxmlformats.org/drawingml/2006/table">
            <a:tbl>
              <a:tblPr firstRow="1" bandRow="1"/>
              <a:tblGrid>
                <a:gridCol w="931056">
                  <a:extLst>
                    <a:ext uri="{9D8B030D-6E8A-4147-A177-3AD203B41FA5}">
                      <a16:colId xmlns:a16="http://schemas.microsoft.com/office/drawing/2014/main" val="1934606165"/>
                    </a:ext>
                  </a:extLst>
                </a:gridCol>
                <a:gridCol w="1177484">
                  <a:extLst>
                    <a:ext uri="{9D8B030D-6E8A-4147-A177-3AD203B41FA5}">
                      <a16:colId xmlns:a16="http://schemas.microsoft.com/office/drawing/2014/main" val="1409564932"/>
                    </a:ext>
                  </a:extLst>
                </a:gridCol>
                <a:gridCol w="1253418">
                  <a:extLst>
                    <a:ext uri="{9D8B030D-6E8A-4147-A177-3AD203B41FA5}">
                      <a16:colId xmlns:a16="http://schemas.microsoft.com/office/drawing/2014/main" val="3648771152"/>
                    </a:ext>
                  </a:extLst>
                </a:gridCol>
                <a:gridCol w="1253418">
                  <a:extLst>
                    <a:ext uri="{9D8B030D-6E8A-4147-A177-3AD203B41FA5}">
                      <a16:colId xmlns:a16="http://schemas.microsoft.com/office/drawing/2014/main" val="2067023254"/>
                    </a:ext>
                  </a:extLst>
                </a:gridCol>
              </a:tblGrid>
              <a:tr h="267573">
                <a:tc gridSpan="4">
                  <a:txBody>
                    <a:bodyPr/>
                    <a:lstStyle/>
                    <a:p>
                      <a:pPr algn="ctr"/>
                      <a:r>
                        <a:rPr lang="en-US" sz="1000" b="1" dirty="0">
                          <a:solidFill>
                            <a:schemeClr val="bg1"/>
                          </a:solidFill>
                        </a:rPr>
                        <a:t>Balancing Time Per Peer — Before vs. After</a:t>
                      </a:r>
                    </a:p>
                  </a:txBody>
                  <a:tcPr marL="76200" marR="762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671B">
                        <a:alpha val="90000"/>
                      </a:srgbClr>
                    </a:solidFill>
                  </a:tcPr>
                </a:tc>
                <a:tc hMerge="1">
                  <a:txBody>
                    <a:bodyPr/>
                    <a:lstStyle/>
                    <a:p>
                      <a:pPr algn="ctr"/>
                      <a:endParaRPr lang="pt-BR"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5000"/>
                        <a:alpha val="90000"/>
                      </a:schemeClr>
                    </a:solidFill>
                  </a:tcPr>
                </a:tc>
                <a:tc hMerge="1">
                  <a:txBody>
                    <a:bodyPr/>
                    <a:lstStyle/>
                    <a:p>
                      <a:pPr algn="ctr"/>
                      <a:endParaRPr lang="pt-BR"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5000"/>
                        <a:alpha val="90000"/>
                      </a:schemeClr>
                    </a:solidFill>
                  </a:tcPr>
                </a:tc>
                <a:tc hMerge="1">
                  <a:txBody>
                    <a:bodyPr/>
                    <a:lstStyle/>
                    <a:p>
                      <a:pPr algn="ctr"/>
                      <a:endParaRPr lang="pt-BR" sz="12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5000"/>
                        <a:alpha val="90000"/>
                      </a:schemeClr>
                    </a:solidFill>
                  </a:tcPr>
                </a:tc>
                <a:extLst>
                  <a:ext uri="{0D108BD9-81ED-4DB2-BD59-A6C34878D82A}">
                    <a16:rowId xmlns:a16="http://schemas.microsoft.com/office/drawing/2014/main" val="3587308057"/>
                  </a:ext>
                </a:extLst>
              </a:tr>
              <a:tr h="267573">
                <a:tc>
                  <a:txBody>
                    <a:bodyPr/>
                    <a:lstStyle>
                      <a:lvl1pPr marL="0" algn="l" defTabSz="914400" rtl="0" eaLnBrk="1" latinLnBrk="0" hangingPunct="1">
                        <a:defRPr sz="1800" b="1" kern="1200">
                          <a:solidFill>
                            <a:schemeClr val="lt1"/>
                          </a:solidFill>
                          <a:latin typeface="MarkForMC Nrw O"/>
                        </a:defRPr>
                      </a:lvl1pPr>
                      <a:lvl2pPr marL="457200" algn="l" defTabSz="914400" rtl="0" eaLnBrk="1" latinLnBrk="0" hangingPunct="1">
                        <a:defRPr sz="1800" b="1" kern="1200">
                          <a:solidFill>
                            <a:schemeClr val="lt1"/>
                          </a:solidFill>
                          <a:latin typeface="MarkForMC Nrw O"/>
                        </a:defRPr>
                      </a:lvl2pPr>
                      <a:lvl3pPr marL="914400" algn="l" defTabSz="914400" rtl="0" eaLnBrk="1" latinLnBrk="0" hangingPunct="1">
                        <a:defRPr sz="1800" b="1" kern="1200">
                          <a:solidFill>
                            <a:schemeClr val="lt1"/>
                          </a:solidFill>
                          <a:latin typeface="MarkForMC Nrw O"/>
                        </a:defRPr>
                      </a:lvl3pPr>
                      <a:lvl4pPr marL="1371600" algn="l" defTabSz="914400" rtl="0" eaLnBrk="1" latinLnBrk="0" hangingPunct="1">
                        <a:defRPr sz="1800" b="1" kern="1200">
                          <a:solidFill>
                            <a:schemeClr val="lt1"/>
                          </a:solidFill>
                          <a:latin typeface="MarkForMC Nrw O"/>
                        </a:defRPr>
                      </a:lvl4pPr>
                      <a:lvl5pPr marL="1828800" algn="l" defTabSz="914400" rtl="0" eaLnBrk="1" latinLnBrk="0" hangingPunct="1">
                        <a:defRPr sz="1800" b="1" kern="1200">
                          <a:solidFill>
                            <a:schemeClr val="lt1"/>
                          </a:solidFill>
                          <a:latin typeface="MarkForMC Nrw O"/>
                        </a:defRPr>
                      </a:lvl5pPr>
                      <a:lvl6pPr marL="2286000" algn="l" defTabSz="914400" rtl="0" eaLnBrk="1" latinLnBrk="0" hangingPunct="1">
                        <a:defRPr sz="1800" b="1" kern="1200">
                          <a:solidFill>
                            <a:schemeClr val="lt1"/>
                          </a:solidFill>
                          <a:latin typeface="MarkForMC Nrw O"/>
                        </a:defRPr>
                      </a:lvl6pPr>
                      <a:lvl7pPr marL="2743200" algn="l" defTabSz="914400" rtl="0" eaLnBrk="1" latinLnBrk="0" hangingPunct="1">
                        <a:defRPr sz="1800" b="1" kern="1200">
                          <a:solidFill>
                            <a:schemeClr val="lt1"/>
                          </a:solidFill>
                          <a:latin typeface="MarkForMC Nrw O"/>
                        </a:defRPr>
                      </a:lvl7pPr>
                      <a:lvl8pPr marL="3200400" algn="l" defTabSz="914400" rtl="0" eaLnBrk="1" latinLnBrk="0" hangingPunct="1">
                        <a:defRPr sz="1800" b="1" kern="1200">
                          <a:solidFill>
                            <a:schemeClr val="lt1"/>
                          </a:solidFill>
                          <a:latin typeface="MarkForMC Nrw O"/>
                        </a:defRPr>
                      </a:lvl8pPr>
                      <a:lvl9pPr marL="3657600" algn="l" defTabSz="914400" rtl="0" eaLnBrk="1" latinLnBrk="0" hangingPunct="1">
                        <a:defRPr sz="1800" b="1" kern="1200">
                          <a:solidFill>
                            <a:schemeClr val="lt1"/>
                          </a:solidFill>
                          <a:latin typeface="MarkForMC Nrw O"/>
                        </a:defRPr>
                      </a:lvl9pPr>
                    </a:lstStyle>
                    <a:p>
                      <a:pPr algn="ctr"/>
                      <a:r>
                        <a:rPr lang="pt-BR" sz="900" b="1" dirty="0">
                          <a:solidFill>
                            <a:schemeClr val="tx1">
                              <a:lumMod val="85000"/>
                              <a:lumOff val="15000"/>
                            </a:schemeClr>
                          </a:solidFill>
                        </a:rPr>
                        <a:t>Metric</a:t>
                      </a:r>
                    </a:p>
                  </a:txBody>
                  <a:tcPr marL="76200" marR="762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alpha val="90000"/>
                      </a:schemeClr>
                    </a:solidFill>
                  </a:tcPr>
                </a:tc>
                <a:tc>
                  <a:txBody>
                    <a:bodyPr/>
                    <a:lstStyle>
                      <a:lvl1pPr marL="0" algn="l" defTabSz="914400" rtl="0" eaLnBrk="1" latinLnBrk="0" hangingPunct="1">
                        <a:defRPr sz="1800" b="1" kern="1200">
                          <a:solidFill>
                            <a:schemeClr val="lt1"/>
                          </a:solidFill>
                          <a:latin typeface="MarkForMC Nrw O"/>
                        </a:defRPr>
                      </a:lvl1pPr>
                      <a:lvl2pPr marL="457200" algn="l" defTabSz="914400" rtl="0" eaLnBrk="1" latinLnBrk="0" hangingPunct="1">
                        <a:defRPr sz="1800" b="1" kern="1200">
                          <a:solidFill>
                            <a:schemeClr val="lt1"/>
                          </a:solidFill>
                          <a:latin typeface="MarkForMC Nrw O"/>
                        </a:defRPr>
                      </a:lvl2pPr>
                      <a:lvl3pPr marL="914400" algn="l" defTabSz="914400" rtl="0" eaLnBrk="1" latinLnBrk="0" hangingPunct="1">
                        <a:defRPr sz="1800" b="1" kern="1200">
                          <a:solidFill>
                            <a:schemeClr val="lt1"/>
                          </a:solidFill>
                          <a:latin typeface="MarkForMC Nrw O"/>
                        </a:defRPr>
                      </a:lvl3pPr>
                      <a:lvl4pPr marL="1371600" algn="l" defTabSz="914400" rtl="0" eaLnBrk="1" latinLnBrk="0" hangingPunct="1">
                        <a:defRPr sz="1800" b="1" kern="1200">
                          <a:solidFill>
                            <a:schemeClr val="lt1"/>
                          </a:solidFill>
                          <a:latin typeface="MarkForMC Nrw O"/>
                        </a:defRPr>
                      </a:lvl4pPr>
                      <a:lvl5pPr marL="1828800" algn="l" defTabSz="914400" rtl="0" eaLnBrk="1" latinLnBrk="0" hangingPunct="1">
                        <a:defRPr sz="1800" b="1" kern="1200">
                          <a:solidFill>
                            <a:schemeClr val="lt1"/>
                          </a:solidFill>
                          <a:latin typeface="MarkForMC Nrw O"/>
                        </a:defRPr>
                      </a:lvl5pPr>
                      <a:lvl6pPr marL="2286000" algn="l" defTabSz="914400" rtl="0" eaLnBrk="1" latinLnBrk="0" hangingPunct="1">
                        <a:defRPr sz="1800" b="1" kern="1200">
                          <a:solidFill>
                            <a:schemeClr val="lt1"/>
                          </a:solidFill>
                          <a:latin typeface="MarkForMC Nrw O"/>
                        </a:defRPr>
                      </a:lvl6pPr>
                      <a:lvl7pPr marL="2743200" algn="l" defTabSz="914400" rtl="0" eaLnBrk="1" latinLnBrk="0" hangingPunct="1">
                        <a:defRPr sz="1800" b="1" kern="1200">
                          <a:solidFill>
                            <a:schemeClr val="lt1"/>
                          </a:solidFill>
                          <a:latin typeface="MarkForMC Nrw O"/>
                        </a:defRPr>
                      </a:lvl7pPr>
                      <a:lvl8pPr marL="3200400" algn="l" defTabSz="914400" rtl="0" eaLnBrk="1" latinLnBrk="0" hangingPunct="1">
                        <a:defRPr sz="1800" b="1" kern="1200">
                          <a:solidFill>
                            <a:schemeClr val="lt1"/>
                          </a:solidFill>
                          <a:latin typeface="MarkForMC Nrw O"/>
                        </a:defRPr>
                      </a:lvl8pPr>
                      <a:lvl9pPr marL="3657600" algn="l" defTabSz="914400" rtl="0" eaLnBrk="1" latinLnBrk="0" hangingPunct="1">
                        <a:defRPr sz="1800" b="1" kern="1200">
                          <a:solidFill>
                            <a:schemeClr val="lt1"/>
                          </a:solidFill>
                          <a:latin typeface="MarkForMC Nrw O"/>
                        </a:defRPr>
                      </a:lvl9pPr>
                    </a:lstStyle>
                    <a:p>
                      <a:pPr algn="ctr"/>
                      <a:r>
                        <a:rPr lang="pt-BR" sz="900" b="1" dirty="0">
                          <a:solidFill>
                            <a:schemeClr val="tx1">
                              <a:lumMod val="85000"/>
                              <a:lumOff val="15000"/>
                            </a:schemeClr>
                          </a:solidFill>
                        </a:rPr>
                        <a:t>Before</a:t>
                      </a:r>
                    </a:p>
                  </a:txBody>
                  <a:tcPr marL="76200" marR="762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alpha val="90000"/>
                      </a:schemeClr>
                    </a:solidFill>
                  </a:tcPr>
                </a:tc>
                <a:tc>
                  <a:txBody>
                    <a:bodyPr/>
                    <a:lstStyle>
                      <a:lvl1pPr marL="0" algn="l" defTabSz="914400" rtl="0" eaLnBrk="1" latinLnBrk="0" hangingPunct="1">
                        <a:defRPr sz="1800" b="1" kern="1200">
                          <a:solidFill>
                            <a:schemeClr val="lt1"/>
                          </a:solidFill>
                          <a:latin typeface="MarkForMC Nrw O"/>
                        </a:defRPr>
                      </a:lvl1pPr>
                      <a:lvl2pPr marL="457200" algn="l" defTabSz="914400" rtl="0" eaLnBrk="1" latinLnBrk="0" hangingPunct="1">
                        <a:defRPr sz="1800" b="1" kern="1200">
                          <a:solidFill>
                            <a:schemeClr val="lt1"/>
                          </a:solidFill>
                          <a:latin typeface="MarkForMC Nrw O"/>
                        </a:defRPr>
                      </a:lvl2pPr>
                      <a:lvl3pPr marL="914400" algn="l" defTabSz="914400" rtl="0" eaLnBrk="1" latinLnBrk="0" hangingPunct="1">
                        <a:defRPr sz="1800" b="1" kern="1200">
                          <a:solidFill>
                            <a:schemeClr val="lt1"/>
                          </a:solidFill>
                          <a:latin typeface="MarkForMC Nrw O"/>
                        </a:defRPr>
                      </a:lvl3pPr>
                      <a:lvl4pPr marL="1371600" algn="l" defTabSz="914400" rtl="0" eaLnBrk="1" latinLnBrk="0" hangingPunct="1">
                        <a:defRPr sz="1800" b="1" kern="1200">
                          <a:solidFill>
                            <a:schemeClr val="lt1"/>
                          </a:solidFill>
                          <a:latin typeface="MarkForMC Nrw O"/>
                        </a:defRPr>
                      </a:lvl4pPr>
                      <a:lvl5pPr marL="1828800" algn="l" defTabSz="914400" rtl="0" eaLnBrk="1" latinLnBrk="0" hangingPunct="1">
                        <a:defRPr sz="1800" b="1" kern="1200">
                          <a:solidFill>
                            <a:schemeClr val="lt1"/>
                          </a:solidFill>
                          <a:latin typeface="MarkForMC Nrw O"/>
                        </a:defRPr>
                      </a:lvl5pPr>
                      <a:lvl6pPr marL="2286000" algn="l" defTabSz="914400" rtl="0" eaLnBrk="1" latinLnBrk="0" hangingPunct="1">
                        <a:defRPr sz="1800" b="1" kern="1200">
                          <a:solidFill>
                            <a:schemeClr val="lt1"/>
                          </a:solidFill>
                          <a:latin typeface="MarkForMC Nrw O"/>
                        </a:defRPr>
                      </a:lvl6pPr>
                      <a:lvl7pPr marL="2743200" algn="l" defTabSz="914400" rtl="0" eaLnBrk="1" latinLnBrk="0" hangingPunct="1">
                        <a:defRPr sz="1800" b="1" kern="1200">
                          <a:solidFill>
                            <a:schemeClr val="lt1"/>
                          </a:solidFill>
                          <a:latin typeface="MarkForMC Nrw O"/>
                        </a:defRPr>
                      </a:lvl7pPr>
                      <a:lvl8pPr marL="3200400" algn="l" defTabSz="914400" rtl="0" eaLnBrk="1" latinLnBrk="0" hangingPunct="1">
                        <a:defRPr sz="1800" b="1" kern="1200">
                          <a:solidFill>
                            <a:schemeClr val="lt1"/>
                          </a:solidFill>
                          <a:latin typeface="MarkForMC Nrw O"/>
                        </a:defRPr>
                      </a:lvl8pPr>
                      <a:lvl9pPr marL="3657600" algn="l" defTabSz="914400" rtl="0" eaLnBrk="1" latinLnBrk="0" hangingPunct="1">
                        <a:defRPr sz="1800" b="1" kern="1200">
                          <a:solidFill>
                            <a:schemeClr val="lt1"/>
                          </a:solidFill>
                          <a:latin typeface="MarkForMC Nrw O"/>
                        </a:defRPr>
                      </a:lvl9pPr>
                    </a:lstStyle>
                    <a:p>
                      <a:pPr algn="ctr"/>
                      <a:r>
                        <a:rPr lang="pt-BR" sz="900" b="1" dirty="0">
                          <a:solidFill>
                            <a:schemeClr val="tx1">
                              <a:lumMod val="85000"/>
                              <a:lumOff val="15000"/>
                            </a:schemeClr>
                          </a:solidFill>
                        </a:rPr>
                        <a:t>After</a:t>
                      </a:r>
                    </a:p>
                  </a:txBody>
                  <a:tcPr marL="76200" marR="762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alpha val="90000"/>
                      </a:schemeClr>
                    </a:solidFill>
                  </a:tcPr>
                </a:tc>
                <a:tc>
                  <a:txBody>
                    <a:bodyPr/>
                    <a:lstStyle>
                      <a:lvl1pPr marL="0" algn="l" defTabSz="914400" rtl="0" eaLnBrk="1" latinLnBrk="0" hangingPunct="1">
                        <a:defRPr sz="1800" b="1" kern="1200">
                          <a:solidFill>
                            <a:schemeClr val="lt1"/>
                          </a:solidFill>
                          <a:latin typeface="MarkForMC Nrw O"/>
                        </a:defRPr>
                      </a:lvl1pPr>
                      <a:lvl2pPr marL="457200" algn="l" defTabSz="914400" rtl="0" eaLnBrk="1" latinLnBrk="0" hangingPunct="1">
                        <a:defRPr sz="1800" b="1" kern="1200">
                          <a:solidFill>
                            <a:schemeClr val="lt1"/>
                          </a:solidFill>
                          <a:latin typeface="MarkForMC Nrw O"/>
                        </a:defRPr>
                      </a:lvl2pPr>
                      <a:lvl3pPr marL="914400" algn="l" defTabSz="914400" rtl="0" eaLnBrk="1" latinLnBrk="0" hangingPunct="1">
                        <a:defRPr sz="1800" b="1" kern="1200">
                          <a:solidFill>
                            <a:schemeClr val="lt1"/>
                          </a:solidFill>
                          <a:latin typeface="MarkForMC Nrw O"/>
                        </a:defRPr>
                      </a:lvl3pPr>
                      <a:lvl4pPr marL="1371600" algn="l" defTabSz="914400" rtl="0" eaLnBrk="1" latinLnBrk="0" hangingPunct="1">
                        <a:defRPr sz="1800" b="1" kern="1200">
                          <a:solidFill>
                            <a:schemeClr val="lt1"/>
                          </a:solidFill>
                          <a:latin typeface="MarkForMC Nrw O"/>
                        </a:defRPr>
                      </a:lvl4pPr>
                      <a:lvl5pPr marL="1828800" algn="l" defTabSz="914400" rtl="0" eaLnBrk="1" latinLnBrk="0" hangingPunct="1">
                        <a:defRPr sz="1800" b="1" kern="1200">
                          <a:solidFill>
                            <a:schemeClr val="lt1"/>
                          </a:solidFill>
                          <a:latin typeface="MarkForMC Nrw O"/>
                        </a:defRPr>
                      </a:lvl5pPr>
                      <a:lvl6pPr marL="2286000" algn="l" defTabSz="914400" rtl="0" eaLnBrk="1" latinLnBrk="0" hangingPunct="1">
                        <a:defRPr sz="1800" b="1" kern="1200">
                          <a:solidFill>
                            <a:schemeClr val="lt1"/>
                          </a:solidFill>
                          <a:latin typeface="MarkForMC Nrw O"/>
                        </a:defRPr>
                      </a:lvl6pPr>
                      <a:lvl7pPr marL="2743200" algn="l" defTabSz="914400" rtl="0" eaLnBrk="1" latinLnBrk="0" hangingPunct="1">
                        <a:defRPr sz="1800" b="1" kern="1200">
                          <a:solidFill>
                            <a:schemeClr val="lt1"/>
                          </a:solidFill>
                          <a:latin typeface="MarkForMC Nrw O"/>
                        </a:defRPr>
                      </a:lvl7pPr>
                      <a:lvl8pPr marL="3200400" algn="l" defTabSz="914400" rtl="0" eaLnBrk="1" latinLnBrk="0" hangingPunct="1">
                        <a:defRPr sz="1800" b="1" kern="1200">
                          <a:solidFill>
                            <a:schemeClr val="lt1"/>
                          </a:solidFill>
                          <a:latin typeface="MarkForMC Nrw O"/>
                        </a:defRPr>
                      </a:lvl8pPr>
                      <a:lvl9pPr marL="3657600" algn="l" defTabSz="914400" rtl="0" eaLnBrk="1" latinLnBrk="0" hangingPunct="1">
                        <a:defRPr sz="1800" b="1" kern="1200">
                          <a:solidFill>
                            <a:schemeClr val="lt1"/>
                          </a:solidFill>
                          <a:latin typeface="MarkForMC Nrw O"/>
                        </a:defRPr>
                      </a:lvl9pPr>
                    </a:lstStyle>
                    <a:p>
                      <a:pPr algn="ctr"/>
                      <a:r>
                        <a:rPr lang="pt-BR" sz="900" dirty="0">
                          <a:solidFill>
                            <a:schemeClr val="tx1">
                              <a:lumMod val="85000"/>
                              <a:lumOff val="15000"/>
                            </a:schemeClr>
                          </a:solidFill>
                        </a:rPr>
                        <a:t>Improvement</a:t>
                      </a:r>
                    </a:p>
                  </a:txBody>
                  <a:tcPr marL="76200" marR="762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alpha val="90000"/>
                      </a:schemeClr>
                    </a:solidFill>
                  </a:tcPr>
                </a:tc>
                <a:extLst>
                  <a:ext uri="{0D108BD9-81ED-4DB2-BD59-A6C34878D82A}">
                    <a16:rowId xmlns:a16="http://schemas.microsoft.com/office/drawing/2014/main" val="360016467"/>
                  </a:ext>
                </a:extLst>
              </a:tr>
              <a:tr h="428134">
                <a:tc>
                  <a:txBody>
                    <a:bodyPr/>
                    <a:lstStyle>
                      <a:lvl1pPr marL="0" algn="l" defTabSz="914400" rtl="0" eaLnBrk="1" latinLnBrk="0" hangingPunct="1">
                        <a:defRPr sz="1800" kern="1200">
                          <a:solidFill>
                            <a:schemeClr val="dk1"/>
                          </a:solidFill>
                          <a:latin typeface="MarkForMC Nrw O"/>
                        </a:defRPr>
                      </a:lvl1pPr>
                      <a:lvl2pPr marL="457200" algn="l" defTabSz="914400" rtl="0" eaLnBrk="1" latinLnBrk="0" hangingPunct="1">
                        <a:defRPr sz="1800" kern="1200">
                          <a:solidFill>
                            <a:schemeClr val="dk1"/>
                          </a:solidFill>
                          <a:latin typeface="MarkForMC Nrw O"/>
                        </a:defRPr>
                      </a:lvl2pPr>
                      <a:lvl3pPr marL="914400" algn="l" defTabSz="914400" rtl="0" eaLnBrk="1" latinLnBrk="0" hangingPunct="1">
                        <a:defRPr sz="1800" kern="1200">
                          <a:solidFill>
                            <a:schemeClr val="dk1"/>
                          </a:solidFill>
                          <a:latin typeface="MarkForMC Nrw O"/>
                        </a:defRPr>
                      </a:lvl3pPr>
                      <a:lvl4pPr marL="1371600" algn="l" defTabSz="914400" rtl="0" eaLnBrk="1" latinLnBrk="0" hangingPunct="1">
                        <a:defRPr sz="1800" kern="1200">
                          <a:solidFill>
                            <a:schemeClr val="dk1"/>
                          </a:solidFill>
                          <a:latin typeface="MarkForMC Nrw O"/>
                        </a:defRPr>
                      </a:lvl4pPr>
                      <a:lvl5pPr marL="1828800" algn="l" defTabSz="914400" rtl="0" eaLnBrk="1" latinLnBrk="0" hangingPunct="1">
                        <a:defRPr sz="1800" kern="1200">
                          <a:solidFill>
                            <a:schemeClr val="dk1"/>
                          </a:solidFill>
                          <a:latin typeface="MarkForMC Nrw O"/>
                        </a:defRPr>
                      </a:lvl5pPr>
                      <a:lvl6pPr marL="2286000" algn="l" defTabSz="914400" rtl="0" eaLnBrk="1" latinLnBrk="0" hangingPunct="1">
                        <a:defRPr sz="1800" kern="1200">
                          <a:solidFill>
                            <a:schemeClr val="dk1"/>
                          </a:solidFill>
                          <a:latin typeface="MarkForMC Nrw O"/>
                        </a:defRPr>
                      </a:lvl6pPr>
                      <a:lvl7pPr marL="2743200" algn="l" defTabSz="914400" rtl="0" eaLnBrk="1" latinLnBrk="0" hangingPunct="1">
                        <a:defRPr sz="1800" kern="1200">
                          <a:solidFill>
                            <a:schemeClr val="dk1"/>
                          </a:solidFill>
                          <a:latin typeface="MarkForMC Nrw O"/>
                        </a:defRPr>
                      </a:lvl7pPr>
                      <a:lvl8pPr marL="3200400" algn="l" defTabSz="914400" rtl="0" eaLnBrk="1" latinLnBrk="0" hangingPunct="1">
                        <a:defRPr sz="1800" kern="1200">
                          <a:solidFill>
                            <a:schemeClr val="dk1"/>
                          </a:solidFill>
                          <a:latin typeface="MarkForMC Nrw O"/>
                        </a:defRPr>
                      </a:lvl8pPr>
                      <a:lvl9pPr marL="3657600" algn="l" defTabSz="914400" rtl="0" eaLnBrk="1" latinLnBrk="0" hangingPunct="1">
                        <a:defRPr sz="1800" kern="1200">
                          <a:solidFill>
                            <a:schemeClr val="dk1"/>
                          </a:solidFill>
                          <a:latin typeface="MarkForMC Nrw O"/>
                        </a:defRPr>
                      </a:lvl9pPr>
                    </a:lstStyle>
                    <a:p>
                      <a:pPr algn="ctr" fontAlgn="ctr">
                        <a:buNone/>
                      </a:pPr>
                      <a:r>
                        <a:rPr lang="pt-BR" sz="900" b="0" i="0" u="none" strike="noStrike" dirty="0">
                          <a:solidFill>
                            <a:srgbClr val="000000"/>
                          </a:solidFill>
                          <a:effectLst/>
                          <a:latin typeface="+mn-lt"/>
                        </a:rPr>
                        <a:t>Minimum</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MarkForMC Nrw O"/>
                        </a:defRPr>
                      </a:lvl1pPr>
                      <a:lvl2pPr marL="457200" algn="l" defTabSz="914400" rtl="0" eaLnBrk="1" latinLnBrk="0" hangingPunct="1">
                        <a:defRPr sz="1800" kern="1200">
                          <a:solidFill>
                            <a:schemeClr val="dk1"/>
                          </a:solidFill>
                          <a:latin typeface="MarkForMC Nrw O"/>
                        </a:defRPr>
                      </a:lvl2pPr>
                      <a:lvl3pPr marL="914400" algn="l" defTabSz="914400" rtl="0" eaLnBrk="1" latinLnBrk="0" hangingPunct="1">
                        <a:defRPr sz="1800" kern="1200">
                          <a:solidFill>
                            <a:schemeClr val="dk1"/>
                          </a:solidFill>
                          <a:latin typeface="MarkForMC Nrw O"/>
                        </a:defRPr>
                      </a:lvl3pPr>
                      <a:lvl4pPr marL="1371600" algn="l" defTabSz="914400" rtl="0" eaLnBrk="1" latinLnBrk="0" hangingPunct="1">
                        <a:defRPr sz="1800" kern="1200">
                          <a:solidFill>
                            <a:schemeClr val="dk1"/>
                          </a:solidFill>
                          <a:latin typeface="MarkForMC Nrw O"/>
                        </a:defRPr>
                      </a:lvl4pPr>
                      <a:lvl5pPr marL="1828800" algn="l" defTabSz="914400" rtl="0" eaLnBrk="1" latinLnBrk="0" hangingPunct="1">
                        <a:defRPr sz="1800" kern="1200">
                          <a:solidFill>
                            <a:schemeClr val="dk1"/>
                          </a:solidFill>
                          <a:latin typeface="MarkForMC Nrw O"/>
                        </a:defRPr>
                      </a:lvl5pPr>
                      <a:lvl6pPr marL="2286000" algn="l" defTabSz="914400" rtl="0" eaLnBrk="1" latinLnBrk="0" hangingPunct="1">
                        <a:defRPr sz="1800" kern="1200">
                          <a:solidFill>
                            <a:schemeClr val="dk1"/>
                          </a:solidFill>
                          <a:latin typeface="MarkForMC Nrw O"/>
                        </a:defRPr>
                      </a:lvl6pPr>
                      <a:lvl7pPr marL="2743200" algn="l" defTabSz="914400" rtl="0" eaLnBrk="1" latinLnBrk="0" hangingPunct="1">
                        <a:defRPr sz="1800" kern="1200">
                          <a:solidFill>
                            <a:schemeClr val="dk1"/>
                          </a:solidFill>
                          <a:latin typeface="MarkForMC Nrw O"/>
                        </a:defRPr>
                      </a:lvl7pPr>
                      <a:lvl8pPr marL="3200400" algn="l" defTabSz="914400" rtl="0" eaLnBrk="1" latinLnBrk="0" hangingPunct="1">
                        <a:defRPr sz="1800" kern="1200">
                          <a:solidFill>
                            <a:schemeClr val="dk1"/>
                          </a:solidFill>
                          <a:latin typeface="MarkForMC Nrw O"/>
                        </a:defRPr>
                      </a:lvl8pPr>
                      <a:lvl9pPr marL="3657600" algn="l" defTabSz="914400" rtl="0" eaLnBrk="1" latinLnBrk="0" hangingPunct="1">
                        <a:defRPr sz="1800" kern="1200">
                          <a:solidFill>
                            <a:schemeClr val="dk1"/>
                          </a:solidFill>
                          <a:latin typeface="MarkForMC Nrw O"/>
                        </a:defRPr>
                      </a:lvl9pPr>
                    </a:lstStyle>
                    <a:p>
                      <a:pPr marL="0" algn="ctr" defTabSz="914354" rtl="0" eaLnBrk="1" fontAlgn="ctr" latinLnBrk="0" hangingPunct="1">
                        <a:buNone/>
                      </a:pPr>
                      <a:r>
                        <a:rPr lang="en-US" sz="900" b="0" i="0" u="none" strike="noStrike" kern="1200" dirty="0">
                          <a:solidFill>
                            <a:srgbClr val="000000"/>
                          </a:solidFill>
                          <a:effectLst/>
                          <a:latin typeface="+mn-lt"/>
                          <a:ea typeface="+mn-ea"/>
                          <a:cs typeface="+mn-cs"/>
                        </a:rPr>
                        <a:t>5 days</a:t>
                      </a:r>
                    </a:p>
                  </a:txBody>
                  <a:tcPr marL="76200" marR="762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MarkForMC Nrw O"/>
                        </a:defRPr>
                      </a:lvl1pPr>
                      <a:lvl2pPr marL="457200" algn="l" defTabSz="914400" rtl="0" eaLnBrk="1" latinLnBrk="0" hangingPunct="1">
                        <a:defRPr sz="1800" kern="1200">
                          <a:solidFill>
                            <a:schemeClr val="dk1"/>
                          </a:solidFill>
                          <a:latin typeface="MarkForMC Nrw O"/>
                        </a:defRPr>
                      </a:lvl2pPr>
                      <a:lvl3pPr marL="914400" algn="l" defTabSz="914400" rtl="0" eaLnBrk="1" latinLnBrk="0" hangingPunct="1">
                        <a:defRPr sz="1800" kern="1200">
                          <a:solidFill>
                            <a:schemeClr val="dk1"/>
                          </a:solidFill>
                          <a:latin typeface="MarkForMC Nrw O"/>
                        </a:defRPr>
                      </a:lvl3pPr>
                      <a:lvl4pPr marL="1371600" algn="l" defTabSz="914400" rtl="0" eaLnBrk="1" latinLnBrk="0" hangingPunct="1">
                        <a:defRPr sz="1800" kern="1200">
                          <a:solidFill>
                            <a:schemeClr val="dk1"/>
                          </a:solidFill>
                          <a:latin typeface="MarkForMC Nrw O"/>
                        </a:defRPr>
                      </a:lvl4pPr>
                      <a:lvl5pPr marL="1828800" algn="l" defTabSz="914400" rtl="0" eaLnBrk="1" latinLnBrk="0" hangingPunct="1">
                        <a:defRPr sz="1800" kern="1200">
                          <a:solidFill>
                            <a:schemeClr val="dk1"/>
                          </a:solidFill>
                          <a:latin typeface="MarkForMC Nrw O"/>
                        </a:defRPr>
                      </a:lvl5pPr>
                      <a:lvl6pPr marL="2286000" algn="l" defTabSz="914400" rtl="0" eaLnBrk="1" latinLnBrk="0" hangingPunct="1">
                        <a:defRPr sz="1800" kern="1200">
                          <a:solidFill>
                            <a:schemeClr val="dk1"/>
                          </a:solidFill>
                          <a:latin typeface="MarkForMC Nrw O"/>
                        </a:defRPr>
                      </a:lvl6pPr>
                      <a:lvl7pPr marL="2743200" algn="l" defTabSz="914400" rtl="0" eaLnBrk="1" latinLnBrk="0" hangingPunct="1">
                        <a:defRPr sz="1800" kern="1200">
                          <a:solidFill>
                            <a:schemeClr val="dk1"/>
                          </a:solidFill>
                          <a:latin typeface="MarkForMC Nrw O"/>
                        </a:defRPr>
                      </a:lvl7pPr>
                      <a:lvl8pPr marL="3200400" algn="l" defTabSz="914400" rtl="0" eaLnBrk="1" latinLnBrk="0" hangingPunct="1">
                        <a:defRPr sz="1800" kern="1200">
                          <a:solidFill>
                            <a:schemeClr val="dk1"/>
                          </a:solidFill>
                          <a:latin typeface="MarkForMC Nrw O"/>
                        </a:defRPr>
                      </a:lvl8pPr>
                      <a:lvl9pPr marL="3657600" algn="l" defTabSz="914400" rtl="0" eaLnBrk="1" latinLnBrk="0" hangingPunct="1">
                        <a:defRPr sz="1800" kern="1200">
                          <a:solidFill>
                            <a:schemeClr val="dk1"/>
                          </a:solidFill>
                          <a:latin typeface="MarkForMC Nrw O"/>
                        </a:defRPr>
                      </a:lvl9pPr>
                    </a:lstStyle>
                    <a:p>
                      <a:pPr marL="0" algn="ctr" defTabSz="914354" rtl="0" eaLnBrk="1" fontAlgn="ctr" latinLnBrk="0" hangingPunct="1">
                        <a:buNone/>
                      </a:pPr>
                      <a:r>
                        <a:rPr lang="en-US" sz="900" b="0" i="0" u="none" strike="noStrike" kern="1200" dirty="0">
                          <a:solidFill>
                            <a:srgbClr val="000000"/>
                          </a:solidFill>
                          <a:effectLst/>
                          <a:latin typeface="+mn-lt"/>
                          <a:ea typeface="+mn-ea"/>
                          <a:cs typeface="+mn-cs"/>
                        </a:rPr>
                        <a:t>1 day</a:t>
                      </a:r>
                    </a:p>
                  </a:txBody>
                  <a:tcPr marL="76200" marR="762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MarkForMC Nrw O"/>
                        </a:defRPr>
                      </a:lvl1pPr>
                      <a:lvl2pPr marL="457200" algn="l" defTabSz="914400" rtl="0" eaLnBrk="1" latinLnBrk="0" hangingPunct="1">
                        <a:defRPr sz="1800" kern="1200">
                          <a:solidFill>
                            <a:schemeClr val="dk1"/>
                          </a:solidFill>
                          <a:latin typeface="MarkForMC Nrw O"/>
                        </a:defRPr>
                      </a:lvl2pPr>
                      <a:lvl3pPr marL="914400" algn="l" defTabSz="914400" rtl="0" eaLnBrk="1" latinLnBrk="0" hangingPunct="1">
                        <a:defRPr sz="1800" kern="1200">
                          <a:solidFill>
                            <a:schemeClr val="dk1"/>
                          </a:solidFill>
                          <a:latin typeface="MarkForMC Nrw O"/>
                        </a:defRPr>
                      </a:lvl3pPr>
                      <a:lvl4pPr marL="1371600" algn="l" defTabSz="914400" rtl="0" eaLnBrk="1" latinLnBrk="0" hangingPunct="1">
                        <a:defRPr sz="1800" kern="1200">
                          <a:solidFill>
                            <a:schemeClr val="dk1"/>
                          </a:solidFill>
                          <a:latin typeface="MarkForMC Nrw O"/>
                        </a:defRPr>
                      </a:lvl4pPr>
                      <a:lvl5pPr marL="1828800" algn="l" defTabSz="914400" rtl="0" eaLnBrk="1" latinLnBrk="0" hangingPunct="1">
                        <a:defRPr sz="1800" kern="1200">
                          <a:solidFill>
                            <a:schemeClr val="dk1"/>
                          </a:solidFill>
                          <a:latin typeface="MarkForMC Nrw O"/>
                        </a:defRPr>
                      </a:lvl5pPr>
                      <a:lvl6pPr marL="2286000" algn="l" defTabSz="914400" rtl="0" eaLnBrk="1" latinLnBrk="0" hangingPunct="1">
                        <a:defRPr sz="1800" kern="1200">
                          <a:solidFill>
                            <a:schemeClr val="dk1"/>
                          </a:solidFill>
                          <a:latin typeface="MarkForMC Nrw O"/>
                        </a:defRPr>
                      </a:lvl6pPr>
                      <a:lvl7pPr marL="2743200" algn="l" defTabSz="914400" rtl="0" eaLnBrk="1" latinLnBrk="0" hangingPunct="1">
                        <a:defRPr sz="1800" kern="1200">
                          <a:solidFill>
                            <a:schemeClr val="dk1"/>
                          </a:solidFill>
                          <a:latin typeface="MarkForMC Nrw O"/>
                        </a:defRPr>
                      </a:lvl7pPr>
                      <a:lvl8pPr marL="3200400" algn="l" defTabSz="914400" rtl="0" eaLnBrk="1" latinLnBrk="0" hangingPunct="1">
                        <a:defRPr sz="1800" kern="1200">
                          <a:solidFill>
                            <a:schemeClr val="dk1"/>
                          </a:solidFill>
                          <a:latin typeface="MarkForMC Nrw O"/>
                        </a:defRPr>
                      </a:lvl8pPr>
                      <a:lvl9pPr marL="3657600" algn="l" defTabSz="914400" rtl="0" eaLnBrk="1" latinLnBrk="0" hangingPunct="1">
                        <a:defRPr sz="1800" kern="1200">
                          <a:solidFill>
                            <a:schemeClr val="dk1"/>
                          </a:solidFill>
                          <a:latin typeface="MarkForMC Nrw O"/>
                        </a:defRPr>
                      </a:lvl9pPr>
                    </a:lstStyle>
                    <a:p>
                      <a:pPr marL="0" algn="ctr" defTabSz="914354" rtl="0" eaLnBrk="1" fontAlgn="ctr" latinLnBrk="0" hangingPunct="1">
                        <a:buNone/>
                      </a:pPr>
                      <a:r>
                        <a:rPr lang="en-US" sz="900" b="0" i="0" u="none" strike="noStrike" kern="1200" dirty="0">
                          <a:solidFill>
                            <a:srgbClr val="000000"/>
                          </a:solidFill>
                          <a:effectLst/>
                          <a:latin typeface="+mn-lt"/>
                          <a:ea typeface="+mn-ea"/>
                          <a:cs typeface="+mn-cs"/>
                        </a:rPr>
                        <a:t>4 days</a:t>
                      </a:r>
                    </a:p>
                  </a:txBody>
                  <a:tcPr marL="76200" marR="762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190241156"/>
                  </a:ext>
                </a:extLst>
              </a:tr>
              <a:tr h="428134">
                <a:tc>
                  <a:txBody>
                    <a:bodyPr/>
                    <a:lstStyle>
                      <a:lvl1pPr marL="0" algn="l" defTabSz="914400" rtl="0" eaLnBrk="1" latinLnBrk="0" hangingPunct="1">
                        <a:defRPr sz="1800" kern="1200">
                          <a:solidFill>
                            <a:schemeClr val="dk1"/>
                          </a:solidFill>
                          <a:latin typeface="MarkForMC Nrw O"/>
                        </a:defRPr>
                      </a:lvl1pPr>
                      <a:lvl2pPr marL="457200" algn="l" defTabSz="914400" rtl="0" eaLnBrk="1" latinLnBrk="0" hangingPunct="1">
                        <a:defRPr sz="1800" kern="1200">
                          <a:solidFill>
                            <a:schemeClr val="dk1"/>
                          </a:solidFill>
                          <a:latin typeface="MarkForMC Nrw O"/>
                        </a:defRPr>
                      </a:lvl2pPr>
                      <a:lvl3pPr marL="914400" algn="l" defTabSz="914400" rtl="0" eaLnBrk="1" latinLnBrk="0" hangingPunct="1">
                        <a:defRPr sz="1800" kern="1200">
                          <a:solidFill>
                            <a:schemeClr val="dk1"/>
                          </a:solidFill>
                          <a:latin typeface="MarkForMC Nrw O"/>
                        </a:defRPr>
                      </a:lvl3pPr>
                      <a:lvl4pPr marL="1371600" algn="l" defTabSz="914400" rtl="0" eaLnBrk="1" latinLnBrk="0" hangingPunct="1">
                        <a:defRPr sz="1800" kern="1200">
                          <a:solidFill>
                            <a:schemeClr val="dk1"/>
                          </a:solidFill>
                          <a:latin typeface="MarkForMC Nrw O"/>
                        </a:defRPr>
                      </a:lvl4pPr>
                      <a:lvl5pPr marL="1828800" algn="l" defTabSz="914400" rtl="0" eaLnBrk="1" latinLnBrk="0" hangingPunct="1">
                        <a:defRPr sz="1800" kern="1200">
                          <a:solidFill>
                            <a:schemeClr val="dk1"/>
                          </a:solidFill>
                          <a:latin typeface="MarkForMC Nrw O"/>
                        </a:defRPr>
                      </a:lvl5pPr>
                      <a:lvl6pPr marL="2286000" algn="l" defTabSz="914400" rtl="0" eaLnBrk="1" latinLnBrk="0" hangingPunct="1">
                        <a:defRPr sz="1800" kern="1200">
                          <a:solidFill>
                            <a:schemeClr val="dk1"/>
                          </a:solidFill>
                          <a:latin typeface="MarkForMC Nrw O"/>
                        </a:defRPr>
                      </a:lvl6pPr>
                      <a:lvl7pPr marL="2743200" algn="l" defTabSz="914400" rtl="0" eaLnBrk="1" latinLnBrk="0" hangingPunct="1">
                        <a:defRPr sz="1800" kern="1200">
                          <a:solidFill>
                            <a:schemeClr val="dk1"/>
                          </a:solidFill>
                          <a:latin typeface="MarkForMC Nrw O"/>
                        </a:defRPr>
                      </a:lvl7pPr>
                      <a:lvl8pPr marL="3200400" algn="l" defTabSz="914400" rtl="0" eaLnBrk="1" latinLnBrk="0" hangingPunct="1">
                        <a:defRPr sz="1800" kern="1200">
                          <a:solidFill>
                            <a:schemeClr val="dk1"/>
                          </a:solidFill>
                          <a:latin typeface="MarkForMC Nrw O"/>
                        </a:defRPr>
                      </a:lvl8pPr>
                      <a:lvl9pPr marL="3657600" algn="l" defTabSz="914400" rtl="0" eaLnBrk="1" latinLnBrk="0" hangingPunct="1">
                        <a:defRPr sz="1800" kern="1200">
                          <a:solidFill>
                            <a:schemeClr val="dk1"/>
                          </a:solidFill>
                          <a:latin typeface="MarkForMC Nrw O"/>
                        </a:defRPr>
                      </a:lvl9pPr>
                    </a:lstStyle>
                    <a:p>
                      <a:pPr algn="ctr" fontAlgn="ctr">
                        <a:buNone/>
                      </a:pPr>
                      <a:r>
                        <a:rPr lang="pt-BR" sz="900" b="0" i="0" u="none" strike="noStrike">
                          <a:solidFill>
                            <a:srgbClr val="000000"/>
                          </a:solidFill>
                          <a:effectLst/>
                          <a:latin typeface="+mn-lt"/>
                        </a:rPr>
                        <a:t>Average</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EFEFE"/>
                    </a:solidFill>
                  </a:tcPr>
                </a:tc>
                <a:tc>
                  <a:txBody>
                    <a:bodyPr/>
                    <a:lstStyle>
                      <a:lvl1pPr marL="0" algn="l" defTabSz="914400" rtl="0" eaLnBrk="1" latinLnBrk="0" hangingPunct="1">
                        <a:defRPr sz="1800" kern="1200">
                          <a:solidFill>
                            <a:schemeClr val="dk1"/>
                          </a:solidFill>
                          <a:latin typeface="MarkForMC Nrw O"/>
                        </a:defRPr>
                      </a:lvl1pPr>
                      <a:lvl2pPr marL="457200" algn="l" defTabSz="914400" rtl="0" eaLnBrk="1" latinLnBrk="0" hangingPunct="1">
                        <a:defRPr sz="1800" kern="1200">
                          <a:solidFill>
                            <a:schemeClr val="dk1"/>
                          </a:solidFill>
                          <a:latin typeface="MarkForMC Nrw O"/>
                        </a:defRPr>
                      </a:lvl2pPr>
                      <a:lvl3pPr marL="914400" algn="l" defTabSz="914400" rtl="0" eaLnBrk="1" latinLnBrk="0" hangingPunct="1">
                        <a:defRPr sz="1800" kern="1200">
                          <a:solidFill>
                            <a:schemeClr val="dk1"/>
                          </a:solidFill>
                          <a:latin typeface="MarkForMC Nrw O"/>
                        </a:defRPr>
                      </a:lvl3pPr>
                      <a:lvl4pPr marL="1371600" algn="l" defTabSz="914400" rtl="0" eaLnBrk="1" latinLnBrk="0" hangingPunct="1">
                        <a:defRPr sz="1800" kern="1200">
                          <a:solidFill>
                            <a:schemeClr val="dk1"/>
                          </a:solidFill>
                          <a:latin typeface="MarkForMC Nrw O"/>
                        </a:defRPr>
                      </a:lvl4pPr>
                      <a:lvl5pPr marL="1828800" algn="l" defTabSz="914400" rtl="0" eaLnBrk="1" latinLnBrk="0" hangingPunct="1">
                        <a:defRPr sz="1800" kern="1200">
                          <a:solidFill>
                            <a:schemeClr val="dk1"/>
                          </a:solidFill>
                          <a:latin typeface="MarkForMC Nrw O"/>
                        </a:defRPr>
                      </a:lvl5pPr>
                      <a:lvl6pPr marL="2286000" algn="l" defTabSz="914400" rtl="0" eaLnBrk="1" latinLnBrk="0" hangingPunct="1">
                        <a:defRPr sz="1800" kern="1200">
                          <a:solidFill>
                            <a:schemeClr val="dk1"/>
                          </a:solidFill>
                          <a:latin typeface="MarkForMC Nrw O"/>
                        </a:defRPr>
                      </a:lvl6pPr>
                      <a:lvl7pPr marL="2743200" algn="l" defTabSz="914400" rtl="0" eaLnBrk="1" latinLnBrk="0" hangingPunct="1">
                        <a:defRPr sz="1800" kern="1200">
                          <a:solidFill>
                            <a:schemeClr val="dk1"/>
                          </a:solidFill>
                          <a:latin typeface="MarkForMC Nrw O"/>
                        </a:defRPr>
                      </a:lvl7pPr>
                      <a:lvl8pPr marL="3200400" algn="l" defTabSz="914400" rtl="0" eaLnBrk="1" latinLnBrk="0" hangingPunct="1">
                        <a:defRPr sz="1800" kern="1200">
                          <a:solidFill>
                            <a:schemeClr val="dk1"/>
                          </a:solidFill>
                          <a:latin typeface="MarkForMC Nrw O"/>
                        </a:defRPr>
                      </a:lvl8pPr>
                      <a:lvl9pPr marL="3657600" algn="l" defTabSz="914400" rtl="0" eaLnBrk="1" latinLnBrk="0" hangingPunct="1">
                        <a:defRPr sz="1800" kern="1200">
                          <a:solidFill>
                            <a:schemeClr val="dk1"/>
                          </a:solidFill>
                          <a:latin typeface="MarkForMC Nrw O"/>
                        </a:defRPr>
                      </a:lvl9pPr>
                    </a:lstStyle>
                    <a:p>
                      <a:pPr marL="0" algn="ctr" defTabSz="914354" rtl="0" eaLnBrk="1" fontAlgn="ctr" latinLnBrk="0" hangingPunct="1">
                        <a:buNone/>
                      </a:pPr>
                      <a:r>
                        <a:rPr lang="en-US" sz="900" b="0" i="0" u="none" strike="noStrike" kern="1200" dirty="0">
                          <a:solidFill>
                            <a:srgbClr val="000000"/>
                          </a:solidFill>
                          <a:effectLst/>
                          <a:latin typeface="+mn-lt"/>
                          <a:ea typeface="+mn-ea"/>
                          <a:cs typeface="+mn-cs"/>
                        </a:rPr>
                        <a:t>6 days</a:t>
                      </a:r>
                    </a:p>
                  </a:txBody>
                  <a:tcPr marL="76200" marR="762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EFEFE"/>
                    </a:solidFill>
                  </a:tcPr>
                </a:tc>
                <a:tc>
                  <a:txBody>
                    <a:bodyPr/>
                    <a:lstStyle>
                      <a:lvl1pPr marL="0" algn="l" defTabSz="914400" rtl="0" eaLnBrk="1" latinLnBrk="0" hangingPunct="1">
                        <a:defRPr sz="1800" kern="1200">
                          <a:solidFill>
                            <a:schemeClr val="dk1"/>
                          </a:solidFill>
                          <a:latin typeface="MarkForMC Nrw O"/>
                        </a:defRPr>
                      </a:lvl1pPr>
                      <a:lvl2pPr marL="457200" algn="l" defTabSz="914400" rtl="0" eaLnBrk="1" latinLnBrk="0" hangingPunct="1">
                        <a:defRPr sz="1800" kern="1200">
                          <a:solidFill>
                            <a:schemeClr val="dk1"/>
                          </a:solidFill>
                          <a:latin typeface="MarkForMC Nrw O"/>
                        </a:defRPr>
                      </a:lvl2pPr>
                      <a:lvl3pPr marL="914400" algn="l" defTabSz="914400" rtl="0" eaLnBrk="1" latinLnBrk="0" hangingPunct="1">
                        <a:defRPr sz="1800" kern="1200">
                          <a:solidFill>
                            <a:schemeClr val="dk1"/>
                          </a:solidFill>
                          <a:latin typeface="MarkForMC Nrw O"/>
                        </a:defRPr>
                      </a:lvl3pPr>
                      <a:lvl4pPr marL="1371600" algn="l" defTabSz="914400" rtl="0" eaLnBrk="1" latinLnBrk="0" hangingPunct="1">
                        <a:defRPr sz="1800" kern="1200">
                          <a:solidFill>
                            <a:schemeClr val="dk1"/>
                          </a:solidFill>
                          <a:latin typeface="MarkForMC Nrw O"/>
                        </a:defRPr>
                      </a:lvl4pPr>
                      <a:lvl5pPr marL="1828800" algn="l" defTabSz="914400" rtl="0" eaLnBrk="1" latinLnBrk="0" hangingPunct="1">
                        <a:defRPr sz="1800" kern="1200">
                          <a:solidFill>
                            <a:schemeClr val="dk1"/>
                          </a:solidFill>
                          <a:latin typeface="MarkForMC Nrw O"/>
                        </a:defRPr>
                      </a:lvl5pPr>
                      <a:lvl6pPr marL="2286000" algn="l" defTabSz="914400" rtl="0" eaLnBrk="1" latinLnBrk="0" hangingPunct="1">
                        <a:defRPr sz="1800" kern="1200">
                          <a:solidFill>
                            <a:schemeClr val="dk1"/>
                          </a:solidFill>
                          <a:latin typeface="MarkForMC Nrw O"/>
                        </a:defRPr>
                      </a:lvl6pPr>
                      <a:lvl7pPr marL="2743200" algn="l" defTabSz="914400" rtl="0" eaLnBrk="1" latinLnBrk="0" hangingPunct="1">
                        <a:defRPr sz="1800" kern="1200">
                          <a:solidFill>
                            <a:schemeClr val="dk1"/>
                          </a:solidFill>
                          <a:latin typeface="MarkForMC Nrw O"/>
                        </a:defRPr>
                      </a:lvl7pPr>
                      <a:lvl8pPr marL="3200400" algn="l" defTabSz="914400" rtl="0" eaLnBrk="1" latinLnBrk="0" hangingPunct="1">
                        <a:defRPr sz="1800" kern="1200">
                          <a:solidFill>
                            <a:schemeClr val="dk1"/>
                          </a:solidFill>
                          <a:latin typeface="MarkForMC Nrw O"/>
                        </a:defRPr>
                      </a:lvl8pPr>
                      <a:lvl9pPr marL="3657600" algn="l" defTabSz="914400" rtl="0" eaLnBrk="1" latinLnBrk="0" hangingPunct="1">
                        <a:defRPr sz="1800" kern="1200">
                          <a:solidFill>
                            <a:schemeClr val="dk1"/>
                          </a:solidFill>
                          <a:latin typeface="MarkForMC Nrw O"/>
                        </a:defRPr>
                      </a:lvl9pPr>
                    </a:lstStyle>
                    <a:p>
                      <a:pPr marL="0" algn="ctr" defTabSz="914354" rtl="0" eaLnBrk="1" fontAlgn="ctr" latinLnBrk="0" hangingPunct="1">
                        <a:buNone/>
                      </a:pPr>
                      <a:r>
                        <a:rPr lang="en-US" sz="900" b="0" i="0" u="none" strike="noStrike" kern="1200">
                          <a:solidFill>
                            <a:srgbClr val="000000"/>
                          </a:solidFill>
                          <a:effectLst/>
                          <a:latin typeface="+mn-lt"/>
                          <a:ea typeface="+mn-ea"/>
                          <a:cs typeface="+mn-cs"/>
                        </a:rPr>
                        <a:t>1.5 days</a:t>
                      </a:r>
                    </a:p>
                  </a:txBody>
                  <a:tcPr marL="76200" marR="762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EFEFE"/>
                    </a:solidFill>
                  </a:tcPr>
                </a:tc>
                <a:tc>
                  <a:txBody>
                    <a:bodyPr/>
                    <a:lstStyle>
                      <a:lvl1pPr marL="0" algn="l" defTabSz="914400" rtl="0" eaLnBrk="1" latinLnBrk="0" hangingPunct="1">
                        <a:defRPr sz="1800" kern="1200">
                          <a:solidFill>
                            <a:schemeClr val="dk1"/>
                          </a:solidFill>
                          <a:latin typeface="MarkForMC Nrw O"/>
                        </a:defRPr>
                      </a:lvl1pPr>
                      <a:lvl2pPr marL="457200" algn="l" defTabSz="914400" rtl="0" eaLnBrk="1" latinLnBrk="0" hangingPunct="1">
                        <a:defRPr sz="1800" kern="1200">
                          <a:solidFill>
                            <a:schemeClr val="dk1"/>
                          </a:solidFill>
                          <a:latin typeface="MarkForMC Nrw O"/>
                        </a:defRPr>
                      </a:lvl2pPr>
                      <a:lvl3pPr marL="914400" algn="l" defTabSz="914400" rtl="0" eaLnBrk="1" latinLnBrk="0" hangingPunct="1">
                        <a:defRPr sz="1800" kern="1200">
                          <a:solidFill>
                            <a:schemeClr val="dk1"/>
                          </a:solidFill>
                          <a:latin typeface="MarkForMC Nrw O"/>
                        </a:defRPr>
                      </a:lvl3pPr>
                      <a:lvl4pPr marL="1371600" algn="l" defTabSz="914400" rtl="0" eaLnBrk="1" latinLnBrk="0" hangingPunct="1">
                        <a:defRPr sz="1800" kern="1200">
                          <a:solidFill>
                            <a:schemeClr val="dk1"/>
                          </a:solidFill>
                          <a:latin typeface="MarkForMC Nrw O"/>
                        </a:defRPr>
                      </a:lvl4pPr>
                      <a:lvl5pPr marL="1828800" algn="l" defTabSz="914400" rtl="0" eaLnBrk="1" latinLnBrk="0" hangingPunct="1">
                        <a:defRPr sz="1800" kern="1200">
                          <a:solidFill>
                            <a:schemeClr val="dk1"/>
                          </a:solidFill>
                          <a:latin typeface="MarkForMC Nrw O"/>
                        </a:defRPr>
                      </a:lvl5pPr>
                      <a:lvl6pPr marL="2286000" algn="l" defTabSz="914400" rtl="0" eaLnBrk="1" latinLnBrk="0" hangingPunct="1">
                        <a:defRPr sz="1800" kern="1200">
                          <a:solidFill>
                            <a:schemeClr val="dk1"/>
                          </a:solidFill>
                          <a:latin typeface="MarkForMC Nrw O"/>
                        </a:defRPr>
                      </a:lvl6pPr>
                      <a:lvl7pPr marL="2743200" algn="l" defTabSz="914400" rtl="0" eaLnBrk="1" latinLnBrk="0" hangingPunct="1">
                        <a:defRPr sz="1800" kern="1200">
                          <a:solidFill>
                            <a:schemeClr val="dk1"/>
                          </a:solidFill>
                          <a:latin typeface="MarkForMC Nrw O"/>
                        </a:defRPr>
                      </a:lvl7pPr>
                      <a:lvl8pPr marL="3200400" algn="l" defTabSz="914400" rtl="0" eaLnBrk="1" latinLnBrk="0" hangingPunct="1">
                        <a:defRPr sz="1800" kern="1200">
                          <a:solidFill>
                            <a:schemeClr val="dk1"/>
                          </a:solidFill>
                          <a:latin typeface="MarkForMC Nrw O"/>
                        </a:defRPr>
                      </a:lvl8pPr>
                      <a:lvl9pPr marL="3657600" algn="l" defTabSz="914400" rtl="0" eaLnBrk="1" latinLnBrk="0" hangingPunct="1">
                        <a:defRPr sz="1800" kern="1200">
                          <a:solidFill>
                            <a:schemeClr val="dk1"/>
                          </a:solidFill>
                          <a:latin typeface="MarkForMC Nrw O"/>
                        </a:defRPr>
                      </a:lvl9pPr>
                    </a:lstStyle>
                    <a:p>
                      <a:pPr marL="0" algn="ctr" defTabSz="914354" rtl="0" eaLnBrk="1" fontAlgn="ctr" latinLnBrk="0" hangingPunct="1">
                        <a:buNone/>
                      </a:pPr>
                      <a:r>
                        <a:rPr lang="en-US" sz="900" b="0" i="0" u="none" strike="noStrike" kern="1200" dirty="0">
                          <a:solidFill>
                            <a:srgbClr val="000000"/>
                          </a:solidFill>
                          <a:effectLst/>
                          <a:latin typeface="+mn-lt"/>
                          <a:ea typeface="+mn-ea"/>
                          <a:cs typeface="+mn-cs"/>
                        </a:rPr>
                        <a:t>4.5 days</a:t>
                      </a:r>
                    </a:p>
                  </a:txBody>
                  <a:tcPr marL="76200" marR="762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EFEFE"/>
                    </a:solidFill>
                  </a:tcPr>
                </a:tc>
                <a:extLst>
                  <a:ext uri="{0D108BD9-81ED-4DB2-BD59-A6C34878D82A}">
                    <a16:rowId xmlns:a16="http://schemas.microsoft.com/office/drawing/2014/main" val="87559474"/>
                  </a:ext>
                </a:extLst>
              </a:tr>
              <a:tr h="428134">
                <a:tc>
                  <a:txBody>
                    <a:bodyPr/>
                    <a:lstStyle>
                      <a:lvl1pPr marL="0" algn="l" defTabSz="914400" rtl="0" eaLnBrk="1" latinLnBrk="0" hangingPunct="1">
                        <a:defRPr sz="1800" kern="1200">
                          <a:solidFill>
                            <a:schemeClr val="dk1"/>
                          </a:solidFill>
                          <a:latin typeface="MarkForMC Nrw O"/>
                        </a:defRPr>
                      </a:lvl1pPr>
                      <a:lvl2pPr marL="457200" algn="l" defTabSz="914400" rtl="0" eaLnBrk="1" latinLnBrk="0" hangingPunct="1">
                        <a:defRPr sz="1800" kern="1200">
                          <a:solidFill>
                            <a:schemeClr val="dk1"/>
                          </a:solidFill>
                          <a:latin typeface="MarkForMC Nrw O"/>
                        </a:defRPr>
                      </a:lvl2pPr>
                      <a:lvl3pPr marL="914400" algn="l" defTabSz="914400" rtl="0" eaLnBrk="1" latinLnBrk="0" hangingPunct="1">
                        <a:defRPr sz="1800" kern="1200">
                          <a:solidFill>
                            <a:schemeClr val="dk1"/>
                          </a:solidFill>
                          <a:latin typeface="MarkForMC Nrw O"/>
                        </a:defRPr>
                      </a:lvl3pPr>
                      <a:lvl4pPr marL="1371600" algn="l" defTabSz="914400" rtl="0" eaLnBrk="1" latinLnBrk="0" hangingPunct="1">
                        <a:defRPr sz="1800" kern="1200">
                          <a:solidFill>
                            <a:schemeClr val="dk1"/>
                          </a:solidFill>
                          <a:latin typeface="MarkForMC Nrw O"/>
                        </a:defRPr>
                      </a:lvl4pPr>
                      <a:lvl5pPr marL="1828800" algn="l" defTabSz="914400" rtl="0" eaLnBrk="1" latinLnBrk="0" hangingPunct="1">
                        <a:defRPr sz="1800" kern="1200">
                          <a:solidFill>
                            <a:schemeClr val="dk1"/>
                          </a:solidFill>
                          <a:latin typeface="MarkForMC Nrw O"/>
                        </a:defRPr>
                      </a:lvl5pPr>
                      <a:lvl6pPr marL="2286000" algn="l" defTabSz="914400" rtl="0" eaLnBrk="1" latinLnBrk="0" hangingPunct="1">
                        <a:defRPr sz="1800" kern="1200">
                          <a:solidFill>
                            <a:schemeClr val="dk1"/>
                          </a:solidFill>
                          <a:latin typeface="MarkForMC Nrw O"/>
                        </a:defRPr>
                      </a:lvl6pPr>
                      <a:lvl7pPr marL="2743200" algn="l" defTabSz="914400" rtl="0" eaLnBrk="1" latinLnBrk="0" hangingPunct="1">
                        <a:defRPr sz="1800" kern="1200">
                          <a:solidFill>
                            <a:schemeClr val="dk1"/>
                          </a:solidFill>
                          <a:latin typeface="MarkForMC Nrw O"/>
                        </a:defRPr>
                      </a:lvl7pPr>
                      <a:lvl8pPr marL="3200400" algn="l" defTabSz="914400" rtl="0" eaLnBrk="1" latinLnBrk="0" hangingPunct="1">
                        <a:defRPr sz="1800" kern="1200">
                          <a:solidFill>
                            <a:schemeClr val="dk1"/>
                          </a:solidFill>
                          <a:latin typeface="MarkForMC Nrw O"/>
                        </a:defRPr>
                      </a:lvl8pPr>
                      <a:lvl9pPr marL="3657600" algn="l" defTabSz="914400" rtl="0" eaLnBrk="1" latinLnBrk="0" hangingPunct="1">
                        <a:defRPr sz="1800" kern="1200">
                          <a:solidFill>
                            <a:schemeClr val="dk1"/>
                          </a:solidFill>
                          <a:latin typeface="MarkForMC Nrw O"/>
                        </a:defRPr>
                      </a:lvl9pPr>
                    </a:lstStyle>
                    <a:p>
                      <a:pPr algn="ctr" fontAlgn="ctr">
                        <a:buNone/>
                      </a:pPr>
                      <a:r>
                        <a:rPr lang="pt-BR" sz="900" b="0" i="0" u="none" strike="noStrike" dirty="0">
                          <a:solidFill>
                            <a:srgbClr val="000000"/>
                          </a:solidFill>
                          <a:effectLst/>
                          <a:latin typeface="+mn-lt"/>
                        </a:rPr>
                        <a:t>Maximum</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MarkForMC Nrw O"/>
                        </a:defRPr>
                      </a:lvl1pPr>
                      <a:lvl2pPr marL="457200" algn="l" defTabSz="914400" rtl="0" eaLnBrk="1" latinLnBrk="0" hangingPunct="1">
                        <a:defRPr sz="1800" kern="1200">
                          <a:solidFill>
                            <a:schemeClr val="dk1"/>
                          </a:solidFill>
                          <a:latin typeface="MarkForMC Nrw O"/>
                        </a:defRPr>
                      </a:lvl2pPr>
                      <a:lvl3pPr marL="914400" algn="l" defTabSz="914400" rtl="0" eaLnBrk="1" latinLnBrk="0" hangingPunct="1">
                        <a:defRPr sz="1800" kern="1200">
                          <a:solidFill>
                            <a:schemeClr val="dk1"/>
                          </a:solidFill>
                          <a:latin typeface="MarkForMC Nrw O"/>
                        </a:defRPr>
                      </a:lvl3pPr>
                      <a:lvl4pPr marL="1371600" algn="l" defTabSz="914400" rtl="0" eaLnBrk="1" latinLnBrk="0" hangingPunct="1">
                        <a:defRPr sz="1800" kern="1200">
                          <a:solidFill>
                            <a:schemeClr val="dk1"/>
                          </a:solidFill>
                          <a:latin typeface="MarkForMC Nrw O"/>
                        </a:defRPr>
                      </a:lvl4pPr>
                      <a:lvl5pPr marL="1828800" algn="l" defTabSz="914400" rtl="0" eaLnBrk="1" latinLnBrk="0" hangingPunct="1">
                        <a:defRPr sz="1800" kern="1200">
                          <a:solidFill>
                            <a:schemeClr val="dk1"/>
                          </a:solidFill>
                          <a:latin typeface="MarkForMC Nrw O"/>
                        </a:defRPr>
                      </a:lvl5pPr>
                      <a:lvl6pPr marL="2286000" algn="l" defTabSz="914400" rtl="0" eaLnBrk="1" latinLnBrk="0" hangingPunct="1">
                        <a:defRPr sz="1800" kern="1200">
                          <a:solidFill>
                            <a:schemeClr val="dk1"/>
                          </a:solidFill>
                          <a:latin typeface="MarkForMC Nrw O"/>
                        </a:defRPr>
                      </a:lvl6pPr>
                      <a:lvl7pPr marL="2743200" algn="l" defTabSz="914400" rtl="0" eaLnBrk="1" latinLnBrk="0" hangingPunct="1">
                        <a:defRPr sz="1800" kern="1200">
                          <a:solidFill>
                            <a:schemeClr val="dk1"/>
                          </a:solidFill>
                          <a:latin typeface="MarkForMC Nrw O"/>
                        </a:defRPr>
                      </a:lvl7pPr>
                      <a:lvl8pPr marL="3200400" algn="l" defTabSz="914400" rtl="0" eaLnBrk="1" latinLnBrk="0" hangingPunct="1">
                        <a:defRPr sz="1800" kern="1200">
                          <a:solidFill>
                            <a:schemeClr val="dk1"/>
                          </a:solidFill>
                          <a:latin typeface="MarkForMC Nrw O"/>
                        </a:defRPr>
                      </a:lvl8pPr>
                      <a:lvl9pPr marL="3657600" algn="l" defTabSz="914400" rtl="0" eaLnBrk="1" latinLnBrk="0" hangingPunct="1">
                        <a:defRPr sz="1800" kern="1200">
                          <a:solidFill>
                            <a:schemeClr val="dk1"/>
                          </a:solidFill>
                          <a:latin typeface="MarkForMC Nrw O"/>
                        </a:defRPr>
                      </a:lvl9pPr>
                    </a:lstStyle>
                    <a:p>
                      <a:pPr marL="0" algn="ctr" defTabSz="914354" rtl="0" eaLnBrk="1" fontAlgn="ctr" latinLnBrk="0" hangingPunct="1">
                        <a:buNone/>
                      </a:pPr>
                      <a:r>
                        <a:rPr lang="en-US" sz="900" b="0" i="0" u="none" strike="noStrike" kern="1200" dirty="0">
                          <a:solidFill>
                            <a:srgbClr val="000000"/>
                          </a:solidFill>
                          <a:effectLst/>
                          <a:latin typeface="+mn-lt"/>
                          <a:ea typeface="+mn-ea"/>
                          <a:cs typeface="+mn-cs"/>
                        </a:rPr>
                        <a:t>7 days</a:t>
                      </a:r>
                    </a:p>
                  </a:txBody>
                  <a:tcPr marL="76200" marR="762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MarkForMC Nrw O"/>
                        </a:defRPr>
                      </a:lvl1pPr>
                      <a:lvl2pPr marL="457200" algn="l" defTabSz="914400" rtl="0" eaLnBrk="1" latinLnBrk="0" hangingPunct="1">
                        <a:defRPr sz="1800" kern="1200">
                          <a:solidFill>
                            <a:schemeClr val="dk1"/>
                          </a:solidFill>
                          <a:latin typeface="MarkForMC Nrw O"/>
                        </a:defRPr>
                      </a:lvl2pPr>
                      <a:lvl3pPr marL="914400" algn="l" defTabSz="914400" rtl="0" eaLnBrk="1" latinLnBrk="0" hangingPunct="1">
                        <a:defRPr sz="1800" kern="1200">
                          <a:solidFill>
                            <a:schemeClr val="dk1"/>
                          </a:solidFill>
                          <a:latin typeface="MarkForMC Nrw O"/>
                        </a:defRPr>
                      </a:lvl3pPr>
                      <a:lvl4pPr marL="1371600" algn="l" defTabSz="914400" rtl="0" eaLnBrk="1" latinLnBrk="0" hangingPunct="1">
                        <a:defRPr sz="1800" kern="1200">
                          <a:solidFill>
                            <a:schemeClr val="dk1"/>
                          </a:solidFill>
                          <a:latin typeface="MarkForMC Nrw O"/>
                        </a:defRPr>
                      </a:lvl4pPr>
                      <a:lvl5pPr marL="1828800" algn="l" defTabSz="914400" rtl="0" eaLnBrk="1" latinLnBrk="0" hangingPunct="1">
                        <a:defRPr sz="1800" kern="1200">
                          <a:solidFill>
                            <a:schemeClr val="dk1"/>
                          </a:solidFill>
                          <a:latin typeface="MarkForMC Nrw O"/>
                        </a:defRPr>
                      </a:lvl5pPr>
                      <a:lvl6pPr marL="2286000" algn="l" defTabSz="914400" rtl="0" eaLnBrk="1" latinLnBrk="0" hangingPunct="1">
                        <a:defRPr sz="1800" kern="1200">
                          <a:solidFill>
                            <a:schemeClr val="dk1"/>
                          </a:solidFill>
                          <a:latin typeface="MarkForMC Nrw O"/>
                        </a:defRPr>
                      </a:lvl6pPr>
                      <a:lvl7pPr marL="2743200" algn="l" defTabSz="914400" rtl="0" eaLnBrk="1" latinLnBrk="0" hangingPunct="1">
                        <a:defRPr sz="1800" kern="1200">
                          <a:solidFill>
                            <a:schemeClr val="dk1"/>
                          </a:solidFill>
                          <a:latin typeface="MarkForMC Nrw O"/>
                        </a:defRPr>
                      </a:lvl7pPr>
                      <a:lvl8pPr marL="3200400" algn="l" defTabSz="914400" rtl="0" eaLnBrk="1" latinLnBrk="0" hangingPunct="1">
                        <a:defRPr sz="1800" kern="1200">
                          <a:solidFill>
                            <a:schemeClr val="dk1"/>
                          </a:solidFill>
                          <a:latin typeface="MarkForMC Nrw O"/>
                        </a:defRPr>
                      </a:lvl8pPr>
                      <a:lvl9pPr marL="3657600" algn="l" defTabSz="914400" rtl="0" eaLnBrk="1" latinLnBrk="0" hangingPunct="1">
                        <a:defRPr sz="1800" kern="1200">
                          <a:solidFill>
                            <a:schemeClr val="dk1"/>
                          </a:solidFill>
                          <a:latin typeface="MarkForMC Nrw O"/>
                        </a:defRPr>
                      </a:lvl9pPr>
                    </a:lstStyle>
                    <a:p>
                      <a:pPr marL="0" algn="ctr" defTabSz="914354" rtl="0" eaLnBrk="1" fontAlgn="ctr" latinLnBrk="0" hangingPunct="1">
                        <a:buNone/>
                      </a:pPr>
                      <a:r>
                        <a:rPr lang="da-DK" sz="900" b="0" i="0" u="none" strike="noStrike" kern="1200" dirty="0">
                          <a:solidFill>
                            <a:srgbClr val="000000"/>
                          </a:solidFill>
                          <a:effectLst/>
                          <a:latin typeface="+mn-lt"/>
                          <a:ea typeface="+mn-ea"/>
                          <a:cs typeface="+mn-cs"/>
                        </a:rPr>
                        <a:t>2 days</a:t>
                      </a:r>
                    </a:p>
                  </a:txBody>
                  <a:tcPr marL="76200" marR="762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MarkForMC Nrw O"/>
                        </a:defRPr>
                      </a:lvl1pPr>
                      <a:lvl2pPr marL="457200" algn="l" defTabSz="914400" rtl="0" eaLnBrk="1" latinLnBrk="0" hangingPunct="1">
                        <a:defRPr sz="1800" kern="1200">
                          <a:solidFill>
                            <a:schemeClr val="dk1"/>
                          </a:solidFill>
                          <a:latin typeface="MarkForMC Nrw O"/>
                        </a:defRPr>
                      </a:lvl2pPr>
                      <a:lvl3pPr marL="914400" algn="l" defTabSz="914400" rtl="0" eaLnBrk="1" latinLnBrk="0" hangingPunct="1">
                        <a:defRPr sz="1800" kern="1200">
                          <a:solidFill>
                            <a:schemeClr val="dk1"/>
                          </a:solidFill>
                          <a:latin typeface="MarkForMC Nrw O"/>
                        </a:defRPr>
                      </a:lvl3pPr>
                      <a:lvl4pPr marL="1371600" algn="l" defTabSz="914400" rtl="0" eaLnBrk="1" latinLnBrk="0" hangingPunct="1">
                        <a:defRPr sz="1800" kern="1200">
                          <a:solidFill>
                            <a:schemeClr val="dk1"/>
                          </a:solidFill>
                          <a:latin typeface="MarkForMC Nrw O"/>
                        </a:defRPr>
                      </a:lvl4pPr>
                      <a:lvl5pPr marL="1828800" algn="l" defTabSz="914400" rtl="0" eaLnBrk="1" latinLnBrk="0" hangingPunct="1">
                        <a:defRPr sz="1800" kern="1200">
                          <a:solidFill>
                            <a:schemeClr val="dk1"/>
                          </a:solidFill>
                          <a:latin typeface="MarkForMC Nrw O"/>
                        </a:defRPr>
                      </a:lvl5pPr>
                      <a:lvl6pPr marL="2286000" algn="l" defTabSz="914400" rtl="0" eaLnBrk="1" latinLnBrk="0" hangingPunct="1">
                        <a:defRPr sz="1800" kern="1200">
                          <a:solidFill>
                            <a:schemeClr val="dk1"/>
                          </a:solidFill>
                          <a:latin typeface="MarkForMC Nrw O"/>
                        </a:defRPr>
                      </a:lvl6pPr>
                      <a:lvl7pPr marL="2743200" algn="l" defTabSz="914400" rtl="0" eaLnBrk="1" latinLnBrk="0" hangingPunct="1">
                        <a:defRPr sz="1800" kern="1200">
                          <a:solidFill>
                            <a:schemeClr val="dk1"/>
                          </a:solidFill>
                          <a:latin typeface="MarkForMC Nrw O"/>
                        </a:defRPr>
                      </a:lvl7pPr>
                      <a:lvl8pPr marL="3200400" algn="l" defTabSz="914400" rtl="0" eaLnBrk="1" latinLnBrk="0" hangingPunct="1">
                        <a:defRPr sz="1800" kern="1200">
                          <a:solidFill>
                            <a:schemeClr val="dk1"/>
                          </a:solidFill>
                          <a:latin typeface="MarkForMC Nrw O"/>
                        </a:defRPr>
                      </a:lvl8pPr>
                      <a:lvl9pPr marL="3657600" algn="l" defTabSz="914400" rtl="0" eaLnBrk="1" latinLnBrk="0" hangingPunct="1">
                        <a:defRPr sz="1800" kern="1200">
                          <a:solidFill>
                            <a:schemeClr val="dk1"/>
                          </a:solidFill>
                          <a:latin typeface="MarkForMC Nrw O"/>
                        </a:defRPr>
                      </a:lvl9pPr>
                    </a:lstStyle>
                    <a:p>
                      <a:pPr marL="0" algn="ctr" defTabSz="914354" rtl="0" eaLnBrk="1" fontAlgn="ctr" latinLnBrk="0" hangingPunct="1">
                        <a:buNone/>
                      </a:pPr>
                      <a:r>
                        <a:rPr lang="en-US" sz="900" b="0" i="0" u="none" strike="noStrike" kern="1200" dirty="0">
                          <a:solidFill>
                            <a:srgbClr val="000000"/>
                          </a:solidFill>
                          <a:effectLst/>
                          <a:latin typeface="+mn-lt"/>
                          <a:ea typeface="+mn-ea"/>
                          <a:cs typeface="+mn-cs"/>
                        </a:rPr>
                        <a:t>5 days</a:t>
                      </a:r>
                    </a:p>
                  </a:txBody>
                  <a:tcPr marL="76200" marR="762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725224946"/>
                  </a:ext>
                </a:extLst>
              </a:tr>
            </a:tbl>
          </a:graphicData>
        </a:graphic>
      </p:graphicFrame>
      <p:graphicFrame>
        <p:nvGraphicFramePr>
          <p:cNvPr id="2" name="Table 1">
            <a:extLst>
              <a:ext uri="{FF2B5EF4-FFF2-40B4-BE49-F238E27FC236}">
                <a16:creationId xmlns:a16="http://schemas.microsoft.com/office/drawing/2014/main" id="{2D02F33C-716B-2330-D84B-F2DE20295B30}"/>
              </a:ext>
            </a:extLst>
          </p:cNvPr>
          <p:cNvGraphicFramePr>
            <a:graphicFrameLocks noGrp="1"/>
          </p:cNvGraphicFramePr>
          <p:nvPr>
            <p:extLst>
              <p:ext uri="{D42A27DB-BD31-4B8C-83A1-F6EECF244321}">
                <p14:modId xmlns:p14="http://schemas.microsoft.com/office/powerpoint/2010/main" val="3692030474"/>
              </p:ext>
            </p:extLst>
          </p:nvPr>
        </p:nvGraphicFramePr>
        <p:xfrm>
          <a:off x="6517934" y="2189132"/>
          <a:ext cx="4747624" cy="1696944"/>
        </p:xfrm>
        <a:graphic>
          <a:graphicData uri="http://schemas.openxmlformats.org/drawingml/2006/table">
            <a:tbl>
              <a:tblPr firstRow="1" bandRow="1"/>
              <a:tblGrid>
                <a:gridCol w="957734">
                  <a:extLst>
                    <a:ext uri="{9D8B030D-6E8A-4147-A177-3AD203B41FA5}">
                      <a16:colId xmlns:a16="http://schemas.microsoft.com/office/drawing/2014/main" val="1934606165"/>
                    </a:ext>
                  </a:extLst>
                </a:gridCol>
                <a:gridCol w="1211224">
                  <a:extLst>
                    <a:ext uri="{9D8B030D-6E8A-4147-A177-3AD203B41FA5}">
                      <a16:colId xmlns:a16="http://schemas.microsoft.com/office/drawing/2014/main" val="1409564932"/>
                    </a:ext>
                  </a:extLst>
                </a:gridCol>
                <a:gridCol w="1289333">
                  <a:extLst>
                    <a:ext uri="{9D8B030D-6E8A-4147-A177-3AD203B41FA5}">
                      <a16:colId xmlns:a16="http://schemas.microsoft.com/office/drawing/2014/main" val="3648771152"/>
                    </a:ext>
                  </a:extLst>
                </a:gridCol>
                <a:gridCol w="1289333">
                  <a:extLst>
                    <a:ext uri="{9D8B030D-6E8A-4147-A177-3AD203B41FA5}">
                      <a16:colId xmlns:a16="http://schemas.microsoft.com/office/drawing/2014/main" val="2067023254"/>
                    </a:ext>
                  </a:extLst>
                </a:gridCol>
              </a:tblGrid>
              <a:tr h="326327">
                <a:tc gridSpan="4">
                  <a:txBody>
                    <a:bodyPr/>
                    <a:lstStyle/>
                    <a:p>
                      <a:pPr algn="ctr"/>
                      <a:r>
                        <a:rPr lang="en-US" sz="1000" b="1" dirty="0">
                          <a:solidFill>
                            <a:schemeClr val="bg1"/>
                          </a:solidFill>
                        </a:rPr>
                        <a:t>Market-Wide Scalability — Project Time Comparison</a:t>
                      </a:r>
                    </a:p>
                  </a:txBody>
                  <a:tcPr marL="76200" marR="762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E7530"/>
                    </a:solidFill>
                  </a:tcPr>
                </a:tc>
                <a:tc hMerge="1">
                  <a:txBody>
                    <a:bodyPr/>
                    <a:lstStyle/>
                    <a:p>
                      <a:pPr algn="ctr"/>
                      <a:endParaRPr lang="pt-BR"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5000"/>
                        <a:alpha val="90000"/>
                      </a:schemeClr>
                    </a:solidFill>
                  </a:tcPr>
                </a:tc>
                <a:tc hMerge="1">
                  <a:txBody>
                    <a:bodyPr/>
                    <a:lstStyle/>
                    <a:p>
                      <a:pPr algn="ctr"/>
                      <a:endParaRPr lang="pt-BR" sz="12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5000"/>
                        <a:alpha val="90000"/>
                      </a:schemeClr>
                    </a:solidFill>
                  </a:tcPr>
                </a:tc>
                <a:tc hMerge="1">
                  <a:txBody>
                    <a:bodyPr/>
                    <a:lstStyle/>
                    <a:p>
                      <a:pPr algn="ctr"/>
                      <a:endParaRPr lang="pt-BR" sz="12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5000"/>
                        <a:alpha val="90000"/>
                      </a:schemeClr>
                    </a:solidFill>
                  </a:tcPr>
                </a:tc>
                <a:extLst>
                  <a:ext uri="{0D108BD9-81ED-4DB2-BD59-A6C34878D82A}">
                    <a16:rowId xmlns:a16="http://schemas.microsoft.com/office/drawing/2014/main" val="3587308057"/>
                  </a:ext>
                </a:extLst>
              </a:tr>
              <a:tr h="326327">
                <a:tc>
                  <a:txBody>
                    <a:bodyPr/>
                    <a:lstStyle>
                      <a:lvl1pPr marL="0" algn="l" defTabSz="914400" rtl="0" eaLnBrk="1" latinLnBrk="0" hangingPunct="1">
                        <a:defRPr sz="1800" b="1" kern="1200">
                          <a:solidFill>
                            <a:schemeClr val="lt1"/>
                          </a:solidFill>
                          <a:latin typeface="MarkForMC Nrw O"/>
                        </a:defRPr>
                      </a:lvl1pPr>
                      <a:lvl2pPr marL="457200" algn="l" defTabSz="914400" rtl="0" eaLnBrk="1" latinLnBrk="0" hangingPunct="1">
                        <a:defRPr sz="1800" b="1" kern="1200">
                          <a:solidFill>
                            <a:schemeClr val="lt1"/>
                          </a:solidFill>
                          <a:latin typeface="MarkForMC Nrw O"/>
                        </a:defRPr>
                      </a:lvl2pPr>
                      <a:lvl3pPr marL="914400" algn="l" defTabSz="914400" rtl="0" eaLnBrk="1" latinLnBrk="0" hangingPunct="1">
                        <a:defRPr sz="1800" b="1" kern="1200">
                          <a:solidFill>
                            <a:schemeClr val="lt1"/>
                          </a:solidFill>
                          <a:latin typeface="MarkForMC Nrw O"/>
                        </a:defRPr>
                      </a:lvl3pPr>
                      <a:lvl4pPr marL="1371600" algn="l" defTabSz="914400" rtl="0" eaLnBrk="1" latinLnBrk="0" hangingPunct="1">
                        <a:defRPr sz="1800" b="1" kern="1200">
                          <a:solidFill>
                            <a:schemeClr val="lt1"/>
                          </a:solidFill>
                          <a:latin typeface="MarkForMC Nrw O"/>
                        </a:defRPr>
                      </a:lvl4pPr>
                      <a:lvl5pPr marL="1828800" algn="l" defTabSz="914400" rtl="0" eaLnBrk="1" latinLnBrk="0" hangingPunct="1">
                        <a:defRPr sz="1800" b="1" kern="1200">
                          <a:solidFill>
                            <a:schemeClr val="lt1"/>
                          </a:solidFill>
                          <a:latin typeface="MarkForMC Nrw O"/>
                        </a:defRPr>
                      </a:lvl5pPr>
                      <a:lvl6pPr marL="2286000" algn="l" defTabSz="914400" rtl="0" eaLnBrk="1" latinLnBrk="0" hangingPunct="1">
                        <a:defRPr sz="1800" b="1" kern="1200">
                          <a:solidFill>
                            <a:schemeClr val="lt1"/>
                          </a:solidFill>
                          <a:latin typeface="MarkForMC Nrw O"/>
                        </a:defRPr>
                      </a:lvl6pPr>
                      <a:lvl7pPr marL="2743200" algn="l" defTabSz="914400" rtl="0" eaLnBrk="1" latinLnBrk="0" hangingPunct="1">
                        <a:defRPr sz="1800" b="1" kern="1200">
                          <a:solidFill>
                            <a:schemeClr val="lt1"/>
                          </a:solidFill>
                          <a:latin typeface="MarkForMC Nrw O"/>
                        </a:defRPr>
                      </a:lvl7pPr>
                      <a:lvl8pPr marL="3200400" algn="l" defTabSz="914400" rtl="0" eaLnBrk="1" latinLnBrk="0" hangingPunct="1">
                        <a:defRPr sz="1800" b="1" kern="1200">
                          <a:solidFill>
                            <a:schemeClr val="lt1"/>
                          </a:solidFill>
                          <a:latin typeface="MarkForMC Nrw O"/>
                        </a:defRPr>
                      </a:lvl8pPr>
                      <a:lvl9pPr marL="3657600" algn="l" defTabSz="914400" rtl="0" eaLnBrk="1" latinLnBrk="0" hangingPunct="1">
                        <a:defRPr sz="1800" b="1" kern="1200">
                          <a:solidFill>
                            <a:schemeClr val="lt1"/>
                          </a:solidFill>
                          <a:latin typeface="MarkForMC Nrw O"/>
                        </a:defRPr>
                      </a:lvl9pPr>
                    </a:lstStyle>
                    <a:p>
                      <a:pPr algn="ctr"/>
                      <a:r>
                        <a:rPr lang="pt-BR" sz="900" b="1" dirty="0">
                          <a:solidFill>
                            <a:schemeClr val="tx1">
                              <a:lumMod val="85000"/>
                              <a:lumOff val="15000"/>
                            </a:schemeClr>
                          </a:solidFill>
                        </a:rPr>
                        <a:t>Project Size</a:t>
                      </a:r>
                    </a:p>
                  </a:txBody>
                  <a:tcPr marL="76200" marR="762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C59A"/>
                    </a:solidFill>
                  </a:tcPr>
                </a:tc>
                <a:tc>
                  <a:txBody>
                    <a:bodyPr/>
                    <a:lstStyle>
                      <a:lvl1pPr marL="0" algn="l" defTabSz="914400" rtl="0" eaLnBrk="1" latinLnBrk="0" hangingPunct="1">
                        <a:defRPr sz="1800" b="1" kern="1200">
                          <a:solidFill>
                            <a:schemeClr val="lt1"/>
                          </a:solidFill>
                          <a:latin typeface="MarkForMC Nrw O"/>
                        </a:defRPr>
                      </a:lvl1pPr>
                      <a:lvl2pPr marL="457200" algn="l" defTabSz="914400" rtl="0" eaLnBrk="1" latinLnBrk="0" hangingPunct="1">
                        <a:defRPr sz="1800" b="1" kern="1200">
                          <a:solidFill>
                            <a:schemeClr val="lt1"/>
                          </a:solidFill>
                          <a:latin typeface="MarkForMC Nrw O"/>
                        </a:defRPr>
                      </a:lvl2pPr>
                      <a:lvl3pPr marL="914400" algn="l" defTabSz="914400" rtl="0" eaLnBrk="1" latinLnBrk="0" hangingPunct="1">
                        <a:defRPr sz="1800" b="1" kern="1200">
                          <a:solidFill>
                            <a:schemeClr val="lt1"/>
                          </a:solidFill>
                          <a:latin typeface="MarkForMC Nrw O"/>
                        </a:defRPr>
                      </a:lvl3pPr>
                      <a:lvl4pPr marL="1371600" algn="l" defTabSz="914400" rtl="0" eaLnBrk="1" latinLnBrk="0" hangingPunct="1">
                        <a:defRPr sz="1800" b="1" kern="1200">
                          <a:solidFill>
                            <a:schemeClr val="lt1"/>
                          </a:solidFill>
                          <a:latin typeface="MarkForMC Nrw O"/>
                        </a:defRPr>
                      </a:lvl4pPr>
                      <a:lvl5pPr marL="1828800" algn="l" defTabSz="914400" rtl="0" eaLnBrk="1" latinLnBrk="0" hangingPunct="1">
                        <a:defRPr sz="1800" b="1" kern="1200">
                          <a:solidFill>
                            <a:schemeClr val="lt1"/>
                          </a:solidFill>
                          <a:latin typeface="MarkForMC Nrw O"/>
                        </a:defRPr>
                      </a:lvl5pPr>
                      <a:lvl6pPr marL="2286000" algn="l" defTabSz="914400" rtl="0" eaLnBrk="1" latinLnBrk="0" hangingPunct="1">
                        <a:defRPr sz="1800" b="1" kern="1200">
                          <a:solidFill>
                            <a:schemeClr val="lt1"/>
                          </a:solidFill>
                          <a:latin typeface="MarkForMC Nrw O"/>
                        </a:defRPr>
                      </a:lvl6pPr>
                      <a:lvl7pPr marL="2743200" algn="l" defTabSz="914400" rtl="0" eaLnBrk="1" latinLnBrk="0" hangingPunct="1">
                        <a:defRPr sz="1800" b="1" kern="1200">
                          <a:solidFill>
                            <a:schemeClr val="lt1"/>
                          </a:solidFill>
                          <a:latin typeface="MarkForMC Nrw O"/>
                        </a:defRPr>
                      </a:lvl7pPr>
                      <a:lvl8pPr marL="3200400" algn="l" defTabSz="914400" rtl="0" eaLnBrk="1" latinLnBrk="0" hangingPunct="1">
                        <a:defRPr sz="1800" b="1" kern="1200">
                          <a:solidFill>
                            <a:schemeClr val="lt1"/>
                          </a:solidFill>
                          <a:latin typeface="MarkForMC Nrw O"/>
                        </a:defRPr>
                      </a:lvl8pPr>
                      <a:lvl9pPr marL="3657600" algn="l" defTabSz="914400" rtl="0" eaLnBrk="1" latinLnBrk="0" hangingPunct="1">
                        <a:defRPr sz="1800" b="1" kern="1200">
                          <a:solidFill>
                            <a:schemeClr val="lt1"/>
                          </a:solidFill>
                          <a:latin typeface="MarkForMC Nrw O"/>
                        </a:defRPr>
                      </a:lvl9pPr>
                    </a:lstStyle>
                    <a:p>
                      <a:pPr algn="ctr"/>
                      <a:r>
                        <a:rPr lang="pt-BR" sz="900" b="1" dirty="0">
                          <a:solidFill>
                            <a:schemeClr val="tx1">
                              <a:lumMod val="85000"/>
                              <a:lumOff val="15000"/>
                            </a:schemeClr>
                          </a:solidFill>
                        </a:rPr>
                        <a:t>Before</a:t>
                      </a:r>
                    </a:p>
                  </a:txBody>
                  <a:tcPr marL="76200" marR="762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C59A"/>
                    </a:solidFill>
                  </a:tcPr>
                </a:tc>
                <a:tc>
                  <a:txBody>
                    <a:bodyPr/>
                    <a:lstStyle>
                      <a:lvl1pPr marL="0" algn="l" defTabSz="914400" rtl="0" eaLnBrk="1" latinLnBrk="0" hangingPunct="1">
                        <a:defRPr sz="1800" b="1" kern="1200">
                          <a:solidFill>
                            <a:schemeClr val="lt1"/>
                          </a:solidFill>
                          <a:latin typeface="MarkForMC Nrw O"/>
                        </a:defRPr>
                      </a:lvl1pPr>
                      <a:lvl2pPr marL="457200" algn="l" defTabSz="914400" rtl="0" eaLnBrk="1" latinLnBrk="0" hangingPunct="1">
                        <a:defRPr sz="1800" b="1" kern="1200">
                          <a:solidFill>
                            <a:schemeClr val="lt1"/>
                          </a:solidFill>
                          <a:latin typeface="MarkForMC Nrw O"/>
                        </a:defRPr>
                      </a:lvl2pPr>
                      <a:lvl3pPr marL="914400" algn="l" defTabSz="914400" rtl="0" eaLnBrk="1" latinLnBrk="0" hangingPunct="1">
                        <a:defRPr sz="1800" b="1" kern="1200">
                          <a:solidFill>
                            <a:schemeClr val="lt1"/>
                          </a:solidFill>
                          <a:latin typeface="MarkForMC Nrw O"/>
                        </a:defRPr>
                      </a:lvl3pPr>
                      <a:lvl4pPr marL="1371600" algn="l" defTabSz="914400" rtl="0" eaLnBrk="1" latinLnBrk="0" hangingPunct="1">
                        <a:defRPr sz="1800" b="1" kern="1200">
                          <a:solidFill>
                            <a:schemeClr val="lt1"/>
                          </a:solidFill>
                          <a:latin typeface="MarkForMC Nrw O"/>
                        </a:defRPr>
                      </a:lvl4pPr>
                      <a:lvl5pPr marL="1828800" algn="l" defTabSz="914400" rtl="0" eaLnBrk="1" latinLnBrk="0" hangingPunct="1">
                        <a:defRPr sz="1800" b="1" kern="1200">
                          <a:solidFill>
                            <a:schemeClr val="lt1"/>
                          </a:solidFill>
                          <a:latin typeface="MarkForMC Nrw O"/>
                        </a:defRPr>
                      </a:lvl5pPr>
                      <a:lvl6pPr marL="2286000" algn="l" defTabSz="914400" rtl="0" eaLnBrk="1" latinLnBrk="0" hangingPunct="1">
                        <a:defRPr sz="1800" b="1" kern="1200">
                          <a:solidFill>
                            <a:schemeClr val="lt1"/>
                          </a:solidFill>
                          <a:latin typeface="MarkForMC Nrw O"/>
                        </a:defRPr>
                      </a:lvl6pPr>
                      <a:lvl7pPr marL="2743200" algn="l" defTabSz="914400" rtl="0" eaLnBrk="1" latinLnBrk="0" hangingPunct="1">
                        <a:defRPr sz="1800" b="1" kern="1200">
                          <a:solidFill>
                            <a:schemeClr val="lt1"/>
                          </a:solidFill>
                          <a:latin typeface="MarkForMC Nrw O"/>
                        </a:defRPr>
                      </a:lvl7pPr>
                      <a:lvl8pPr marL="3200400" algn="l" defTabSz="914400" rtl="0" eaLnBrk="1" latinLnBrk="0" hangingPunct="1">
                        <a:defRPr sz="1800" b="1" kern="1200">
                          <a:solidFill>
                            <a:schemeClr val="lt1"/>
                          </a:solidFill>
                          <a:latin typeface="MarkForMC Nrw O"/>
                        </a:defRPr>
                      </a:lvl8pPr>
                      <a:lvl9pPr marL="3657600" algn="l" defTabSz="914400" rtl="0" eaLnBrk="1" latinLnBrk="0" hangingPunct="1">
                        <a:defRPr sz="1800" b="1" kern="1200">
                          <a:solidFill>
                            <a:schemeClr val="lt1"/>
                          </a:solidFill>
                          <a:latin typeface="MarkForMC Nrw O"/>
                        </a:defRPr>
                      </a:lvl9pPr>
                    </a:lstStyle>
                    <a:p>
                      <a:pPr algn="ctr"/>
                      <a:r>
                        <a:rPr lang="pt-BR" sz="900" b="1" dirty="0">
                          <a:solidFill>
                            <a:schemeClr val="tx1">
                              <a:lumMod val="85000"/>
                              <a:lumOff val="15000"/>
                            </a:schemeClr>
                          </a:solidFill>
                        </a:rPr>
                        <a:t>After</a:t>
                      </a:r>
                    </a:p>
                  </a:txBody>
                  <a:tcPr marL="76200" marR="762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C59A"/>
                    </a:solidFill>
                  </a:tcPr>
                </a:tc>
                <a:tc>
                  <a:txBody>
                    <a:bodyPr/>
                    <a:lstStyle>
                      <a:lvl1pPr marL="0" algn="l" defTabSz="914400" rtl="0" eaLnBrk="1" latinLnBrk="0" hangingPunct="1">
                        <a:defRPr sz="1800" b="1" kern="1200">
                          <a:solidFill>
                            <a:schemeClr val="lt1"/>
                          </a:solidFill>
                          <a:latin typeface="MarkForMC Nrw O"/>
                        </a:defRPr>
                      </a:lvl1pPr>
                      <a:lvl2pPr marL="457200" algn="l" defTabSz="914400" rtl="0" eaLnBrk="1" latinLnBrk="0" hangingPunct="1">
                        <a:defRPr sz="1800" b="1" kern="1200">
                          <a:solidFill>
                            <a:schemeClr val="lt1"/>
                          </a:solidFill>
                          <a:latin typeface="MarkForMC Nrw O"/>
                        </a:defRPr>
                      </a:lvl2pPr>
                      <a:lvl3pPr marL="914400" algn="l" defTabSz="914400" rtl="0" eaLnBrk="1" latinLnBrk="0" hangingPunct="1">
                        <a:defRPr sz="1800" b="1" kern="1200">
                          <a:solidFill>
                            <a:schemeClr val="lt1"/>
                          </a:solidFill>
                          <a:latin typeface="MarkForMC Nrw O"/>
                        </a:defRPr>
                      </a:lvl3pPr>
                      <a:lvl4pPr marL="1371600" algn="l" defTabSz="914400" rtl="0" eaLnBrk="1" latinLnBrk="0" hangingPunct="1">
                        <a:defRPr sz="1800" b="1" kern="1200">
                          <a:solidFill>
                            <a:schemeClr val="lt1"/>
                          </a:solidFill>
                          <a:latin typeface="MarkForMC Nrw O"/>
                        </a:defRPr>
                      </a:lvl4pPr>
                      <a:lvl5pPr marL="1828800" algn="l" defTabSz="914400" rtl="0" eaLnBrk="1" latinLnBrk="0" hangingPunct="1">
                        <a:defRPr sz="1800" b="1" kern="1200">
                          <a:solidFill>
                            <a:schemeClr val="lt1"/>
                          </a:solidFill>
                          <a:latin typeface="MarkForMC Nrw O"/>
                        </a:defRPr>
                      </a:lvl5pPr>
                      <a:lvl6pPr marL="2286000" algn="l" defTabSz="914400" rtl="0" eaLnBrk="1" latinLnBrk="0" hangingPunct="1">
                        <a:defRPr sz="1800" b="1" kern="1200">
                          <a:solidFill>
                            <a:schemeClr val="lt1"/>
                          </a:solidFill>
                          <a:latin typeface="MarkForMC Nrw O"/>
                        </a:defRPr>
                      </a:lvl6pPr>
                      <a:lvl7pPr marL="2743200" algn="l" defTabSz="914400" rtl="0" eaLnBrk="1" latinLnBrk="0" hangingPunct="1">
                        <a:defRPr sz="1800" b="1" kern="1200">
                          <a:solidFill>
                            <a:schemeClr val="lt1"/>
                          </a:solidFill>
                          <a:latin typeface="MarkForMC Nrw O"/>
                        </a:defRPr>
                      </a:lvl7pPr>
                      <a:lvl8pPr marL="3200400" algn="l" defTabSz="914400" rtl="0" eaLnBrk="1" latinLnBrk="0" hangingPunct="1">
                        <a:defRPr sz="1800" b="1" kern="1200">
                          <a:solidFill>
                            <a:schemeClr val="lt1"/>
                          </a:solidFill>
                          <a:latin typeface="MarkForMC Nrw O"/>
                        </a:defRPr>
                      </a:lvl8pPr>
                      <a:lvl9pPr marL="3657600" algn="l" defTabSz="914400" rtl="0" eaLnBrk="1" latinLnBrk="0" hangingPunct="1">
                        <a:defRPr sz="1800" b="1" kern="1200">
                          <a:solidFill>
                            <a:schemeClr val="lt1"/>
                          </a:solidFill>
                          <a:latin typeface="MarkForMC Nrw O"/>
                        </a:defRPr>
                      </a:lvl9pPr>
                    </a:lstStyle>
                    <a:p>
                      <a:pPr algn="ctr"/>
                      <a:r>
                        <a:rPr lang="pt-BR" sz="900" dirty="0">
                          <a:solidFill>
                            <a:schemeClr val="tx1">
                              <a:lumMod val="85000"/>
                              <a:lumOff val="15000"/>
                            </a:schemeClr>
                          </a:solidFill>
                        </a:rPr>
                        <a:t>Time Saved</a:t>
                      </a:r>
                    </a:p>
                  </a:txBody>
                  <a:tcPr marL="76200" marR="762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C59A"/>
                    </a:solidFill>
                  </a:tcPr>
                </a:tc>
                <a:extLst>
                  <a:ext uri="{0D108BD9-81ED-4DB2-BD59-A6C34878D82A}">
                    <a16:rowId xmlns:a16="http://schemas.microsoft.com/office/drawing/2014/main" val="360016467"/>
                  </a:ext>
                </a:extLst>
              </a:tr>
              <a:tr h="522145">
                <a:tc>
                  <a:txBody>
                    <a:bodyPr/>
                    <a:lstStyle>
                      <a:lvl1pPr marL="0" algn="l" defTabSz="914400" rtl="0" eaLnBrk="1" latinLnBrk="0" hangingPunct="1">
                        <a:defRPr sz="1800" kern="1200">
                          <a:solidFill>
                            <a:schemeClr val="dk1"/>
                          </a:solidFill>
                          <a:latin typeface="MarkForMC Nrw O"/>
                        </a:defRPr>
                      </a:lvl1pPr>
                      <a:lvl2pPr marL="457200" algn="l" defTabSz="914400" rtl="0" eaLnBrk="1" latinLnBrk="0" hangingPunct="1">
                        <a:defRPr sz="1800" kern="1200">
                          <a:solidFill>
                            <a:schemeClr val="dk1"/>
                          </a:solidFill>
                          <a:latin typeface="MarkForMC Nrw O"/>
                        </a:defRPr>
                      </a:lvl2pPr>
                      <a:lvl3pPr marL="914400" algn="l" defTabSz="914400" rtl="0" eaLnBrk="1" latinLnBrk="0" hangingPunct="1">
                        <a:defRPr sz="1800" kern="1200">
                          <a:solidFill>
                            <a:schemeClr val="dk1"/>
                          </a:solidFill>
                          <a:latin typeface="MarkForMC Nrw O"/>
                        </a:defRPr>
                      </a:lvl3pPr>
                      <a:lvl4pPr marL="1371600" algn="l" defTabSz="914400" rtl="0" eaLnBrk="1" latinLnBrk="0" hangingPunct="1">
                        <a:defRPr sz="1800" kern="1200">
                          <a:solidFill>
                            <a:schemeClr val="dk1"/>
                          </a:solidFill>
                          <a:latin typeface="MarkForMC Nrw O"/>
                        </a:defRPr>
                      </a:lvl4pPr>
                      <a:lvl5pPr marL="1828800" algn="l" defTabSz="914400" rtl="0" eaLnBrk="1" latinLnBrk="0" hangingPunct="1">
                        <a:defRPr sz="1800" kern="1200">
                          <a:solidFill>
                            <a:schemeClr val="dk1"/>
                          </a:solidFill>
                          <a:latin typeface="MarkForMC Nrw O"/>
                        </a:defRPr>
                      </a:lvl5pPr>
                      <a:lvl6pPr marL="2286000" algn="l" defTabSz="914400" rtl="0" eaLnBrk="1" latinLnBrk="0" hangingPunct="1">
                        <a:defRPr sz="1800" kern="1200">
                          <a:solidFill>
                            <a:schemeClr val="dk1"/>
                          </a:solidFill>
                          <a:latin typeface="MarkForMC Nrw O"/>
                        </a:defRPr>
                      </a:lvl6pPr>
                      <a:lvl7pPr marL="2743200" algn="l" defTabSz="914400" rtl="0" eaLnBrk="1" latinLnBrk="0" hangingPunct="1">
                        <a:defRPr sz="1800" kern="1200">
                          <a:solidFill>
                            <a:schemeClr val="dk1"/>
                          </a:solidFill>
                          <a:latin typeface="MarkForMC Nrw O"/>
                        </a:defRPr>
                      </a:lvl7pPr>
                      <a:lvl8pPr marL="3200400" algn="l" defTabSz="914400" rtl="0" eaLnBrk="1" latinLnBrk="0" hangingPunct="1">
                        <a:defRPr sz="1800" kern="1200">
                          <a:solidFill>
                            <a:schemeClr val="dk1"/>
                          </a:solidFill>
                          <a:latin typeface="MarkForMC Nrw O"/>
                        </a:defRPr>
                      </a:lvl8pPr>
                      <a:lvl9pPr marL="3657600" algn="l" defTabSz="914400" rtl="0" eaLnBrk="1" latinLnBrk="0" hangingPunct="1">
                        <a:defRPr sz="1800" kern="1200">
                          <a:solidFill>
                            <a:schemeClr val="dk1"/>
                          </a:solidFill>
                          <a:latin typeface="MarkForMC Nrw O"/>
                        </a:defRPr>
                      </a:lvl9pPr>
                    </a:lstStyle>
                    <a:p>
                      <a:pPr algn="ctr" fontAlgn="ctr">
                        <a:buNone/>
                      </a:pPr>
                      <a:r>
                        <a:rPr lang="pt-BR" sz="900" b="0" i="0" u="none" strike="noStrike" dirty="0">
                          <a:solidFill>
                            <a:srgbClr val="000000"/>
                          </a:solidFill>
                          <a:effectLst/>
                          <a:latin typeface="+mn-lt"/>
                        </a:rPr>
                        <a:t>5 peers</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MarkForMC Nrw O"/>
                        </a:defRPr>
                      </a:lvl1pPr>
                      <a:lvl2pPr marL="457200" algn="l" defTabSz="914400" rtl="0" eaLnBrk="1" latinLnBrk="0" hangingPunct="1">
                        <a:defRPr sz="1800" kern="1200">
                          <a:solidFill>
                            <a:schemeClr val="dk1"/>
                          </a:solidFill>
                          <a:latin typeface="MarkForMC Nrw O"/>
                        </a:defRPr>
                      </a:lvl2pPr>
                      <a:lvl3pPr marL="914400" algn="l" defTabSz="914400" rtl="0" eaLnBrk="1" latinLnBrk="0" hangingPunct="1">
                        <a:defRPr sz="1800" kern="1200">
                          <a:solidFill>
                            <a:schemeClr val="dk1"/>
                          </a:solidFill>
                          <a:latin typeface="MarkForMC Nrw O"/>
                        </a:defRPr>
                      </a:lvl3pPr>
                      <a:lvl4pPr marL="1371600" algn="l" defTabSz="914400" rtl="0" eaLnBrk="1" latinLnBrk="0" hangingPunct="1">
                        <a:defRPr sz="1800" kern="1200">
                          <a:solidFill>
                            <a:schemeClr val="dk1"/>
                          </a:solidFill>
                          <a:latin typeface="MarkForMC Nrw O"/>
                        </a:defRPr>
                      </a:lvl4pPr>
                      <a:lvl5pPr marL="1828800" algn="l" defTabSz="914400" rtl="0" eaLnBrk="1" latinLnBrk="0" hangingPunct="1">
                        <a:defRPr sz="1800" kern="1200">
                          <a:solidFill>
                            <a:schemeClr val="dk1"/>
                          </a:solidFill>
                          <a:latin typeface="MarkForMC Nrw O"/>
                        </a:defRPr>
                      </a:lvl5pPr>
                      <a:lvl6pPr marL="2286000" algn="l" defTabSz="914400" rtl="0" eaLnBrk="1" latinLnBrk="0" hangingPunct="1">
                        <a:defRPr sz="1800" kern="1200">
                          <a:solidFill>
                            <a:schemeClr val="dk1"/>
                          </a:solidFill>
                          <a:latin typeface="MarkForMC Nrw O"/>
                        </a:defRPr>
                      </a:lvl6pPr>
                      <a:lvl7pPr marL="2743200" algn="l" defTabSz="914400" rtl="0" eaLnBrk="1" latinLnBrk="0" hangingPunct="1">
                        <a:defRPr sz="1800" kern="1200">
                          <a:solidFill>
                            <a:schemeClr val="dk1"/>
                          </a:solidFill>
                          <a:latin typeface="MarkForMC Nrw O"/>
                        </a:defRPr>
                      </a:lvl7pPr>
                      <a:lvl8pPr marL="3200400" algn="l" defTabSz="914400" rtl="0" eaLnBrk="1" latinLnBrk="0" hangingPunct="1">
                        <a:defRPr sz="1800" kern="1200">
                          <a:solidFill>
                            <a:schemeClr val="dk1"/>
                          </a:solidFill>
                          <a:latin typeface="MarkForMC Nrw O"/>
                        </a:defRPr>
                      </a:lvl8pPr>
                      <a:lvl9pPr marL="3657600" algn="l" defTabSz="914400" rtl="0" eaLnBrk="1" latinLnBrk="0" hangingPunct="1">
                        <a:defRPr sz="1800" kern="1200">
                          <a:solidFill>
                            <a:schemeClr val="dk1"/>
                          </a:solidFill>
                          <a:latin typeface="MarkForMC Nrw O"/>
                        </a:defRPr>
                      </a:lvl9pPr>
                    </a:lstStyle>
                    <a:p>
                      <a:pPr marL="0" algn="ctr" defTabSz="914354" rtl="0" eaLnBrk="1" fontAlgn="ctr" latinLnBrk="0" hangingPunct="1">
                        <a:buNone/>
                      </a:pPr>
                      <a:r>
                        <a:rPr lang="en-US" sz="900" b="0" i="0" u="none" strike="noStrike" kern="1200" dirty="0">
                          <a:solidFill>
                            <a:srgbClr val="000000"/>
                          </a:solidFill>
                          <a:effectLst/>
                          <a:latin typeface="+mn-lt"/>
                          <a:ea typeface="+mn-ea"/>
                          <a:cs typeface="+mn-cs"/>
                        </a:rPr>
                        <a:t>30 days</a:t>
                      </a:r>
                    </a:p>
                  </a:txBody>
                  <a:tcPr marL="76200" marR="762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MarkForMC Nrw O"/>
                        </a:defRPr>
                      </a:lvl1pPr>
                      <a:lvl2pPr marL="457200" algn="l" defTabSz="914400" rtl="0" eaLnBrk="1" latinLnBrk="0" hangingPunct="1">
                        <a:defRPr sz="1800" kern="1200">
                          <a:solidFill>
                            <a:schemeClr val="dk1"/>
                          </a:solidFill>
                          <a:latin typeface="MarkForMC Nrw O"/>
                        </a:defRPr>
                      </a:lvl2pPr>
                      <a:lvl3pPr marL="914400" algn="l" defTabSz="914400" rtl="0" eaLnBrk="1" latinLnBrk="0" hangingPunct="1">
                        <a:defRPr sz="1800" kern="1200">
                          <a:solidFill>
                            <a:schemeClr val="dk1"/>
                          </a:solidFill>
                          <a:latin typeface="MarkForMC Nrw O"/>
                        </a:defRPr>
                      </a:lvl3pPr>
                      <a:lvl4pPr marL="1371600" algn="l" defTabSz="914400" rtl="0" eaLnBrk="1" latinLnBrk="0" hangingPunct="1">
                        <a:defRPr sz="1800" kern="1200">
                          <a:solidFill>
                            <a:schemeClr val="dk1"/>
                          </a:solidFill>
                          <a:latin typeface="MarkForMC Nrw O"/>
                        </a:defRPr>
                      </a:lvl4pPr>
                      <a:lvl5pPr marL="1828800" algn="l" defTabSz="914400" rtl="0" eaLnBrk="1" latinLnBrk="0" hangingPunct="1">
                        <a:defRPr sz="1800" kern="1200">
                          <a:solidFill>
                            <a:schemeClr val="dk1"/>
                          </a:solidFill>
                          <a:latin typeface="MarkForMC Nrw O"/>
                        </a:defRPr>
                      </a:lvl5pPr>
                      <a:lvl6pPr marL="2286000" algn="l" defTabSz="914400" rtl="0" eaLnBrk="1" latinLnBrk="0" hangingPunct="1">
                        <a:defRPr sz="1800" kern="1200">
                          <a:solidFill>
                            <a:schemeClr val="dk1"/>
                          </a:solidFill>
                          <a:latin typeface="MarkForMC Nrw O"/>
                        </a:defRPr>
                      </a:lvl6pPr>
                      <a:lvl7pPr marL="2743200" algn="l" defTabSz="914400" rtl="0" eaLnBrk="1" latinLnBrk="0" hangingPunct="1">
                        <a:defRPr sz="1800" kern="1200">
                          <a:solidFill>
                            <a:schemeClr val="dk1"/>
                          </a:solidFill>
                          <a:latin typeface="MarkForMC Nrw O"/>
                        </a:defRPr>
                      </a:lvl7pPr>
                      <a:lvl8pPr marL="3200400" algn="l" defTabSz="914400" rtl="0" eaLnBrk="1" latinLnBrk="0" hangingPunct="1">
                        <a:defRPr sz="1800" kern="1200">
                          <a:solidFill>
                            <a:schemeClr val="dk1"/>
                          </a:solidFill>
                          <a:latin typeface="MarkForMC Nrw O"/>
                        </a:defRPr>
                      </a:lvl8pPr>
                      <a:lvl9pPr marL="3657600" algn="l" defTabSz="914400" rtl="0" eaLnBrk="1" latinLnBrk="0" hangingPunct="1">
                        <a:defRPr sz="1800" kern="1200">
                          <a:solidFill>
                            <a:schemeClr val="dk1"/>
                          </a:solidFill>
                          <a:latin typeface="MarkForMC Nrw O"/>
                        </a:defRPr>
                      </a:lvl9pPr>
                    </a:lstStyle>
                    <a:p>
                      <a:pPr marL="0" algn="ctr" defTabSz="914354" rtl="0" eaLnBrk="1" fontAlgn="ctr" latinLnBrk="0" hangingPunct="1">
                        <a:buNone/>
                      </a:pPr>
                      <a:r>
                        <a:rPr lang="en-US" sz="900" b="0" i="0" u="none" strike="noStrike" kern="1200" dirty="0">
                          <a:solidFill>
                            <a:srgbClr val="000000"/>
                          </a:solidFill>
                          <a:effectLst/>
                          <a:latin typeface="+mn-lt"/>
                          <a:ea typeface="+mn-ea"/>
                          <a:cs typeface="+mn-cs"/>
                        </a:rPr>
                        <a:t>7.5 days</a:t>
                      </a:r>
                    </a:p>
                  </a:txBody>
                  <a:tcPr marL="76200" marR="762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MarkForMC Nrw O"/>
                        </a:defRPr>
                      </a:lvl1pPr>
                      <a:lvl2pPr marL="457200" algn="l" defTabSz="914400" rtl="0" eaLnBrk="1" latinLnBrk="0" hangingPunct="1">
                        <a:defRPr sz="1800" kern="1200">
                          <a:solidFill>
                            <a:schemeClr val="dk1"/>
                          </a:solidFill>
                          <a:latin typeface="MarkForMC Nrw O"/>
                        </a:defRPr>
                      </a:lvl2pPr>
                      <a:lvl3pPr marL="914400" algn="l" defTabSz="914400" rtl="0" eaLnBrk="1" latinLnBrk="0" hangingPunct="1">
                        <a:defRPr sz="1800" kern="1200">
                          <a:solidFill>
                            <a:schemeClr val="dk1"/>
                          </a:solidFill>
                          <a:latin typeface="MarkForMC Nrw O"/>
                        </a:defRPr>
                      </a:lvl3pPr>
                      <a:lvl4pPr marL="1371600" algn="l" defTabSz="914400" rtl="0" eaLnBrk="1" latinLnBrk="0" hangingPunct="1">
                        <a:defRPr sz="1800" kern="1200">
                          <a:solidFill>
                            <a:schemeClr val="dk1"/>
                          </a:solidFill>
                          <a:latin typeface="MarkForMC Nrw O"/>
                        </a:defRPr>
                      </a:lvl4pPr>
                      <a:lvl5pPr marL="1828800" algn="l" defTabSz="914400" rtl="0" eaLnBrk="1" latinLnBrk="0" hangingPunct="1">
                        <a:defRPr sz="1800" kern="1200">
                          <a:solidFill>
                            <a:schemeClr val="dk1"/>
                          </a:solidFill>
                          <a:latin typeface="MarkForMC Nrw O"/>
                        </a:defRPr>
                      </a:lvl5pPr>
                      <a:lvl6pPr marL="2286000" algn="l" defTabSz="914400" rtl="0" eaLnBrk="1" latinLnBrk="0" hangingPunct="1">
                        <a:defRPr sz="1800" kern="1200">
                          <a:solidFill>
                            <a:schemeClr val="dk1"/>
                          </a:solidFill>
                          <a:latin typeface="MarkForMC Nrw O"/>
                        </a:defRPr>
                      </a:lvl6pPr>
                      <a:lvl7pPr marL="2743200" algn="l" defTabSz="914400" rtl="0" eaLnBrk="1" latinLnBrk="0" hangingPunct="1">
                        <a:defRPr sz="1800" kern="1200">
                          <a:solidFill>
                            <a:schemeClr val="dk1"/>
                          </a:solidFill>
                          <a:latin typeface="MarkForMC Nrw O"/>
                        </a:defRPr>
                      </a:lvl7pPr>
                      <a:lvl8pPr marL="3200400" algn="l" defTabSz="914400" rtl="0" eaLnBrk="1" latinLnBrk="0" hangingPunct="1">
                        <a:defRPr sz="1800" kern="1200">
                          <a:solidFill>
                            <a:schemeClr val="dk1"/>
                          </a:solidFill>
                          <a:latin typeface="MarkForMC Nrw O"/>
                        </a:defRPr>
                      </a:lvl8pPr>
                      <a:lvl9pPr marL="3657600" algn="l" defTabSz="914400" rtl="0" eaLnBrk="1" latinLnBrk="0" hangingPunct="1">
                        <a:defRPr sz="1800" kern="1200">
                          <a:solidFill>
                            <a:schemeClr val="dk1"/>
                          </a:solidFill>
                          <a:latin typeface="MarkForMC Nrw O"/>
                        </a:defRPr>
                      </a:lvl9pPr>
                    </a:lstStyle>
                    <a:p>
                      <a:pPr marL="0" algn="ctr" defTabSz="914354" rtl="0" eaLnBrk="1" fontAlgn="ctr" latinLnBrk="0" hangingPunct="1">
                        <a:buNone/>
                      </a:pPr>
                      <a:r>
                        <a:rPr lang="en-US" sz="900" b="0" i="0" u="none" strike="noStrike" kern="1200" dirty="0">
                          <a:solidFill>
                            <a:srgbClr val="000000"/>
                          </a:solidFill>
                          <a:effectLst/>
                          <a:latin typeface="+mn-lt"/>
                          <a:ea typeface="+mn-ea"/>
                          <a:cs typeface="+mn-cs"/>
                        </a:rPr>
                        <a:t>22.5 days</a:t>
                      </a:r>
                    </a:p>
                  </a:txBody>
                  <a:tcPr marL="76200" marR="762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190241156"/>
                  </a:ext>
                </a:extLst>
              </a:tr>
              <a:tr h="522145">
                <a:tc>
                  <a:txBody>
                    <a:bodyPr/>
                    <a:lstStyle>
                      <a:lvl1pPr marL="0" algn="l" defTabSz="914400" rtl="0" eaLnBrk="1" latinLnBrk="0" hangingPunct="1">
                        <a:defRPr sz="1800" kern="1200">
                          <a:solidFill>
                            <a:schemeClr val="dk1"/>
                          </a:solidFill>
                          <a:latin typeface="MarkForMC Nrw O"/>
                        </a:defRPr>
                      </a:lvl1pPr>
                      <a:lvl2pPr marL="457200" algn="l" defTabSz="914400" rtl="0" eaLnBrk="1" latinLnBrk="0" hangingPunct="1">
                        <a:defRPr sz="1800" kern="1200">
                          <a:solidFill>
                            <a:schemeClr val="dk1"/>
                          </a:solidFill>
                          <a:latin typeface="MarkForMC Nrw O"/>
                        </a:defRPr>
                      </a:lvl2pPr>
                      <a:lvl3pPr marL="914400" algn="l" defTabSz="914400" rtl="0" eaLnBrk="1" latinLnBrk="0" hangingPunct="1">
                        <a:defRPr sz="1800" kern="1200">
                          <a:solidFill>
                            <a:schemeClr val="dk1"/>
                          </a:solidFill>
                          <a:latin typeface="MarkForMC Nrw O"/>
                        </a:defRPr>
                      </a:lvl3pPr>
                      <a:lvl4pPr marL="1371600" algn="l" defTabSz="914400" rtl="0" eaLnBrk="1" latinLnBrk="0" hangingPunct="1">
                        <a:defRPr sz="1800" kern="1200">
                          <a:solidFill>
                            <a:schemeClr val="dk1"/>
                          </a:solidFill>
                          <a:latin typeface="MarkForMC Nrw O"/>
                        </a:defRPr>
                      </a:lvl4pPr>
                      <a:lvl5pPr marL="1828800" algn="l" defTabSz="914400" rtl="0" eaLnBrk="1" latinLnBrk="0" hangingPunct="1">
                        <a:defRPr sz="1800" kern="1200">
                          <a:solidFill>
                            <a:schemeClr val="dk1"/>
                          </a:solidFill>
                          <a:latin typeface="MarkForMC Nrw O"/>
                        </a:defRPr>
                      </a:lvl5pPr>
                      <a:lvl6pPr marL="2286000" algn="l" defTabSz="914400" rtl="0" eaLnBrk="1" latinLnBrk="0" hangingPunct="1">
                        <a:defRPr sz="1800" kern="1200">
                          <a:solidFill>
                            <a:schemeClr val="dk1"/>
                          </a:solidFill>
                          <a:latin typeface="MarkForMC Nrw O"/>
                        </a:defRPr>
                      </a:lvl6pPr>
                      <a:lvl7pPr marL="2743200" algn="l" defTabSz="914400" rtl="0" eaLnBrk="1" latinLnBrk="0" hangingPunct="1">
                        <a:defRPr sz="1800" kern="1200">
                          <a:solidFill>
                            <a:schemeClr val="dk1"/>
                          </a:solidFill>
                          <a:latin typeface="MarkForMC Nrw O"/>
                        </a:defRPr>
                      </a:lvl7pPr>
                      <a:lvl8pPr marL="3200400" algn="l" defTabSz="914400" rtl="0" eaLnBrk="1" latinLnBrk="0" hangingPunct="1">
                        <a:defRPr sz="1800" kern="1200">
                          <a:solidFill>
                            <a:schemeClr val="dk1"/>
                          </a:solidFill>
                          <a:latin typeface="MarkForMC Nrw O"/>
                        </a:defRPr>
                      </a:lvl8pPr>
                      <a:lvl9pPr marL="3657600" algn="l" defTabSz="914400" rtl="0" eaLnBrk="1" latinLnBrk="0" hangingPunct="1">
                        <a:defRPr sz="1800" kern="1200">
                          <a:solidFill>
                            <a:schemeClr val="dk1"/>
                          </a:solidFill>
                          <a:latin typeface="MarkForMC Nrw O"/>
                        </a:defRPr>
                      </a:lvl9pPr>
                    </a:lstStyle>
                    <a:p>
                      <a:pPr algn="ctr" fontAlgn="ctr">
                        <a:buNone/>
                      </a:pPr>
                      <a:r>
                        <a:rPr lang="pt-BR" sz="900" b="0" i="0" u="none" strike="noStrike">
                          <a:solidFill>
                            <a:srgbClr val="000000"/>
                          </a:solidFill>
                          <a:effectLst/>
                          <a:latin typeface="+mn-lt"/>
                        </a:rPr>
                        <a:t>6 peers</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EFEFE"/>
                    </a:solidFill>
                  </a:tcPr>
                </a:tc>
                <a:tc>
                  <a:txBody>
                    <a:bodyPr/>
                    <a:lstStyle>
                      <a:lvl1pPr marL="0" algn="l" defTabSz="914400" rtl="0" eaLnBrk="1" latinLnBrk="0" hangingPunct="1">
                        <a:defRPr sz="1800" kern="1200">
                          <a:solidFill>
                            <a:schemeClr val="dk1"/>
                          </a:solidFill>
                          <a:latin typeface="MarkForMC Nrw O"/>
                        </a:defRPr>
                      </a:lvl1pPr>
                      <a:lvl2pPr marL="457200" algn="l" defTabSz="914400" rtl="0" eaLnBrk="1" latinLnBrk="0" hangingPunct="1">
                        <a:defRPr sz="1800" kern="1200">
                          <a:solidFill>
                            <a:schemeClr val="dk1"/>
                          </a:solidFill>
                          <a:latin typeface="MarkForMC Nrw O"/>
                        </a:defRPr>
                      </a:lvl2pPr>
                      <a:lvl3pPr marL="914400" algn="l" defTabSz="914400" rtl="0" eaLnBrk="1" latinLnBrk="0" hangingPunct="1">
                        <a:defRPr sz="1800" kern="1200">
                          <a:solidFill>
                            <a:schemeClr val="dk1"/>
                          </a:solidFill>
                          <a:latin typeface="MarkForMC Nrw O"/>
                        </a:defRPr>
                      </a:lvl3pPr>
                      <a:lvl4pPr marL="1371600" algn="l" defTabSz="914400" rtl="0" eaLnBrk="1" latinLnBrk="0" hangingPunct="1">
                        <a:defRPr sz="1800" kern="1200">
                          <a:solidFill>
                            <a:schemeClr val="dk1"/>
                          </a:solidFill>
                          <a:latin typeface="MarkForMC Nrw O"/>
                        </a:defRPr>
                      </a:lvl4pPr>
                      <a:lvl5pPr marL="1828800" algn="l" defTabSz="914400" rtl="0" eaLnBrk="1" latinLnBrk="0" hangingPunct="1">
                        <a:defRPr sz="1800" kern="1200">
                          <a:solidFill>
                            <a:schemeClr val="dk1"/>
                          </a:solidFill>
                          <a:latin typeface="MarkForMC Nrw O"/>
                        </a:defRPr>
                      </a:lvl5pPr>
                      <a:lvl6pPr marL="2286000" algn="l" defTabSz="914400" rtl="0" eaLnBrk="1" latinLnBrk="0" hangingPunct="1">
                        <a:defRPr sz="1800" kern="1200">
                          <a:solidFill>
                            <a:schemeClr val="dk1"/>
                          </a:solidFill>
                          <a:latin typeface="MarkForMC Nrw O"/>
                        </a:defRPr>
                      </a:lvl6pPr>
                      <a:lvl7pPr marL="2743200" algn="l" defTabSz="914400" rtl="0" eaLnBrk="1" latinLnBrk="0" hangingPunct="1">
                        <a:defRPr sz="1800" kern="1200">
                          <a:solidFill>
                            <a:schemeClr val="dk1"/>
                          </a:solidFill>
                          <a:latin typeface="MarkForMC Nrw O"/>
                        </a:defRPr>
                      </a:lvl7pPr>
                      <a:lvl8pPr marL="3200400" algn="l" defTabSz="914400" rtl="0" eaLnBrk="1" latinLnBrk="0" hangingPunct="1">
                        <a:defRPr sz="1800" kern="1200">
                          <a:solidFill>
                            <a:schemeClr val="dk1"/>
                          </a:solidFill>
                          <a:latin typeface="MarkForMC Nrw O"/>
                        </a:defRPr>
                      </a:lvl8pPr>
                      <a:lvl9pPr marL="3657600" algn="l" defTabSz="914400" rtl="0" eaLnBrk="1" latinLnBrk="0" hangingPunct="1">
                        <a:defRPr sz="1800" kern="1200">
                          <a:solidFill>
                            <a:schemeClr val="dk1"/>
                          </a:solidFill>
                          <a:latin typeface="MarkForMC Nrw O"/>
                        </a:defRPr>
                      </a:lvl9pPr>
                    </a:lstStyle>
                    <a:p>
                      <a:pPr marL="0" algn="ctr" defTabSz="914354" rtl="0" eaLnBrk="1" fontAlgn="ctr" latinLnBrk="0" hangingPunct="1">
                        <a:buNone/>
                      </a:pPr>
                      <a:r>
                        <a:rPr lang="en-US" sz="900" b="0" i="0" u="none" strike="noStrike" kern="1200">
                          <a:solidFill>
                            <a:srgbClr val="000000"/>
                          </a:solidFill>
                          <a:effectLst/>
                          <a:latin typeface="+mn-lt"/>
                          <a:ea typeface="+mn-ea"/>
                          <a:cs typeface="+mn-cs"/>
                        </a:rPr>
                        <a:t>36 days</a:t>
                      </a:r>
                    </a:p>
                  </a:txBody>
                  <a:tcPr marL="76200" marR="762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EFEFE"/>
                    </a:solidFill>
                  </a:tcPr>
                </a:tc>
                <a:tc>
                  <a:txBody>
                    <a:bodyPr/>
                    <a:lstStyle>
                      <a:lvl1pPr marL="0" algn="l" defTabSz="914400" rtl="0" eaLnBrk="1" latinLnBrk="0" hangingPunct="1">
                        <a:defRPr sz="1800" kern="1200">
                          <a:solidFill>
                            <a:schemeClr val="dk1"/>
                          </a:solidFill>
                          <a:latin typeface="MarkForMC Nrw O"/>
                        </a:defRPr>
                      </a:lvl1pPr>
                      <a:lvl2pPr marL="457200" algn="l" defTabSz="914400" rtl="0" eaLnBrk="1" latinLnBrk="0" hangingPunct="1">
                        <a:defRPr sz="1800" kern="1200">
                          <a:solidFill>
                            <a:schemeClr val="dk1"/>
                          </a:solidFill>
                          <a:latin typeface="MarkForMC Nrw O"/>
                        </a:defRPr>
                      </a:lvl2pPr>
                      <a:lvl3pPr marL="914400" algn="l" defTabSz="914400" rtl="0" eaLnBrk="1" latinLnBrk="0" hangingPunct="1">
                        <a:defRPr sz="1800" kern="1200">
                          <a:solidFill>
                            <a:schemeClr val="dk1"/>
                          </a:solidFill>
                          <a:latin typeface="MarkForMC Nrw O"/>
                        </a:defRPr>
                      </a:lvl3pPr>
                      <a:lvl4pPr marL="1371600" algn="l" defTabSz="914400" rtl="0" eaLnBrk="1" latinLnBrk="0" hangingPunct="1">
                        <a:defRPr sz="1800" kern="1200">
                          <a:solidFill>
                            <a:schemeClr val="dk1"/>
                          </a:solidFill>
                          <a:latin typeface="MarkForMC Nrw O"/>
                        </a:defRPr>
                      </a:lvl4pPr>
                      <a:lvl5pPr marL="1828800" algn="l" defTabSz="914400" rtl="0" eaLnBrk="1" latinLnBrk="0" hangingPunct="1">
                        <a:defRPr sz="1800" kern="1200">
                          <a:solidFill>
                            <a:schemeClr val="dk1"/>
                          </a:solidFill>
                          <a:latin typeface="MarkForMC Nrw O"/>
                        </a:defRPr>
                      </a:lvl5pPr>
                      <a:lvl6pPr marL="2286000" algn="l" defTabSz="914400" rtl="0" eaLnBrk="1" latinLnBrk="0" hangingPunct="1">
                        <a:defRPr sz="1800" kern="1200">
                          <a:solidFill>
                            <a:schemeClr val="dk1"/>
                          </a:solidFill>
                          <a:latin typeface="MarkForMC Nrw O"/>
                        </a:defRPr>
                      </a:lvl6pPr>
                      <a:lvl7pPr marL="2743200" algn="l" defTabSz="914400" rtl="0" eaLnBrk="1" latinLnBrk="0" hangingPunct="1">
                        <a:defRPr sz="1800" kern="1200">
                          <a:solidFill>
                            <a:schemeClr val="dk1"/>
                          </a:solidFill>
                          <a:latin typeface="MarkForMC Nrw O"/>
                        </a:defRPr>
                      </a:lvl7pPr>
                      <a:lvl8pPr marL="3200400" algn="l" defTabSz="914400" rtl="0" eaLnBrk="1" latinLnBrk="0" hangingPunct="1">
                        <a:defRPr sz="1800" kern="1200">
                          <a:solidFill>
                            <a:schemeClr val="dk1"/>
                          </a:solidFill>
                          <a:latin typeface="MarkForMC Nrw O"/>
                        </a:defRPr>
                      </a:lvl8pPr>
                      <a:lvl9pPr marL="3657600" algn="l" defTabSz="914400" rtl="0" eaLnBrk="1" latinLnBrk="0" hangingPunct="1">
                        <a:defRPr sz="1800" kern="1200">
                          <a:solidFill>
                            <a:schemeClr val="dk1"/>
                          </a:solidFill>
                          <a:latin typeface="MarkForMC Nrw O"/>
                        </a:defRPr>
                      </a:lvl9pPr>
                    </a:lstStyle>
                    <a:p>
                      <a:pPr marL="0" algn="ctr" defTabSz="914354" rtl="0" eaLnBrk="1" fontAlgn="ctr" latinLnBrk="0" hangingPunct="1">
                        <a:buNone/>
                      </a:pPr>
                      <a:r>
                        <a:rPr lang="en-US" sz="900" b="0" i="0" u="none" strike="noStrike" kern="1200" dirty="0">
                          <a:solidFill>
                            <a:srgbClr val="000000"/>
                          </a:solidFill>
                          <a:effectLst/>
                          <a:latin typeface="+mn-lt"/>
                          <a:ea typeface="+mn-ea"/>
                          <a:cs typeface="+mn-cs"/>
                        </a:rPr>
                        <a:t>9 days</a:t>
                      </a:r>
                    </a:p>
                  </a:txBody>
                  <a:tcPr marL="76200" marR="762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EFEFE"/>
                    </a:solidFill>
                  </a:tcPr>
                </a:tc>
                <a:tc>
                  <a:txBody>
                    <a:bodyPr/>
                    <a:lstStyle>
                      <a:lvl1pPr marL="0" algn="l" defTabSz="914400" rtl="0" eaLnBrk="1" latinLnBrk="0" hangingPunct="1">
                        <a:defRPr sz="1800" kern="1200">
                          <a:solidFill>
                            <a:schemeClr val="dk1"/>
                          </a:solidFill>
                          <a:latin typeface="MarkForMC Nrw O"/>
                        </a:defRPr>
                      </a:lvl1pPr>
                      <a:lvl2pPr marL="457200" algn="l" defTabSz="914400" rtl="0" eaLnBrk="1" latinLnBrk="0" hangingPunct="1">
                        <a:defRPr sz="1800" kern="1200">
                          <a:solidFill>
                            <a:schemeClr val="dk1"/>
                          </a:solidFill>
                          <a:latin typeface="MarkForMC Nrw O"/>
                        </a:defRPr>
                      </a:lvl2pPr>
                      <a:lvl3pPr marL="914400" algn="l" defTabSz="914400" rtl="0" eaLnBrk="1" latinLnBrk="0" hangingPunct="1">
                        <a:defRPr sz="1800" kern="1200">
                          <a:solidFill>
                            <a:schemeClr val="dk1"/>
                          </a:solidFill>
                          <a:latin typeface="MarkForMC Nrw O"/>
                        </a:defRPr>
                      </a:lvl3pPr>
                      <a:lvl4pPr marL="1371600" algn="l" defTabSz="914400" rtl="0" eaLnBrk="1" latinLnBrk="0" hangingPunct="1">
                        <a:defRPr sz="1800" kern="1200">
                          <a:solidFill>
                            <a:schemeClr val="dk1"/>
                          </a:solidFill>
                          <a:latin typeface="MarkForMC Nrw O"/>
                        </a:defRPr>
                      </a:lvl4pPr>
                      <a:lvl5pPr marL="1828800" algn="l" defTabSz="914400" rtl="0" eaLnBrk="1" latinLnBrk="0" hangingPunct="1">
                        <a:defRPr sz="1800" kern="1200">
                          <a:solidFill>
                            <a:schemeClr val="dk1"/>
                          </a:solidFill>
                          <a:latin typeface="MarkForMC Nrw O"/>
                        </a:defRPr>
                      </a:lvl5pPr>
                      <a:lvl6pPr marL="2286000" algn="l" defTabSz="914400" rtl="0" eaLnBrk="1" latinLnBrk="0" hangingPunct="1">
                        <a:defRPr sz="1800" kern="1200">
                          <a:solidFill>
                            <a:schemeClr val="dk1"/>
                          </a:solidFill>
                          <a:latin typeface="MarkForMC Nrw O"/>
                        </a:defRPr>
                      </a:lvl6pPr>
                      <a:lvl7pPr marL="2743200" algn="l" defTabSz="914400" rtl="0" eaLnBrk="1" latinLnBrk="0" hangingPunct="1">
                        <a:defRPr sz="1800" kern="1200">
                          <a:solidFill>
                            <a:schemeClr val="dk1"/>
                          </a:solidFill>
                          <a:latin typeface="MarkForMC Nrw O"/>
                        </a:defRPr>
                      </a:lvl7pPr>
                      <a:lvl8pPr marL="3200400" algn="l" defTabSz="914400" rtl="0" eaLnBrk="1" latinLnBrk="0" hangingPunct="1">
                        <a:defRPr sz="1800" kern="1200">
                          <a:solidFill>
                            <a:schemeClr val="dk1"/>
                          </a:solidFill>
                          <a:latin typeface="MarkForMC Nrw O"/>
                        </a:defRPr>
                      </a:lvl8pPr>
                      <a:lvl9pPr marL="3657600" algn="l" defTabSz="914400" rtl="0" eaLnBrk="1" latinLnBrk="0" hangingPunct="1">
                        <a:defRPr sz="1800" kern="1200">
                          <a:solidFill>
                            <a:schemeClr val="dk1"/>
                          </a:solidFill>
                          <a:latin typeface="MarkForMC Nrw O"/>
                        </a:defRPr>
                      </a:lvl9pPr>
                    </a:lstStyle>
                    <a:p>
                      <a:pPr marL="0" algn="ctr" defTabSz="914354" rtl="0" eaLnBrk="1" fontAlgn="ctr" latinLnBrk="0" hangingPunct="1">
                        <a:buNone/>
                      </a:pPr>
                      <a:r>
                        <a:rPr lang="en-US" sz="900" b="0" i="0" u="none" strike="noStrike" kern="1200" dirty="0">
                          <a:solidFill>
                            <a:srgbClr val="000000"/>
                          </a:solidFill>
                          <a:effectLst/>
                          <a:latin typeface="+mn-lt"/>
                          <a:ea typeface="+mn-ea"/>
                          <a:cs typeface="+mn-cs"/>
                        </a:rPr>
                        <a:t>27 days</a:t>
                      </a:r>
                    </a:p>
                  </a:txBody>
                  <a:tcPr marL="76200" marR="762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EFEFE"/>
                    </a:solidFill>
                  </a:tcPr>
                </a:tc>
                <a:extLst>
                  <a:ext uri="{0D108BD9-81ED-4DB2-BD59-A6C34878D82A}">
                    <a16:rowId xmlns:a16="http://schemas.microsoft.com/office/drawing/2014/main" val="87559474"/>
                  </a:ext>
                </a:extLst>
              </a:tr>
            </a:tbl>
          </a:graphicData>
        </a:graphic>
      </p:graphicFrame>
      <p:sp>
        <p:nvSpPr>
          <p:cNvPr id="6" name="Text 1">
            <a:extLst>
              <a:ext uri="{FF2B5EF4-FFF2-40B4-BE49-F238E27FC236}">
                <a16:creationId xmlns:a16="http://schemas.microsoft.com/office/drawing/2014/main" id="{B23D14E3-9C55-A17A-6DA3-284CEA18E3C2}"/>
              </a:ext>
            </a:extLst>
          </p:cNvPr>
          <p:cNvSpPr/>
          <p:nvPr/>
        </p:nvSpPr>
        <p:spPr>
          <a:xfrm>
            <a:off x="677689" y="4027574"/>
            <a:ext cx="3837633" cy="393688"/>
          </a:xfrm>
          <a:prstGeom prst="rect">
            <a:avLst/>
          </a:prstGeom>
          <a:noFill/>
          <a:ln/>
        </p:spPr>
        <p:txBody>
          <a:bodyPr wrap="square" lIns="0" tIns="0" rIns="0" bIns="0" rtlCol="0" anchor="t"/>
          <a:lstStyle/>
          <a:p>
            <a:pPr>
              <a:lnSpc>
                <a:spcPts val="1708"/>
              </a:lnSpc>
            </a:pPr>
            <a:r>
              <a:rPr lang="en-US" sz="917">
                <a:solidFill>
                  <a:srgbClr val="272525"/>
                </a:solidFill>
                <a:latin typeface="MarkForMC Nrw O" panose="020B0506020201010104" pitchFamily="34" charset="0"/>
                <a:ea typeface="Lato" pitchFamily="34" charset="-122"/>
                <a:cs typeface="Lato" pitchFamily="34" charset="-120"/>
              </a:rPr>
              <a:t>Average reduction: </a:t>
            </a:r>
            <a:r>
              <a:rPr lang="en-US" sz="917" b="1">
                <a:solidFill>
                  <a:srgbClr val="272525"/>
                </a:solidFill>
                <a:latin typeface="MarkForMC Nrw O" panose="020B0506020201010104" pitchFamily="34" charset="0"/>
                <a:ea typeface="Lato" pitchFamily="34" charset="-122"/>
                <a:cs typeface="Lato" pitchFamily="34" charset="-120"/>
              </a:rPr>
              <a:t>~75% in balancing time </a:t>
            </a:r>
            <a:r>
              <a:rPr lang="en-US" sz="917">
                <a:solidFill>
                  <a:srgbClr val="272525"/>
                </a:solidFill>
                <a:latin typeface="MarkForMC Nrw O" panose="020B0506020201010104" pitchFamily="34" charset="0"/>
                <a:ea typeface="Lato" pitchFamily="34" charset="-122"/>
                <a:cs typeface="Lato" pitchFamily="34" charset="-120"/>
              </a:rPr>
              <a:t>per peer across all project sizes.</a:t>
            </a:r>
            <a:endParaRPr lang="en-US" sz="917">
              <a:latin typeface="MarkForMC Nrw O" panose="020B0506020201010104" pitchFamily="34" charset="0"/>
            </a:endParaRPr>
          </a:p>
        </p:txBody>
      </p:sp>
      <p:sp>
        <p:nvSpPr>
          <p:cNvPr id="8" name="Text 1">
            <a:extLst>
              <a:ext uri="{FF2B5EF4-FFF2-40B4-BE49-F238E27FC236}">
                <a16:creationId xmlns:a16="http://schemas.microsoft.com/office/drawing/2014/main" id="{82281261-5978-F38C-72B4-F22480A81004}"/>
              </a:ext>
            </a:extLst>
          </p:cNvPr>
          <p:cNvSpPr/>
          <p:nvPr/>
        </p:nvSpPr>
        <p:spPr>
          <a:xfrm>
            <a:off x="6516361" y="3946961"/>
            <a:ext cx="4747624" cy="393688"/>
          </a:xfrm>
          <a:prstGeom prst="rect">
            <a:avLst/>
          </a:prstGeom>
          <a:noFill/>
          <a:ln/>
        </p:spPr>
        <p:txBody>
          <a:bodyPr wrap="square" lIns="0" tIns="0" rIns="0" bIns="0" rtlCol="0" anchor="t"/>
          <a:lstStyle/>
          <a:p>
            <a:r>
              <a:rPr lang="en-US" sz="917" dirty="0">
                <a:solidFill>
                  <a:srgbClr val="272525"/>
                </a:solidFill>
                <a:latin typeface="MarkForMC Nrw O" panose="020B0506020201010104" pitchFamily="34" charset="0"/>
                <a:ea typeface="Lato" pitchFamily="34" charset="-122"/>
                <a:cs typeface="Lato" pitchFamily="34" charset="-120"/>
              </a:rPr>
              <a:t>Large benchmarking studies that previously required </a:t>
            </a:r>
            <a:r>
              <a:rPr lang="en-US" sz="917" b="1" dirty="0">
                <a:solidFill>
                  <a:srgbClr val="272525"/>
                </a:solidFill>
                <a:latin typeface="MarkForMC Nrw O" panose="020B0506020201010104" pitchFamily="34" charset="0"/>
                <a:ea typeface="Lato" pitchFamily="34" charset="-122"/>
                <a:cs typeface="Lato" pitchFamily="34" charset="-120"/>
              </a:rPr>
              <a:t>multiple analysts and weeks of manual work </a:t>
            </a:r>
            <a:r>
              <a:rPr lang="en-US" sz="917" dirty="0">
                <a:solidFill>
                  <a:srgbClr val="272525"/>
                </a:solidFill>
                <a:latin typeface="MarkForMC Nrw O" panose="020B0506020201010104" pitchFamily="34" charset="0"/>
                <a:ea typeface="Lato" pitchFamily="34" charset="-122"/>
                <a:cs typeface="Lato" pitchFamily="34" charset="-120"/>
              </a:rPr>
              <a:t>can now be executed in </a:t>
            </a:r>
            <a:r>
              <a:rPr lang="en-US" sz="917" b="1" dirty="0">
                <a:solidFill>
                  <a:srgbClr val="272525"/>
                </a:solidFill>
                <a:latin typeface="MarkForMC Nrw O" panose="020B0506020201010104" pitchFamily="34" charset="0"/>
                <a:ea typeface="Lato" pitchFamily="34" charset="-122"/>
                <a:cs typeface="Lato" pitchFamily="34" charset="-120"/>
              </a:rPr>
              <a:t>roughly one week, by a single analyst</a:t>
            </a:r>
            <a:r>
              <a:rPr lang="en-US" sz="917" dirty="0">
                <a:solidFill>
                  <a:srgbClr val="272525"/>
                </a:solidFill>
                <a:latin typeface="MarkForMC Nrw O" panose="020B0506020201010104" pitchFamily="34" charset="0"/>
                <a:ea typeface="Lato" pitchFamily="34" charset="-122"/>
                <a:cs typeface="Lato" pitchFamily="34" charset="-120"/>
              </a:rPr>
              <a:t>.</a:t>
            </a:r>
          </a:p>
        </p:txBody>
      </p:sp>
      <p:sp>
        <p:nvSpPr>
          <p:cNvPr id="13" name="Flowchart: Manual Operation 12">
            <a:extLst>
              <a:ext uri="{FF2B5EF4-FFF2-40B4-BE49-F238E27FC236}">
                <a16:creationId xmlns:a16="http://schemas.microsoft.com/office/drawing/2014/main" id="{60FF935F-55C9-9D51-59A4-043B8E522684}"/>
              </a:ext>
            </a:extLst>
          </p:cNvPr>
          <p:cNvSpPr/>
          <p:nvPr/>
        </p:nvSpPr>
        <p:spPr>
          <a:xfrm rot="16200000">
            <a:off x="5113588" y="3092073"/>
            <a:ext cx="1590123" cy="119653"/>
          </a:xfrm>
          <a:prstGeom prst="flowChartManualOperation">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500"/>
          </a:p>
        </p:txBody>
      </p:sp>
      <p:graphicFrame>
        <p:nvGraphicFramePr>
          <p:cNvPr id="95" name="Chart 94">
            <a:extLst>
              <a:ext uri="{FF2B5EF4-FFF2-40B4-BE49-F238E27FC236}">
                <a16:creationId xmlns:a16="http://schemas.microsoft.com/office/drawing/2014/main" id="{A2D14D8B-5AF3-F5C5-C138-131C114503E8}"/>
              </a:ext>
            </a:extLst>
          </p:cNvPr>
          <p:cNvGraphicFramePr/>
          <p:nvPr>
            <p:custDataLst>
              <p:tags r:id="rId2"/>
            </p:custDataLst>
            <p:extLst>
              <p:ext uri="{D42A27DB-BD31-4B8C-83A1-F6EECF244321}">
                <p14:modId xmlns:p14="http://schemas.microsoft.com/office/powerpoint/2010/main" val="3855786972"/>
              </p:ext>
            </p:extLst>
          </p:nvPr>
        </p:nvGraphicFramePr>
        <p:xfrm>
          <a:off x="334698" y="5088467"/>
          <a:ext cx="11260667" cy="1311804"/>
        </p:xfrm>
        <a:graphic>
          <a:graphicData uri="http://schemas.openxmlformats.org/drawingml/2006/chart">
            <c:chart xmlns:c="http://schemas.openxmlformats.org/drawingml/2006/chart" xmlns:r="http://schemas.openxmlformats.org/officeDocument/2006/relationships" r:id="rId16"/>
          </a:graphicData>
        </a:graphic>
      </p:graphicFrame>
      <p:sp>
        <p:nvSpPr>
          <p:cNvPr id="17" name="Rectangle 16">
            <a:extLst>
              <a:ext uri="{FF2B5EF4-FFF2-40B4-BE49-F238E27FC236}">
                <a16:creationId xmlns:a16="http://schemas.microsoft.com/office/drawing/2014/main" id="{C0EAE1C4-1C48-45A8-A7D6-3FE4EE3BC957}"/>
              </a:ext>
            </a:extLst>
          </p:cNvPr>
          <p:cNvSpPr/>
          <p:nvPr>
            <p:custDataLst>
              <p:tags r:id="rId3"/>
            </p:custDataLst>
          </p:nvPr>
        </p:nvSpPr>
        <p:spPr bwMode="auto">
          <a:xfrm>
            <a:off x="1244866" y="6323520"/>
            <a:ext cx="543719" cy="93422"/>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873126AF-6931-4E0F-928A-B0AE11A45950}" type="datetime'''''''M''''''''i''''n'' ''''-'' ''''1 p''e''''''''''''''er'">
              <a:rPr lang="pt-BR" altLang="en-US" sz="833" b="1">
                <a:solidFill>
                  <a:schemeClr val="tx1"/>
                </a:solidFill>
              </a:rPr>
              <a:pPr algn="ctr">
                <a:spcBef>
                  <a:spcPct val="0"/>
                </a:spcBef>
                <a:spcAft>
                  <a:spcPct val="0"/>
                </a:spcAft>
              </a:pPr>
              <a:t>Min - 1 peer</a:t>
            </a:fld>
            <a:endParaRPr lang="pt-BR" sz="833" b="1">
              <a:solidFill>
                <a:schemeClr val="tx1"/>
              </a:solidFill>
            </a:endParaRPr>
          </a:p>
        </p:txBody>
      </p:sp>
      <p:sp>
        <p:nvSpPr>
          <p:cNvPr id="27" name="Rectangle 26">
            <a:extLst>
              <a:ext uri="{FF2B5EF4-FFF2-40B4-BE49-F238E27FC236}">
                <a16:creationId xmlns:a16="http://schemas.microsoft.com/office/drawing/2014/main" id="{BFC8BA38-6BCA-0C31-A689-1893F2679192}"/>
              </a:ext>
            </a:extLst>
          </p:cNvPr>
          <p:cNvSpPr/>
          <p:nvPr>
            <p:custDataLst>
              <p:tags r:id="rId4"/>
            </p:custDataLst>
          </p:nvPr>
        </p:nvSpPr>
        <p:spPr bwMode="auto">
          <a:xfrm>
            <a:off x="3473980" y="6323520"/>
            <a:ext cx="531813" cy="93422"/>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9AE5B20D-84B9-4857-AD29-598D5FBC13CF}" type="datetime'''''''''''''''Av''''''g'' - ''1 p''e''''e''''r'''''''''''''''">
              <a:rPr lang="pt-BR" altLang="en-US" sz="833" b="1">
                <a:solidFill>
                  <a:schemeClr val="tx1"/>
                </a:solidFill>
              </a:rPr>
              <a:pPr algn="ctr">
                <a:spcBef>
                  <a:spcPct val="0"/>
                </a:spcBef>
                <a:spcAft>
                  <a:spcPct val="0"/>
                </a:spcAft>
              </a:pPr>
              <a:t>Avg - 1 peer</a:t>
            </a:fld>
            <a:endParaRPr lang="pt-BR" sz="833" b="1">
              <a:solidFill>
                <a:schemeClr val="tx1"/>
              </a:solidFill>
            </a:endParaRPr>
          </a:p>
        </p:txBody>
      </p:sp>
      <p:sp>
        <p:nvSpPr>
          <p:cNvPr id="30" name="Rectangle 29">
            <a:extLst>
              <a:ext uri="{FF2B5EF4-FFF2-40B4-BE49-F238E27FC236}">
                <a16:creationId xmlns:a16="http://schemas.microsoft.com/office/drawing/2014/main" id="{6771BB01-483B-F3C0-3C4A-9B7F378C784E}"/>
              </a:ext>
            </a:extLst>
          </p:cNvPr>
          <p:cNvSpPr/>
          <p:nvPr>
            <p:custDataLst>
              <p:tags r:id="rId5"/>
            </p:custDataLst>
          </p:nvPr>
        </p:nvSpPr>
        <p:spPr bwMode="auto">
          <a:xfrm>
            <a:off x="5684573" y="6323520"/>
            <a:ext cx="560917" cy="93422"/>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C72AE97C-E9FC-408D-9FEA-85DA95D7CACB}" type="datetime'''Max'' ''''''''''''''''''''''-'''' 1'' ''''pee''r'">
              <a:rPr lang="pt-BR" altLang="en-US" sz="833" b="1">
                <a:solidFill>
                  <a:schemeClr val="tx1"/>
                </a:solidFill>
              </a:rPr>
              <a:pPr algn="ctr">
                <a:spcBef>
                  <a:spcPct val="0"/>
                </a:spcBef>
                <a:spcAft>
                  <a:spcPct val="0"/>
                </a:spcAft>
              </a:pPr>
              <a:t>Max - 1 peer</a:t>
            </a:fld>
            <a:endParaRPr lang="pt-BR" sz="833" b="1" dirty="0">
              <a:solidFill>
                <a:schemeClr val="tx1"/>
              </a:solidFill>
            </a:endParaRPr>
          </a:p>
        </p:txBody>
      </p:sp>
      <p:sp>
        <p:nvSpPr>
          <p:cNvPr id="43" name="Rectangle 42">
            <a:extLst>
              <a:ext uri="{FF2B5EF4-FFF2-40B4-BE49-F238E27FC236}">
                <a16:creationId xmlns:a16="http://schemas.microsoft.com/office/drawing/2014/main" id="{7A7E6CD3-1D8D-0458-FBEB-00B4A5F29892}"/>
              </a:ext>
            </a:extLst>
          </p:cNvPr>
          <p:cNvSpPr/>
          <p:nvPr>
            <p:custDataLst>
              <p:tags r:id="rId6"/>
            </p:custDataLst>
          </p:nvPr>
        </p:nvSpPr>
        <p:spPr bwMode="auto">
          <a:xfrm>
            <a:off x="7901782" y="6323520"/>
            <a:ext cx="574146" cy="93422"/>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0590A1A6-3CA7-4A8B-AE84-69448DE6EC2B}" type="datetime'A''v''g'''''' -'' ''''5'''''''''' pe''e''''rs'''''''''''''">
              <a:rPr lang="pt-BR" altLang="en-US" sz="833" b="1">
                <a:solidFill>
                  <a:schemeClr val="tx1"/>
                </a:solidFill>
              </a:rPr>
              <a:pPr algn="ctr">
                <a:spcBef>
                  <a:spcPct val="0"/>
                </a:spcBef>
                <a:spcAft>
                  <a:spcPct val="0"/>
                </a:spcAft>
              </a:pPr>
              <a:t>Avg - 5 peers</a:t>
            </a:fld>
            <a:endParaRPr lang="pt-BR" sz="833" b="1" dirty="0">
              <a:solidFill>
                <a:schemeClr val="tx1"/>
              </a:solidFill>
            </a:endParaRPr>
          </a:p>
        </p:txBody>
      </p:sp>
      <p:sp>
        <p:nvSpPr>
          <p:cNvPr id="46" name="Rectangle 45">
            <a:extLst>
              <a:ext uri="{FF2B5EF4-FFF2-40B4-BE49-F238E27FC236}">
                <a16:creationId xmlns:a16="http://schemas.microsoft.com/office/drawing/2014/main" id="{B6A0DC64-4331-438C-9D8F-E4DD7A7E2064}"/>
              </a:ext>
            </a:extLst>
          </p:cNvPr>
          <p:cNvSpPr/>
          <p:nvPr>
            <p:custDataLst>
              <p:tags r:id="rId7"/>
            </p:custDataLst>
          </p:nvPr>
        </p:nvSpPr>
        <p:spPr bwMode="auto">
          <a:xfrm>
            <a:off x="10126928" y="6323520"/>
            <a:ext cx="574146" cy="93422"/>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8B386C32-7C56-46E1-B047-9E4D63F79831}" type="datetime'''''''''A''''v''g'''' -'''''''' 6'' ''''''''''p''ee''rs'''''''">
              <a:rPr lang="pt-BR" altLang="en-US" sz="833" b="1">
                <a:solidFill>
                  <a:schemeClr val="tx1"/>
                </a:solidFill>
              </a:rPr>
              <a:pPr algn="ctr">
                <a:spcBef>
                  <a:spcPct val="0"/>
                </a:spcBef>
                <a:spcAft>
                  <a:spcPct val="0"/>
                </a:spcAft>
              </a:pPr>
              <a:t>Avg - 6 peers</a:t>
            </a:fld>
            <a:endParaRPr lang="pt-BR" sz="833" b="1">
              <a:solidFill>
                <a:schemeClr val="tx1"/>
              </a:solidFill>
            </a:endParaRPr>
          </a:p>
        </p:txBody>
      </p:sp>
      <p:sp>
        <p:nvSpPr>
          <p:cNvPr id="21" name="Rectangle 20">
            <a:extLst>
              <a:ext uri="{FF2B5EF4-FFF2-40B4-BE49-F238E27FC236}">
                <a16:creationId xmlns:a16="http://schemas.microsoft.com/office/drawing/2014/main" id="{8A6314E2-AD07-1663-6D48-ECFAC79D9264}"/>
              </a:ext>
            </a:extLst>
          </p:cNvPr>
          <p:cNvSpPr/>
          <p:nvPr>
            <p:custDataLst>
              <p:tags r:id="rId8"/>
            </p:custDataLst>
          </p:nvPr>
        </p:nvSpPr>
        <p:spPr bwMode="auto">
          <a:xfrm>
            <a:off x="596635" y="5330130"/>
            <a:ext cx="178594" cy="98288"/>
          </a:xfrm>
          <a:prstGeom prst="rect">
            <a:avLst/>
          </a:prstGeom>
          <a:solidFill>
            <a:srgbClr val="FCD5B5"/>
          </a:solidFill>
          <a:ln w="1270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500"/>
          </a:p>
        </p:txBody>
      </p:sp>
      <p:sp>
        <p:nvSpPr>
          <p:cNvPr id="22" name="Rectangle 21">
            <a:extLst>
              <a:ext uri="{FF2B5EF4-FFF2-40B4-BE49-F238E27FC236}">
                <a16:creationId xmlns:a16="http://schemas.microsoft.com/office/drawing/2014/main" id="{A720FD21-E5EA-8E8B-33F6-77A136D2F907}"/>
              </a:ext>
            </a:extLst>
          </p:cNvPr>
          <p:cNvSpPr/>
          <p:nvPr>
            <p:custDataLst>
              <p:tags r:id="rId9"/>
            </p:custDataLst>
          </p:nvPr>
        </p:nvSpPr>
        <p:spPr bwMode="auto">
          <a:xfrm>
            <a:off x="596635" y="5524599"/>
            <a:ext cx="178594" cy="98288"/>
          </a:xfrm>
          <a:prstGeom prst="rect">
            <a:avLst/>
          </a:prstGeom>
          <a:solidFill>
            <a:schemeClr val="accent6">
              <a:lumMod val="75000"/>
            </a:schemeClr>
          </a:solidFill>
          <a:ln w="1270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500"/>
          </a:p>
        </p:txBody>
      </p:sp>
      <p:sp>
        <p:nvSpPr>
          <p:cNvPr id="14" name="Rectangle 13">
            <a:extLst>
              <a:ext uri="{FF2B5EF4-FFF2-40B4-BE49-F238E27FC236}">
                <a16:creationId xmlns:a16="http://schemas.microsoft.com/office/drawing/2014/main" id="{60E7CF91-72F3-E556-B5E3-EF858EA4539D}"/>
              </a:ext>
            </a:extLst>
          </p:cNvPr>
          <p:cNvSpPr/>
          <p:nvPr>
            <p:custDataLst>
              <p:tags r:id="rId10"/>
            </p:custDataLst>
          </p:nvPr>
        </p:nvSpPr>
        <p:spPr bwMode="auto">
          <a:xfrm>
            <a:off x="817562" y="5331056"/>
            <a:ext cx="347928" cy="111913"/>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spcBef>
                <a:spcPct val="0"/>
              </a:spcBef>
              <a:spcAft>
                <a:spcPct val="0"/>
              </a:spcAft>
            </a:pPr>
            <a:fld id="{934E11F9-9232-49FF-B51D-EA7930CAF033}" type="datetime'B''''''''''''ef''''o''''''''''''''r''''''''''''e'''''''''''''">
              <a:rPr lang="pt-BR" altLang="en-US" sz="1000" b="1">
                <a:solidFill>
                  <a:schemeClr val="tx1"/>
                </a:solidFill>
              </a:rPr>
              <a:pPr>
                <a:spcBef>
                  <a:spcPct val="0"/>
                </a:spcBef>
                <a:spcAft>
                  <a:spcPct val="0"/>
                </a:spcAft>
              </a:pPr>
              <a:t>Before</a:t>
            </a:fld>
            <a:endParaRPr lang="pt-BR" sz="1000" b="1">
              <a:solidFill>
                <a:schemeClr val="tx1"/>
              </a:solidFill>
            </a:endParaRPr>
          </a:p>
        </p:txBody>
      </p:sp>
      <p:sp>
        <p:nvSpPr>
          <p:cNvPr id="16" name="Rectangle 15">
            <a:extLst>
              <a:ext uri="{FF2B5EF4-FFF2-40B4-BE49-F238E27FC236}">
                <a16:creationId xmlns:a16="http://schemas.microsoft.com/office/drawing/2014/main" id="{9DC9C4ED-AA5B-4776-02A6-F86930982CD1}"/>
              </a:ext>
            </a:extLst>
          </p:cNvPr>
          <p:cNvSpPr/>
          <p:nvPr>
            <p:custDataLst>
              <p:tags r:id="rId11"/>
            </p:custDataLst>
          </p:nvPr>
        </p:nvSpPr>
        <p:spPr bwMode="auto">
          <a:xfrm>
            <a:off x="817562" y="5525526"/>
            <a:ext cx="267229" cy="111913"/>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spcBef>
                <a:spcPct val="0"/>
              </a:spcBef>
              <a:spcAft>
                <a:spcPct val="0"/>
              </a:spcAft>
            </a:pPr>
            <a:fld id="{DE3661A2-585E-4CE6-B64C-A7CD00BE2EC2}" type="datetime'''''''A''''''''f''''''''t''''''''''e''''''''''''''r'''''''''''">
              <a:rPr lang="pt-BR" altLang="en-US" sz="1000" b="1">
                <a:solidFill>
                  <a:schemeClr val="tx1"/>
                </a:solidFill>
              </a:rPr>
              <a:pPr>
                <a:spcBef>
                  <a:spcPct val="0"/>
                </a:spcBef>
                <a:spcAft>
                  <a:spcPct val="0"/>
                </a:spcAft>
              </a:pPr>
              <a:t>After</a:t>
            </a:fld>
            <a:endParaRPr lang="pt-BR" sz="1000" b="1">
              <a:solidFill>
                <a:schemeClr val="tx1"/>
              </a:solidFill>
            </a:endParaRPr>
          </a:p>
        </p:txBody>
      </p:sp>
      <p:sp>
        <p:nvSpPr>
          <p:cNvPr id="92" name="Text 1">
            <a:extLst>
              <a:ext uri="{FF2B5EF4-FFF2-40B4-BE49-F238E27FC236}">
                <a16:creationId xmlns:a16="http://schemas.microsoft.com/office/drawing/2014/main" id="{432F2BBF-0455-AD7F-E4AA-BC6438C0DDF0}"/>
              </a:ext>
            </a:extLst>
          </p:cNvPr>
          <p:cNvSpPr/>
          <p:nvPr/>
        </p:nvSpPr>
        <p:spPr>
          <a:xfrm>
            <a:off x="3947661" y="4792500"/>
            <a:ext cx="3473824" cy="181666"/>
          </a:xfrm>
          <a:prstGeom prst="rect">
            <a:avLst/>
          </a:prstGeom>
          <a:noFill/>
          <a:ln/>
        </p:spPr>
        <p:txBody>
          <a:bodyPr wrap="square" lIns="0" tIns="0" rIns="0" bIns="0" rtlCol="0" anchor="t"/>
          <a:lstStyle/>
          <a:p>
            <a:pPr algn="ctr">
              <a:lnSpc>
                <a:spcPts val="1708"/>
              </a:lnSpc>
            </a:pPr>
            <a:r>
              <a:rPr lang="en-US" sz="1000" b="1" dirty="0">
                <a:solidFill>
                  <a:srgbClr val="272525"/>
                </a:solidFill>
                <a:latin typeface="MarkForMC Nrw O" panose="020B0506020201010104" pitchFamily="34" charset="0"/>
                <a:ea typeface="Lato" pitchFamily="34" charset="-122"/>
                <a:cs typeface="Lato" pitchFamily="34" charset="-120"/>
              </a:rPr>
              <a:t>Visual demonstration of time savings using the tool</a:t>
            </a:r>
            <a:endParaRPr lang="en-US" sz="1000" b="1" dirty="0">
              <a:latin typeface="MarkForMC Nrw O" panose="020B0506020201010104" pitchFamily="34" charset="0"/>
            </a:endParaRPr>
          </a:p>
        </p:txBody>
      </p:sp>
      <p:pic>
        <p:nvPicPr>
          <p:cNvPr id="94" name="Picture 93">
            <a:extLst>
              <a:ext uri="{FF2B5EF4-FFF2-40B4-BE49-F238E27FC236}">
                <a16:creationId xmlns:a16="http://schemas.microsoft.com/office/drawing/2014/main" id="{C26ECEDA-4CC5-CDA2-87CB-C4E9D707EB0D}"/>
              </a:ext>
            </a:extLst>
          </p:cNvPr>
          <p:cNvPicPr>
            <a:picLocks noChangeAspect="1"/>
          </p:cNvPicPr>
          <p:nvPr/>
        </p:nvPicPr>
        <p:blipFill>
          <a:blip r:embed="rId17"/>
          <a:stretch>
            <a:fillRect/>
          </a:stretch>
        </p:blipFill>
        <p:spPr>
          <a:xfrm>
            <a:off x="11193684" y="6379766"/>
            <a:ext cx="526002" cy="366009"/>
          </a:xfrm>
          <a:prstGeom prst="rect">
            <a:avLst/>
          </a:prstGeom>
        </p:spPr>
      </p:pic>
      <p:sp>
        <p:nvSpPr>
          <p:cNvPr id="12" name="TextBox 11">
            <a:extLst>
              <a:ext uri="{FF2B5EF4-FFF2-40B4-BE49-F238E27FC236}">
                <a16:creationId xmlns:a16="http://schemas.microsoft.com/office/drawing/2014/main" id="{97C93E49-3B80-132F-9681-729327983731}"/>
              </a:ext>
            </a:extLst>
          </p:cNvPr>
          <p:cNvSpPr txBox="1"/>
          <p:nvPr/>
        </p:nvSpPr>
        <p:spPr>
          <a:xfrm>
            <a:off x="609600" y="508000"/>
            <a:ext cx="6350000" cy="161583"/>
          </a:xfrm>
          <a:prstGeom prst="rect">
            <a:avLst/>
          </a:prstGeom>
          <a:noFill/>
        </p:spPr>
        <p:txBody>
          <a:bodyPr wrap="square" lIns="0" tIns="0" rIns="0" bIns="0" anchor="t">
            <a:spAutoFit/>
          </a:bodyPr>
          <a:lstStyle/>
          <a:p>
            <a:r>
              <a:rPr lang="en-US" sz="1050" b="0" i="0" spc="160" dirty="0">
                <a:solidFill>
                  <a:srgbClr val="FF671B"/>
                </a:solidFill>
                <a:latin typeface="Mark Offc For MC Light" panose="020B0504020101010102" pitchFamily="34" charset="0"/>
              </a:rPr>
              <a:t>EFFICIENCY &amp; SCALABILITY</a:t>
            </a:r>
          </a:p>
        </p:txBody>
      </p:sp>
      <p:sp>
        <p:nvSpPr>
          <p:cNvPr id="15" name="TextBox 14">
            <a:extLst>
              <a:ext uri="{FF2B5EF4-FFF2-40B4-BE49-F238E27FC236}">
                <a16:creationId xmlns:a16="http://schemas.microsoft.com/office/drawing/2014/main" id="{609CBF63-056B-EFF0-4D74-C3B3F20F4B95}"/>
              </a:ext>
            </a:extLst>
          </p:cNvPr>
          <p:cNvSpPr txBox="1"/>
          <p:nvPr/>
        </p:nvSpPr>
        <p:spPr>
          <a:xfrm>
            <a:off x="609600" y="736600"/>
            <a:ext cx="10972800" cy="340029"/>
          </a:xfrm>
          <a:prstGeom prst="rect">
            <a:avLst/>
          </a:prstGeom>
          <a:noFill/>
        </p:spPr>
        <p:txBody>
          <a:bodyPr wrap="square" lIns="0" tIns="0" rIns="0" bIns="0" anchor="t">
            <a:spAutoFit/>
          </a:bodyPr>
          <a:lstStyle/>
          <a:p>
            <a:pPr>
              <a:lnSpc>
                <a:spcPct val="106000"/>
              </a:lnSpc>
            </a:pPr>
            <a:r>
              <a:rPr lang="en-US" sz="2300" b="0" i="0" dirty="0">
                <a:solidFill>
                  <a:srgbClr val="1A1A1A"/>
                </a:solidFill>
                <a:latin typeface="Mark Offc For MC" panose="020B0504020101010102" pitchFamily="34" charset="0"/>
              </a:rPr>
              <a:t>Automating the balancing phase cuts benchmark time by ~75%.</a:t>
            </a:r>
            <a:endParaRPr sz="2300" b="0" i="0" dirty="0">
              <a:solidFill>
                <a:srgbClr val="1A1A1A"/>
              </a:solidFill>
              <a:latin typeface="Mark Offc For MC" panose="020B0504020101010102" pitchFamily="34" charset="0"/>
            </a:endParaRPr>
          </a:p>
        </p:txBody>
      </p:sp>
      <p:cxnSp>
        <p:nvCxnSpPr>
          <p:cNvPr id="18" name="Connector 4">
            <a:extLst>
              <a:ext uri="{FF2B5EF4-FFF2-40B4-BE49-F238E27FC236}">
                <a16:creationId xmlns:a16="http://schemas.microsoft.com/office/drawing/2014/main" id="{1B2C354D-C4A4-461E-F376-5DCBF0B35F99}"/>
              </a:ext>
            </a:extLst>
          </p:cNvPr>
          <p:cNvCxnSpPr/>
          <p:nvPr/>
        </p:nvCxnSpPr>
        <p:spPr>
          <a:xfrm>
            <a:off x="609600" y="1625600"/>
            <a:ext cx="10972800" cy="0"/>
          </a:xfrm>
          <a:prstGeom prst="line">
            <a:avLst/>
          </a:prstGeom>
          <a:ln w="12700">
            <a:solidFill>
              <a:srgbClr val="E6E2DC"/>
            </a:solidFill>
          </a:ln>
        </p:spPr>
      </p:cxnSp>
      <p:sp>
        <p:nvSpPr>
          <p:cNvPr id="19" name="Rectangle 18">
            <a:extLst>
              <a:ext uri="{FF2B5EF4-FFF2-40B4-BE49-F238E27FC236}">
                <a16:creationId xmlns:a16="http://schemas.microsoft.com/office/drawing/2014/main" id="{A2BEA77B-9F4F-60E2-1A15-DA524821442A}"/>
              </a:ext>
            </a:extLst>
          </p:cNvPr>
          <p:cNvSpPr/>
          <p:nvPr/>
        </p:nvSpPr>
        <p:spPr>
          <a:xfrm>
            <a:off x="609600" y="1610360"/>
            <a:ext cx="685800" cy="30480"/>
          </a:xfrm>
          <a:prstGeom prst="rect">
            <a:avLst/>
          </a:prstGeom>
          <a:solidFill>
            <a:srgbClr val="FF671B"/>
          </a:solidFill>
          <a:ln>
            <a:noFill/>
          </a:ln>
          <a:effectLst/>
        </p:spPr>
        <p:txBody>
          <a:bodyPr rtlCol="0" anchor="ctr"/>
          <a:lstStyle/>
          <a:p>
            <a:pPr algn="ctr"/>
            <a:endParaRPr>
              <a:latin typeface="Mark Offc For MC" panose="020B0504020101010102" pitchFamily="34" charset="0"/>
            </a:endParaRPr>
          </a:p>
        </p:txBody>
      </p:sp>
      <p:sp>
        <p:nvSpPr>
          <p:cNvPr id="20" name="TextBox 19">
            <a:extLst>
              <a:ext uri="{FF2B5EF4-FFF2-40B4-BE49-F238E27FC236}">
                <a16:creationId xmlns:a16="http://schemas.microsoft.com/office/drawing/2014/main" id="{BA0BE220-A3DC-712B-903E-23B5D0503294}"/>
              </a:ext>
            </a:extLst>
          </p:cNvPr>
          <p:cNvSpPr txBox="1"/>
          <p:nvPr/>
        </p:nvSpPr>
        <p:spPr>
          <a:xfrm>
            <a:off x="609600" y="1295400"/>
            <a:ext cx="10972800" cy="208968"/>
          </a:xfrm>
          <a:prstGeom prst="rect">
            <a:avLst/>
          </a:prstGeom>
          <a:noFill/>
        </p:spPr>
        <p:txBody>
          <a:bodyPr wrap="square" lIns="0" tIns="0" rIns="0" bIns="0" anchor="t">
            <a:spAutoFit/>
          </a:bodyPr>
          <a:lstStyle/>
          <a:p>
            <a:pPr>
              <a:lnSpc>
                <a:spcPct val="112000"/>
              </a:lnSpc>
            </a:pPr>
            <a:r>
              <a:rPr lang="en-US" sz="1350" b="0" i="0" dirty="0">
                <a:solidFill>
                  <a:srgbClr val="656A71"/>
                </a:solidFill>
                <a:latin typeface="Mark Offc For MC" panose="020B0504020101010102" pitchFamily="34" charset="0"/>
              </a:rPr>
              <a:t>Data extraction stays flat, every gain comes from eliminating manual, senior-dependent analysis.</a:t>
            </a:r>
            <a:endParaRPr sz="1350" b="0" i="0" dirty="0">
              <a:solidFill>
                <a:srgbClr val="656A71"/>
              </a:solidFill>
              <a:latin typeface="Mark Offc For MC" panose="020B0504020101010102" pitchFamily="34" charset="0"/>
            </a:endParaRPr>
          </a:p>
        </p:txBody>
      </p:sp>
    </p:spTree>
    <p:extLst>
      <p:ext uri="{BB962C8B-B14F-4D97-AF65-F5344CB8AC3E}">
        <p14:creationId xmlns:p14="http://schemas.microsoft.com/office/powerpoint/2010/main" val="25803944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endParaRPr>
              <a:latin typeface="Mark Offc For MC" panose="020B0504020101010102" pitchFamily="34" charset="0"/>
            </a:endParaRPr>
          </a:p>
        </p:txBody>
      </p:sp>
      <p:sp>
        <p:nvSpPr>
          <p:cNvPr id="3" name="TextBox 2"/>
          <p:cNvSpPr txBox="1"/>
          <p:nvPr/>
        </p:nvSpPr>
        <p:spPr>
          <a:xfrm>
            <a:off x="609600" y="508000"/>
            <a:ext cx="6350000" cy="161583"/>
          </a:xfrm>
          <a:prstGeom prst="rect">
            <a:avLst/>
          </a:prstGeom>
          <a:noFill/>
        </p:spPr>
        <p:txBody>
          <a:bodyPr wrap="square" lIns="0" tIns="0" rIns="0" bIns="0" anchor="t">
            <a:spAutoFit/>
          </a:bodyPr>
          <a:lstStyle/>
          <a:p>
            <a:r>
              <a:rPr sz="1050" b="0" i="0" spc="160" dirty="0">
                <a:solidFill>
                  <a:srgbClr val="FF671B"/>
                </a:solidFill>
                <a:latin typeface="Mark Offc For MC Light" panose="020B0504020101010102" pitchFamily="34" charset="0"/>
              </a:rPr>
              <a:t>USE CASE IN THE FIELD</a:t>
            </a:r>
          </a:p>
        </p:txBody>
      </p:sp>
      <p:sp>
        <p:nvSpPr>
          <p:cNvPr id="4" name="TextBox 3"/>
          <p:cNvSpPr txBox="1"/>
          <p:nvPr/>
        </p:nvSpPr>
        <p:spPr>
          <a:xfrm>
            <a:off x="609600" y="736600"/>
            <a:ext cx="10972800" cy="340029"/>
          </a:xfrm>
          <a:prstGeom prst="rect">
            <a:avLst/>
          </a:prstGeom>
          <a:noFill/>
        </p:spPr>
        <p:txBody>
          <a:bodyPr wrap="square" lIns="0" tIns="0" rIns="0" bIns="0" anchor="t">
            <a:spAutoFit/>
          </a:bodyPr>
          <a:lstStyle/>
          <a:p>
            <a:pPr>
              <a:lnSpc>
                <a:spcPct val="106000"/>
              </a:lnSpc>
            </a:pPr>
            <a:r>
              <a:rPr sz="2300" b="0" i="0" dirty="0">
                <a:solidFill>
                  <a:srgbClr val="1A1A1A"/>
                </a:solidFill>
                <a:latin typeface="Mark Offc For MC" panose="020B0504020101010102" pitchFamily="34" charset="0"/>
              </a:rPr>
              <a:t>A&amp;F Dashboard — scalable benchmarking for the LAC market.</a:t>
            </a:r>
          </a:p>
        </p:txBody>
      </p:sp>
      <p:cxnSp>
        <p:nvCxnSpPr>
          <p:cNvPr id="5" name="Connector 4"/>
          <p:cNvCxnSpPr/>
          <p:nvPr/>
        </p:nvCxnSpPr>
        <p:spPr>
          <a:xfrm>
            <a:off x="609600" y="1625600"/>
            <a:ext cx="10972800" cy="0"/>
          </a:xfrm>
          <a:prstGeom prst="line">
            <a:avLst/>
          </a:prstGeom>
          <a:ln w="12700">
            <a:solidFill>
              <a:srgbClr val="E6E2DC"/>
            </a:solidFill>
          </a:ln>
        </p:spPr>
      </p:cxnSp>
      <p:sp>
        <p:nvSpPr>
          <p:cNvPr id="6" name="Rectangle 5"/>
          <p:cNvSpPr/>
          <p:nvPr/>
        </p:nvSpPr>
        <p:spPr>
          <a:xfrm>
            <a:off x="609600" y="1610360"/>
            <a:ext cx="685800" cy="30480"/>
          </a:xfrm>
          <a:prstGeom prst="rect">
            <a:avLst/>
          </a:prstGeom>
          <a:solidFill>
            <a:srgbClr val="FF671B"/>
          </a:solidFill>
          <a:ln>
            <a:noFill/>
          </a:ln>
          <a:effectLst/>
        </p:spPr>
        <p:txBody>
          <a:bodyPr rtlCol="0" anchor="ctr"/>
          <a:lstStyle/>
          <a:p>
            <a:pPr algn="ctr"/>
            <a:endParaRPr>
              <a:latin typeface="Mark Offc For MC" panose="020B0504020101010102" pitchFamily="34" charset="0"/>
            </a:endParaRPr>
          </a:p>
        </p:txBody>
      </p:sp>
      <p:sp>
        <p:nvSpPr>
          <p:cNvPr id="7" name="Rounded Rectangle 6"/>
          <p:cNvSpPr/>
          <p:nvPr/>
        </p:nvSpPr>
        <p:spPr>
          <a:xfrm>
            <a:off x="609600" y="1930400"/>
            <a:ext cx="3454400" cy="3810000"/>
          </a:xfrm>
          <a:prstGeom prst="roundRect">
            <a:avLst>
              <a:gd name="adj" fmla="val 5000"/>
            </a:avLst>
          </a:prstGeom>
          <a:solidFill>
            <a:srgbClr val="FFFFFF"/>
          </a:solidFill>
          <a:ln w="12700">
            <a:solidFill>
              <a:srgbClr val="E6E2DC"/>
            </a:solidFill>
          </a:ln>
          <a:effectLst>
            <a:outerShdw blurRad="114300" dist="38100" dir="5400000" rotWithShape="0">
              <a:srgbClr val="1A1A1A">
                <a:alpha val="22000"/>
              </a:srgbClr>
            </a:outerShdw>
          </a:effectLst>
        </p:spPr>
        <p:txBody>
          <a:bodyPr rtlCol="0" anchor="ctr"/>
          <a:lstStyle/>
          <a:p>
            <a:pPr algn="ctr"/>
            <a:endParaRPr>
              <a:latin typeface="Mark Offc For MC" panose="020B0504020101010102" pitchFamily="34" charset="0"/>
            </a:endParaRPr>
          </a:p>
        </p:txBody>
      </p:sp>
      <p:sp>
        <p:nvSpPr>
          <p:cNvPr id="8" name="Rounded Rectangle 7"/>
          <p:cNvSpPr/>
          <p:nvPr/>
        </p:nvSpPr>
        <p:spPr>
          <a:xfrm>
            <a:off x="889000" y="2235200"/>
            <a:ext cx="558800" cy="558800"/>
          </a:xfrm>
          <a:prstGeom prst="roundRect">
            <a:avLst>
              <a:gd name="adj" fmla="val 26000"/>
            </a:avLst>
          </a:prstGeom>
          <a:solidFill>
            <a:srgbClr val="FFEDE2"/>
          </a:solidFill>
          <a:ln>
            <a:noFill/>
          </a:ln>
          <a:effectLst/>
        </p:spPr>
        <p:txBody>
          <a:bodyPr rtlCol="0" anchor="ctr"/>
          <a:lstStyle/>
          <a:p>
            <a:pPr algn="ctr"/>
            <a:endParaRPr>
              <a:latin typeface="Mark Offc For MC" panose="020B0504020101010102" pitchFamily="34" charset="0"/>
            </a:endParaRPr>
          </a:p>
        </p:txBody>
      </p:sp>
      <p:sp>
        <p:nvSpPr>
          <p:cNvPr id="10" name="TextBox 9"/>
          <p:cNvSpPr txBox="1"/>
          <p:nvPr/>
        </p:nvSpPr>
        <p:spPr>
          <a:xfrm>
            <a:off x="2667000" y="2311400"/>
            <a:ext cx="1143000" cy="200055"/>
          </a:xfrm>
          <a:prstGeom prst="rect">
            <a:avLst/>
          </a:prstGeom>
          <a:noFill/>
        </p:spPr>
        <p:txBody>
          <a:bodyPr wrap="square" lIns="0" tIns="0" rIns="0" bIns="0" anchor="t">
            <a:spAutoFit/>
          </a:bodyPr>
          <a:lstStyle/>
          <a:p>
            <a:pPr algn="r"/>
            <a:r>
              <a:rPr sz="1300" b="0" i="0">
                <a:solidFill>
                  <a:srgbClr val="D84E0C"/>
                </a:solidFill>
                <a:latin typeface="Mark Offc For MC" panose="020B0504020101010102" pitchFamily="34" charset="0"/>
              </a:rPr>
              <a:t>PEERS</a:t>
            </a:r>
          </a:p>
        </p:txBody>
      </p:sp>
      <p:sp>
        <p:nvSpPr>
          <p:cNvPr id="11" name="TextBox 10"/>
          <p:cNvSpPr txBox="1"/>
          <p:nvPr/>
        </p:nvSpPr>
        <p:spPr>
          <a:xfrm>
            <a:off x="889000" y="2971800"/>
            <a:ext cx="2895600" cy="253916"/>
          </a:xfrm>
          <a:prstGeom prst="rect">
            <a:avLst/>
          </a:prstGeom>
          <a:noFill/>
        </p:spPr>
        <p:txBody>
          <a:bodyPr wrap="square" lIns="0" tIns="0" rIns="0" bIns="0" anchor="t">
            <a:spAutoFit/>
          </a:bodyPr>
          <a:lstStyle/>
          <a:p>
            <a:r>
              <a:rPr sz="1650" b="0" i="0" dirty="0">
                <a:solidFill>
                  <a:srgbClr val="1A1A1A"/>
                </a:solidFill>
                <a:latin typeface="Mark Offc For MC Medium" panose="020B0604020101010102" pitchFamily="34" charset="0"/>
              </a:rPr>
              <a:t>Ready-to-Use Peer Groups</a:t>
            </a:r>
          </a:p>
        </p:txBody>
      </p:sp>
      <p:cxnSp>
        <p:nvCxnSpPr>
          <p:cNvPr id="12" name="Connector 11"/>
          <p:cNvCxnSpPr/>
          <p:nvPr/>
        </p:nvCxnSpPr>
        <p:spPr>
          <a:xfrm>
            <a:off x="889000" y="3454400"/>
            <a:ext cx="2895600" cy="0"/>
          </a:xfrm>
          <a:prstGeom prst="line">
            <a:avLst/>
          </a:prstGeom>
          <a:ln w="12700">
            <a:solidFill>
              <a:srgbClr val="EFECE7"/>
            </a:solidFill>
          </a:ln>
        </p:spPr>
      </p:cxnSp>
      <p:sp>
        <p:nvSpPr>
          <p:cNvPr id="13" name="TextBox 12"/>
          <p:cNvSpPr txBox="1"/>
          <p:nvPr/>
        </p:nvSpPr>
        <p:spPr>
          <a:xfrm>
            <a:off x="889000" y="3632200"/>
            <a:ext cx="2895600" cy="1322029"/>
          </a:xfrm>
          <a:prstGeom prst="rect">
            <a:avLst/>
          </a:prstGeom>
          <a:noFill/>
        </p:spPr>
        <p:txBody>
          <a:bodyPr wrap="square" lIns="0" tIns="0" rIns="0" bIns="0" anchor="t">
            <a:spAutoFit/>
          </a:bodyPr>
          <a:lstStyle/>
          <a:p>
            <a:pPr>
              <a:lnSpc>
                <a:spcPct val="118000"/>
              </a:lnSpc>
              <a:spcAft>
                <a:spcPts val="1000"/>
              </a:spcAft>
            </a:pPr>
            <a:r>
              <a:rPr sz="1200" b="0" i="0" dirty="0">
                <a:solidFill>
                  <a:srgbClr val="FF671B"/>
                </a:solidFill>
                <a:latin typeface="Mark Offc For MC" panose="020B0504020101010102" pitchFamily="34" charset="0"/>
              </a:rPr>
              <a:t>—  </a:t>
            </a:r>
            <a:r>
              <a:rPr sz="1200" b="0" i="0" dirty="0">
                <a:solidFill>
                  <a:srgbClr val="3C3F44"/>
                </a:solidFill>
                <a:latin typeface="Mark Offc For MC" panose="020B0504020101010102" pitchFamily="34" charset="0"/>
              </a:rPr>
              <a:t>Pre-defined peer groups for issuers and acquirers.</a:t>
            </a:r>
          </a:p>
          <a:p>
            <a:pPr>
              <a:lnSpc>
                <a:spcPct val="118000"/>
              </a:lnSpc>
              <a:spcAft>
                <a:spcPts val="1000"/>
              </a:spcAft>
            </a:pPr>
            <a:r>
              <a:rPr sz="1200" b="0" i="0" dirty="0">
                <a:solidFill>
                  <a:srgbClr val="FF671B"/>
                </a:solidFill>
                <a:latin typeface="Mark Offc For MC" panose="020B0504020101010102" pitchFamily="34" charset="0"/>
              </a:rPr>
              <a:t>—  </a:t>
            </a:r>
            <a:r>
              <a:rPr sz="1200" b="0" i="0" dirty="0">
                <a:solidFill>
                  <a:srgbClr val="3C3F44"/>
                </a:solidFill>
                <a:latin typeface="Mark Offc For MC" panose="020B0504020101010102" pitchFamily="34" charset="0"/>
              </a:rPr>
              <a:t>14 months of history (Jan ’25 – Feb ’26).</a:t>
            </a:r>
          </a:p>
          <a:p>
            <a:pPr>
              <a:lnSpc>
                <a:spcPct val="118000"/>
              </a:lnSpc>
              <a:spcAft>
                <a:spcPts val="1000"/>
              </a:spcAft>
            </a:pPr>
            <a:r>
              <a:rPr sz="1200" b="0" i="0" dirty="0">
                <a:solidFill>
                  <a:srgbClr val="FF671B"/>
                </a:solidFill>
                <a:latin typeface="Mark Offc For MC" panose="020B0504020101010102" pitchFamily="34" charset="0"/>
              </a:rPr>
              <a:t>—  </a:t>
            </a:r>
            <a:r>
              <a:rPr sz="1200" b="0" i="0" dirty="0">
                <a:solidFill>
                  <a:srgbClr val="3C3F44"/>
                </a:solidFill>
                <a:latin typeface="Mark Offc For MC" panose="020B0504020101010102" pitchFamily="34" charset="0"/>
              </a:rPr>
              <a:t>Brazil live; LAC rollout underway.</a:t>
            </a:r>
          </a:p>
        </p:txBody>
      </p:sp>
      <p:sp>
        <p:nvSpPr>
          <p:cNvPr id="14" name="Rounded Rectangle 13"/>
          <p:cNvSpPr/>
          <p:nvPr/>
        </p:nvSpPr>
        <p:spPr>
          <a:xfrm>
            <a:off x="4368800" y="1930400"/>
            <a:ext cx="3454400" cy="3810000"/>
          </a:xfrm>
          <a:prstGeom prst="roundRect">
            <a:avLst>
              <a:gd name="adj" fmla="val 5000"/>
            </a:avLst>
          </a:prstGeom>
          <a:solidFill>
            <a:srgbClr val="FFFFFF"/>
          </a:solidFill>
          <a:ln w="12700">
            <a:solidFill>
              <a:srgbClr val="E6E2DC"/>
            </a:solidFill>
          </a:ln>
          <a:effectLst>
            <a:outerShdw blurRad="114300" dist="38100" dir="5400000" rotWithShape="0">
              <a:srgbClr val="1A1A1A">
                <a:alpha val="22000"/>
              </a:srgbClr>
            </a:outerShdw>
          </a:effectLst>
        </p:spPr>
        <p:txBody>
          <a:bodyPr rtlCol="0" anchor="ctr"/>
          <a:lstStyle/>
          <a:p>
            <a:pPr algn="ctr"/>
            <a:endParaRPr>
              <a:latin typeface="Mark Offc For MC" panose="020B0504020101010102" pitchFamily="34" charset="0"/>
            </a:endParaRPr>
          </a:p>
        </p:txBody>
      </p:sp>
      <p:sp>
        <p:nvSpPr>
          <p:cNvPr id="15" name="Rounded Rectangle 14"/>
          <p:cNvSpPr/>
          <p:nvPr/>
        </p:nvSpPr>
        <p:spPr>
          <a:xfrm>
            <a:off x="4648200" y="2235200"/>
            <a:ext cx="558800" cy="558800"/>
          </a:xfrm>
          <a:prstGeom prst="roundRect">
            <a:avLst>
              <a:gd name="adj" fmla="val 26000"/>
            </a:avLst>
          </a:prstGeom>
          <a:solidFill>
            <a:srgbClr val="FFEDE2"/>
          </a:solidFill>
          <a:ln>
            <a:noFill/>
          </a:ln>
          <a:effectLst/>
        </p:spPr>
        <p:txBody>
          <a:bodyPr rtlCol="0" anchor="ctr"/>
          <a:lstStyle/>
          <a:p>
            <a:pPr algn="ctr"/>
            <a:endParaRPr>
              <a:latin typeface="Mark Offc For MC" panose="020B0504020101010102" pitchFamily="34" charset="0"/>
            </a:endParaRPr>
          </a:p>
        </p:txBody>
      </p:sp>
      <p:sp>
        <p:nvSpPr>
          <p:cNvPr id="17" name="TextBox 16"/>
          <p:cNvSpPr txBox="1"/>
          <p:nvPr/>
        </p:nvSpPr>
        <p:spPr>
          <a:xfrm>
            <a:off x="6426200" y="2311400"/>
            <a:ext cx="1143000" cy="200055"/>
          </a:xfrm>
          <a:prstGeom prst="rect">
            <a:avLst/>
          </a:prstGeom>
          <a:noFill/>
        </p:spPr>
        <p:txBody>
          <a:bodyPr wrap="square" lIns="0" tIns="0" rIns="0" bIns="0" anchor="t">
            <a:spAutoFit/>
          </a:bodyPr>
          <a:lstStyle/>
          <a:p>
            <a:pPr algn="r"/>
            <a:r>
              <a:rPr sz="1300" b="0" i="0">
                <a:solidFill>
                  <a:srgbClr val="D84E0C"/>
                </a:solidFill>
                <a:latin typeface="Mark Offc For MC" panose="020B0504020101010102" pitchFamily="34" charset="0"/>
              </a:rPr>
              <a:t>METRICS</a:t>
            </a:r>
          </a:p>
        </p:txBody>
      </p:sp>
      <p:sp>
        <p:nvSpPr>
          <p:cNvPr id="18" name="TextBox 17"/>
          <p:cNvSpPr txBox="1"/>
          <p:nvPr/>
        </p:nvSpPr>
        <p:spPr>
          <a:xfrm>
            <a:off x="4648200" y="2971800"/>
            <a:ext cx="2895600" cy="507831"/>
          </a:xfrm>
          <a:prstGeom prst="rect">
            <a:avLst/>
          </a:prstGeom>
          <a:noFill/>
        </p:spPr>
        <p:txBody>
          <a:bodyPr wrap="square" lIns="0" tIns="0" rIns="0" bIns="0" anchor="t">
            <a:spAutoFit/>
          </a:bodyPr>
          <a:lstStyle/>
          <a:p>
            <a:r>
              <a:rPr sz="1650" b="0" i="0" dirty="0">
                <a:solidFill>
                  <a:srgbClr val="1A1A1A"/>
                </a:solidFill>
                <a:latin typeface="Mark Offc For MC Medium" panose="020B0604020101010102" pitchFamily="34" charset="0"/>
              </a:rPr>
              <a:t>Deep Performance Breakdowns</a:t>
            </a:r>
          </a:p>
        </p:txBody>
      </p:sp>
      <p:cxnSp>
        <p:nvCxnSpPr>
          <p:cNvPr id="19" name="Connector 18"/>
          <p:cNvCxnSpPr/>
          <p:nvPr/>
        </p:nvCxnSpPr>
        <p:spPr>
          <a:xfrm>
            <a:off x="4648200" y="3454400"/>
            <a:ext cx="2895600" cy="0"/>
          </a:xfrm>
          <a:prstGeom prst="line">
            <a:avLst/>
          </a:prstGeom>
          <a:ln w="12700">
            <a:solidFill>
              <a:srgbClr val="EFECE7"/>
            </a:solidFill>
          </a:ln>
        </p:spPr>
      </p:cxnSp>
      <p:sp>
        <p:nvSpPr>
          <p:cNvPr id="20" name="TextBox 19"/>
          <p:cNvSpPr txBox="1"/>
          <p:nvPr/>
        </p:nvSpPr>
        <p:spPr>
          <a:xfrm>
            <a:off x="4648200" y="3632200"/>
            <a:ext cx="2895600" cy="1322029"/>
          </a:xfrm>
          <a:prstGeom prst="rect">
            <a:avLst/>
          </a:prstGeom>
          <a:noFill/>
        </p:spPr>
        <p:txBody>
          <a:bodyPr wrap="square" lIns="0" tIns="0" rIns="0" bIns="0" anchor="t">
            <a:spAutoFit/>
          </a:bodyPr>
          <a:lstStyle/>
          <a:p>
            <a:pPr>
              <a:lnSpc>
                <a:spcPct val="118000"/>
              </a:lnSpc>
              <a:spcAft>
                <a:spcPts val="1000"/>
              </a:spcAft>
            </a:pPr>
            <a:r>
              <a:rPr sz="1200" b="0" i="0" dirty="0">
                <a:solidFill>
                  <a:srgbClr val="FF671B"/>
                </a:solidFill>
                <a:latin typeface="Mark Offc For MC" panose="020B0504020101010102" pitchFamily="34" charset="0"/>
              </a:rPr>
              <a:t>—  </a:t>
            </a:r>
            <a:r>
              <a:rPr sz="1200" b="0" i="0" dirty="0">
                <a:solidFill>
                  <a:srgbClr val="3C3F44"/>
                </a:solidFill>
                <a:latin typeface="Mark Offc For MC" panose="020B0504020101010102" pitchFamily="34" charset="0"/>
              </a:rPr>
              <a:t>Raw &amp; clean auth rate, fraud rate, declined-reason share.</a:t>
            </a:r>
          </a:p>
          <a:p>
            <a:pPr>
              <a:lnSpc>
                <a:spcPct val="118000"/>
              </a:lnSpc>
              <a:spcAft>
                <a:spcPts val="1000"/>
              </a:spcAft>
            </a:pPr>
            <a:r>
              <a:rPr sz="1200" b="0" i="0" dirty="0">
                <a:solidFill>
                  <a:srgbClr val="FF671B"/>
                </a:solidFill>
                <a:latin typeface="Mark Offc For MC" panose="020B0504020101010102" pitchFamily="34" charset="0"/>
              </a:rPr>
              <a:t>—  </a:t>
            </a:r>
            <a:r>
              <a:rPr sz="1200" b="0" i="0" dirty="0">
                <a:solidFill>
                  <a:srgbClr val="3C3F44"/>
                </a:solidFill>
                <a:latin typeface="Mark Offc For MC" panose="020B0504020101010102" pitchFamily="34" charset="0"/>
              </a:rPr>
              <a:t>Count &amp; amount, by credit/debit, CP/CNP, dom/cross-border.</a:t>
            </a:r>
          </a:p>
          <a:p>
            <a:pPr>
              <a:lnSpc>
                <a:spcPct val="118000"/>
              </a:lnSpc>
              <a:spcAft>
                <a:spcPts val="1000"/>
              </a:spcAft>
            </a:pPr>
            <a:r>
              <a:rPr sz="1200" b="0" i="0" dirty="0">
                <a:solidFill>
                  <a:srgbClr val="FF671B"/>
                </a:solidFill>
                <a:latin typeface="Mark Offc For MC" panose="020B0504020101010102" pitchFamily="34" charset="0"/>
              </a:rPr>
              <a:t>—  </a:t>
            </a:r>
            <a:r>
              <a:rPr sz="1200" b="0" i="0" dirty="0">
                <a:solidFill>
                  <a:srgbClr val="3C3F44"/>
                </a:solidFill>
                <a:latin typeface="Mark Offc For MC" panose="020B0504020101010102" pitchFamily="34" charset="0"/>
              </a:rPr>
              <a:t>Tokenization, 3DS, MCC, ticket size &amp; more.</a:t>
            </a:r>
          </a:p>
        </p:txBody>
      </p:sp>
      <p:sp>
        <p:nvSpPr>
          <p:cNvPr id="21" name="Rounded Rectangle 20"/>
          <p:cNvSpPr/>
          <p:nvPr/>
        </p:nvSpPr>
        <p:spPr>
          <a:xfrm>
            <a:off x="8128000" y="1930400"/>
            <a:ext cx="3454400" cy="3810000"/>
          </a:xfrm>
          <a:prstGeom prst="roundRect">
            <a:avLst>
              <a:gd name="adj" fmla="val 5000"/>
            </a:avLst>
          </a:prstGeom>
          <a:solidFill>
            <a:srgbClr val="FFFFFF"/>
          </a:solidFill>
          <a:ln w="12700">
            <a:solidFill>
              <a:srgbClr val="E6E2DC"/>
            </a:solidFill>
          </a:ln>
          <a:effectLst>
            <a:outerShdw blurRad="114300" dist="38100" dir="5400000" rotWithShape="0">
              <a:srgbClr val="1A1A1A">
                <a:alpha val="22000"/>
              </a:srgbClr>
            </a:outerShdw>
          </a:effectLst>
        </p:spPr>
        <p:txBody>
          <a:bodyPr rtlCol="0" anchor="ctr"/>
          <a:lstStyle/>
          <a:p>
            <a:pPr algn="ctr"/>
            <a:endParaRPr>
              <a:latin typeface="Mark Offc For MC" panose="020B0504020101010102" pitchFamily="34" charset="0"/>
            </a:endParaRPr>
          </a:p>
        </p:txBody>
      </p:sp>
      <p:sp>
        <p:nvSpPr>
          <p:cNvPr id="22" name="Rounded Rectangle 21"/>
          <p:cNvSpPr/>
          <p:nvPr/>
        </p:nvSpPr>
        <p:spPr>
          <a:xfrm>
            <a:off x="8407400" y="2235200"/>
            <a:ext cx="558800" cy="558800"/>
          </a:xfrm>
          <a:prstGeom prst="roundRect">
            <a:avLst>
              <a:gd name="adj" fmla="val 26000"/>
            </a:avLst>
          </a:prstGeom>
          <a:solidFill>
            <a:srgbClr val="FFEDE2"/>
          </a:solidFill>
          <a:ln>
            <a:noFill/>
          </a:ln>
          <a:effectLst/>
        </p:spPr>
        <p:txBody>
          <a:bodyPr rtlCol="0" anchor="ctr"/>
          <a:lstStyle/>
          <a:p>
            <a:pPr algn="ctr"/>
            <a:endParaRPr>
              <a:latin typeface="Mark Offc For MC" panose="020B0504020101010102" pitchFamily="34" charset="0"/>
            </a:endParaRPr>
          </a:p>
        </p:txBody>
      </p:sp>
      <p:sp>
        <p:nvSpPr>
          <p:cNvPr id="24" name="TextBox 23"/>
          <p:cNvSpPr txBox="1"/>
          <p:nvPr/>
        </p:nvSpPr>
        <p:spPr>
          <a:xfrm>
            <a:off x="10185400" y="2311400"/>
            <a:ext cx="1143000" cy="200055"/>
          </a:xfrm>
          <a:prstGeom prst="rect">
            <a:avLst/>
          </a:prstGeom>
          <a:noFill/>
        </p:spPr>
        <p:txBody>
          <a:bodyPr wrap="square" lIns="0" tIns="0" rIns="0" bIns="0" anchor="t">
            <a:spAutoFit/>
          </a:bodyPr>
          <a:lstStyle/>
          <a:p>
            <a:pPr algn="r"/>
            <a:r>
              <a:rPr sz="1300" b="0" i="0">
                <a:solidFill>
                  <a:srgbClr val="D84E0C"/>
                </a:solidFill>
                <a:latin typeface="Mark Offc For MC" panose="020B0504020101010102" pitchFamily="34" charset="0"/>
              </a:rPr>
              <a:t>IMPACT</a:t>
            </a:r>
          </a:p>
        </p:txBody>
      </p:sp>
      <p:sp>
        <p:nvSpPr>
          <p:cNvPr id="25" name="TextBox 24"/>
          <p:cNvSpPr txBox="1"/>
          <p:nvPr/>
        </p:nvSpPr>
        <p:spPr>
          <a:xfrm>
            <a:off x="8407400" y="2971800"/>
            <a:ext cx="2895600" cy="253916"/>
          </a:xfrm>
          <a:prstGeom prst="rect">
            <a:avLst/>
          </a:prstGeom>
          <a:noFill/>
        </p:spPr>
        <p:txBody>
          <a:bodyPr wrap="square" lIns="0" tIns="0" rIns="0" bIns="0" anchor="t">
            <a:spAutoFit/>
          </a:bodyPr>
          <a:lstStyle/>
          <a:p>
            <a:r>
              <a:rPr sz="1650" b="0" i="0" dirty="0">
                <a:solidFill>
                  <a:srgbClr val="1A1A1A"/>
                </a:solidFill>
                <a:latin typeface="Mark Offc For MC Medium" panose="020B0604020101010102" pitchFamily="34" charset="0"/>
              </a:rPr>
              <a:t>Value to ACS</a:t>
            </a:r>
          </a:p>
        </p:txBody>
      </p:sp>
      <p:cxnSp>
        <p:nvCxnSpPr>
          <p:cNvPr id="26" name="Connector 25"/>
          <p:cNvCxnSpPr/>
          <p:nvPr/>
        </p:nvCxnSpPr>
        <p:spPr>
          <a:xfrm>
            <a:off x="8407400" y="3454400"/>
            <a:ext cx="2895600" cy="0"/>
          </a:xfrm>
          <a:prstGeom prst="line">
            <a:avLst/>
          </a:prstGeom>
          <a:ln w="12700">
            <a:solidFill>
              <a:srgbClr val="EFECE7"/>
            </a:solidFill>
          </a:ln>
        </p:spPr>
      </p:cxnSp>
      <p:sp>
        <p:nvSpPr>
          <p:cNvPr id="27" name="TextBox 26"/>
          <p:cNvSpPr txBox="1"/>
          <p:nvPr/>
        </p:nvSpPr>
        <p:spPr>
          <a:xfrm>
            <a:off x="8407400" y="3632200"/>
            <a:ext cx="2895600" cy="975908"/>
          </a:xfrm>
          <a:prstGeom prst="rect">
            <a:avLst/>
          </a:prstGeom>
          <a:noFill/>
        </p:spPr>
        <p:txBody>
          <a:bodyPr wrap="square" lIns="0" tIns="0" rIns="0" bIns="0" anchor="t">
            <a:spAutoFit/>
          </a:bodyPr>
          <a:lstStyle/>
          <a:p>
            <a:pPr>
              <a:lnSpc>
                <a:spcPct val="118000"/>
              </a:lnSpc>
              <a:spcAft>
                <a:spcPts val="1000"/>
              </a:spcAft>
            </a:pPr>
            <a:r>
              <a:rPr sz="1200" b="0" i="0" dirty="0">
                <a:solidFill>
                  <a:srgbClr val="FF671B"/>
                </a:solidFill>
                <a:latin typeface="Mark Offc For MC" panose="020B0504020101010102" pitchFamily="34" charset="0"/>
              </a:rPr>
              <a:t>—  </a:t>
            </a:r>
            <a:r>
              <a:rPr sz="1200" b="0" i="0" dirty="0">
                <a:solidFill>
                  <a:srgbClr val="3C3F44"/>
                </a:solidFill>
                <a:latin typeface="Mark Offc For MC" panose="020B0504020101010102" pitchFamily="34" charset="0"/>
              </a:rPr>
              <a:t>Cuts effort on the hardest steps: extraction &amp; peer grouping.</a:t>
            </a:r>
          </a:p>
          <a:p>
            <a:pPr>
              <a:lnSpc>
                <a:spcPct val="118000"/>
              </a:lnSpc>
              <a:spcAft>
                <a:spcPts val="1000"/>
              </a:spcAft>
            </a:pPr>
            <a:r>
              <a:rPr sz="1200" b="0" i="0" dirty="0">
                <a:solidFill>
                  <a:srgbClr val="FF671B"/>
                </a:solidFill>
                <a:latin typeface="Mark Offc For MC" panose="020B0504020101010102" pitchFamily="34" charset="0"/>
              </a:rPr>
              <a:t>—  </a:t>
            </a:r>
            <a:r>
              <a:rPr sz="1200" b="0" i="0" dirty="0">
                <a:solidFill>
                  <a:srgbClr val="3C3F44"/>
                </a:solidFill>
                <a:latin typeface="Mark Offc For MC" panose="020B0504020101010102" pitchFamily="34" charset="0"/>
              </a:rPr>
              <a:t>Frees senior time for higher-margin analysis.</a:t>
            </a:r>
          </a:p>
          <a:p>
            <a:pPr>
              <a:lnSpc>
                <a:spcPct val="118000"/>
              </a:lnSpc>
              <a:spcAft>
                <a:spcPts val="1000"/>
              </a:spcAft>
            </a:pPr>
            <a:r>
              <a:rPr sz="1200" b="0" i="0" dirty="0">
                <a:solidFill>
                  <a:srgbClr val="FF671B"/>
                </a:solidFill>
                <a:latin typeface="Mark Offc For MC" panose="020B0504020101010102" pitchFamily="34" charset="0"/>
              </a:rPr>
              <a:t>—  </a:t>
            </a:r>
            <a:r>
              <a:rPr sz="1200" b="0" i="0" dirty="0">
                <a:solidFill>
                  <a:srgbClr val="3C3F44"/>
                </a:solidFill>
                <a:latin typeface="Mark Offc For MC" panose="020B0504020101010102" pitchFamily="34" charset="0"/>
              </a:rPr>
              <a:t>Unlocks “A&amp;F Report as a Service” revenue.</a:t>
            </a:r>
          </a:p>
        </p:txBody>
      </p:sp>
      <p:sp>
        <p:nvSpPr>
          <p:cNvPr id="29" name="TextBox 28"/>
          <p:cNvSpPr txBox="1"/>
          <p:nvPr/>
        </p:nvSpPr>
        <p:spPr>
          <a:xfrm>
            <a:off x="11912600" y="2931613"/>
            <a:ext cx="100027" cy="2021387"/>
          </a:xfrm>
          <a:prstGeom prst="rect">
            <a:avLst/>
          </a:prstGeom>
          <a:noFill/>
        </p:spPr>
        <p:txBody>
          <a:bodyPr vert="vert270" wrap="none" lIns="0" tIns="0" rIns="0" bIns="0">
            <a:spAutoFit/>
          </a:bodyPr>
          <a:lstStyle/>
          <a:p>
            <a:r>
              <a:rPr sz="650">
                <a:solidFill>
                  <a:srgbClr val="9CA0A6"/>
                </a:solidFill>
                <a:latin typeface="Mark Offc For MC" panose="020B0504020101010102" pitchFamily="34" charset="0"/>
              </a:rPr>
              <a:t>© 2025 Mastercard. Proprietary and Confidential.</a:t>
            </a:r>
          </a:p>
        </p:txBody>
      </p:sp>
      <p:sp>
        <p:nvSpPr>
          <p:cNvPr id="30" name="Oval 29"/>
          <p:cNvSpPr/>
          <p:nvPr/>
        </p:nvSpPr>
        <p:spPr>
          <a:xfrm>
            <a:off x="11080496" y="6248400"/>
            <a:ext cx="330200" cy="330200"/>
          </a:xfrm>
          <a:prstGeom prst="ellipse">
            <a:avLst/>
          </a:prstGeom>
          <a:solidFill>
            <a:srgbClr val="EB001B"/>
          </a:solidFill>
          <a:ln>
            <a:noFill/>
          </a:ln>
          <a:effectLst/>
        </p:spPr>
        <p:txBody>
          <a:bodyPr rtlCol="0" anchor="ctr"/>
          <a:lstStyle/>
          <a:p>
            <a:pPr algn="ctr"/>
            <a:endParaRPr>
              <a:latin typeface="Mark Offc For MC" panose="020B0504020101010102" pitchFamily="34" charset="0"/>
            </a:endParaRPr>
          </a:p>
        </p:txBody>
      </p:sp>
      <p:sp>
        <p:nvSpPr>
          <p:cNvPr id="31" name="Oval 30"/>
          <p:cNvSpPr/>
          <p:nvPr/>
        </p:nvSpPr>
        <p:spPr>
          <a:xfrm>
            <a:off x="11252200" y="6248400"/>
            <a:ext cx="330200" cy="330200"/>
          </a:xfrm>
          <a:prstGeom prst="ellipse">
            <a:avLst/>
          </a:prstGeom>
          <a:solidFill>
            <a:srgbClr val="F79E1B"/>
          </a:solidFill>
          <a:ln>
            <a:noFill/>
          </a:ln>
          <a:effectLst/>
        </p:spPr>
        <p:txBody>
          <a:bodyPr rtlCol="0" anchor="ctr"/>
          <a:lstStyle/>
          <a:p>
            <a:pPr algn="ctr"/>
            <a:endParaRPr>
              <a:latin typeface="Mark Offc For MC" panose="020B0504020101010102" pitchFamily="34" charset="0"/>
            </a:endParaRPr>
          </a:p>
        </p:txBody>
      </p:sp>
      <p:sp>
        <p:nvSpPr>
          <p:cNvPr id="32" name="Oval 31"/>
          <p:cNvSpPr/>
          <p:nvPr/>
        </p:nvSpPr>
        <p:spPr>
          <a:xfrm>
            <a:off x="11252200" y="6272339"/>
            <a:ext cx="158496" cy="282321"/>
          </a:xfrm>
          <a:prstGeom prst="ellipse">
            <a:avLst/>
          </a:prstGeom>
          <a:solidFill>
            <a:srgbClr val="FF5F00"/>
          </a:solidFill>
          <a:ln>
            <a:noFill/>
          </a:ln>
          <a:effectLst/>
        </p:spPr>
        <p:txBody>
          <a:bodyPr rtlCol="0" anchor="ctr"/>
          <a:lstStyle/>
          <a:p>
            <a:pPr algn="ctr"/>
            <a:endParaRPr>
              <a:latin typeface="Mark Offc For MC" panose="020B0504020101010102" pitchFamily="34" charset="0"/>
            </a:endParaRPr>
          </a:p>
        </p:txBody>
      </p:sp>
      <p:pic>
        <p:nvPicPr>
          <p:cNvPr id="34" name="Picture 33">
            <a:extLst>
              <a:ext uri="{FF2B5EF4-FFF2-40B4-BE49-F238E27FC236}">
                <a16:creationId xmlns:a16="http://schemas.microsoft.com/office/drawing/2014/main" id="{1E18CEFF-043C-1899-FDDC-123888D9B11B}"/>
              </a:ext>
            </a:extLst>
          </p:cNvPr>
          <p:cNvPicPr>
            <a:picLocks noChangeAspect="1"/>
          </p:cNvPicPr>
          <p:nvPr/>
        </p:nvPicPr>
        <p:blipFill>
          <a:blip r:embed="rId2"/>
          <a:stretch>
            <a:fillRect/>
          </a:stretch>
        </p:blipFill>
        <p:spPr>
          <a:xfrm>
            <a:off x="939884" y="2296244"/>
            <a:ext cx="446872" cy="446872"/>
          </a:xfrm>
          <a:prstGeom prst="rect">
            <a:avLst/>
          </a:prstGeom>
        </p:spPr>
      </p:pic>
      <p:pic>
        <p:nvPicPr>
          <p:cNvPr id="36" name="Picture 35">
            <a:extLst>
              <a:ext uri="{FF2B5EF4-FFF2-40B4-BE49-F238E27FC236}">
                <a16:creationId xmlns:a16="http://schemas.microsoft.com/office/drawing/2014/main" id="{D5DC0901-10D9-E174-BA95-D3E5BE21DCFA}"/>
              </a:ext>
            </a:extLst>
          </p:cNvPr>
          <p:cNvPicPr>
            <a:picLocks noChangeAspect="1"/>
          </p:cNvPicPr>
          <p:nvPr/>
        </p:nvPicPr>
        <p:blipFill>
          <a:blip r:embed="rId3"/>
          <a:stretch>
            <a:fillRect/>
          </a:stretch>
        </p:blipFill>
        <p:spPr>
          <a:xfrm>
            <a:off x="4703572" y="2287427"/>
            <a:ext cx="448056" cy="448056"/>
          </a:xfrm>
          <a:prstGeom prst="rect">
            <a:avLst/>
          </a:prstGeom>
        </p:spPr>
      </p:pic>
      <p:pic>
        <p:nvPicPr>
          <p:cNvPr id="38" name="Picture 37">
            <a:extLst>
              <a:ext uri="{FF2B5EF4-FFF2-40B4-BE49-F238E27FC236}">
                <a16:creationId xmlns:a16="http://schemas.microsoft.com/office/drawing/2014/main" id="{1D58F0A6-880C-5DB5-54A8-A19FDAE7FEF6}"/>
              </a:ext>
            </a:extLst>
          </p:cNvPr>
          <p:cNvPicPr>
            <a:picLocks noChangeAspect="1"/>
          </p:cNvPicPr>
          <p:nvPr/>
        </p:nvPicPr>
        <p:blipFill>
          <a:blip r:embed="rId4"/>
          <a:stretch>
            <a:fillRect/>
          </a:stretch>
        </p:blipFill>
        <p:spPr>
          <a:xfrm>
            <a:off x="8459216" y="2295060"/>
            <a:ext cx="448056" cy="44805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46241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32687&quot;&gt;&lt;version val=&quot;38688&quot;/&gt;&lt;CPresentation id=&quot;1&quot;&gt;&lt;m_precDefaultOrdinal&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Ordinal&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Percent&gt;&lt;m_precDefaultDate&gt;&lt;m_yearfmt&gt;&lt;begin val=&quot;0&quot;/&gt;&lt;end val=&quot;4&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CPresentation&gt;&lt;/root&gt;"/>
  <p:tag name="FILLLINECOLOR1" val="1796095"/>
  <p:tag name="FILLLINECOLOR2" val="13754623"/>
  <p:tag name="FILLLINECOLOR3" val="10732287"/>
  <p:tag name="FILLLINECOLOR4" val="7775231"/>
  <p:tag name="FILLLINECOLOR5" val="18131"/>
  <p:tag name="FILLLINECOLOR6" val="12173"/>
  <p:tag name="FILLLINECOLOR7" val="3091154"/>
  <p:tag name="FILLLINECOLOR8" val="14013686"/>
  <p:tag name="FILLLINECOLOR9" val="11250158"/>
  <p:tag name="FILLLINECOLOR10" val="8486629"/>
  <p:tag name="FILLLINECOLOR11" val="2301853"/>
  <p:tag name="FILLLINECOLOR12" val="1578345"/>
  <p:tag name="FILLLINECOLOR13" val="8158332"/>
  <p:tag name="FILLLINECOLOR14" val="15263976"/>
  <p:tag name="FILLLINECOLOR15" val="14606046"/>
  <p:tag name="FILLLINECOLOR16" val="12171705"/>
  <p:tag name="FILLLINECOLOR17" val="5329233"/>
  <p:tag name="FILLLINECOLOR18" val="4079166"/>
  <p:tag name="FILLLINECOLOR19" val="0"/>
  <p:tag name="FILLLINECOLOR20" val="16777215"/>
  <p:tag name="FILLLINECOLOR22" val="3062157"/>
  <p:tag name="FILLLINECOLOR23" val="2083071"/>
  <p:tag name="FILLLINECOLOR24" val="35827"/>
  <p:tag name="FONTCOLORNUMBER1" val="1"/>
  <p:tag name="FONTCOLORNUMBER2" val="7"/>
  <p:tag name="FONTCOLORNUMBER3" val="16"/>
  <p:tag name="FONTCOLORNUMBER4" val="13"/>
  <p:tag name="FONTCOLORNUMBER5" val="19"/>
  <p:tag name="FONTCOLORNUMBER6" val="20"/>
  <p:tag name="FONTCOLOR1" val="1796095"/>
  <p:tag name="FONTCOLOR2" val="3091154"/>
  <p:tag name="FONTCOLOR3" val="12171705"/>
  <p:tag name="FONTCOLOR4" val="8158332"/>
  <p:tag name="FONTCOLOR5" val="0"/>
  <p:tag name="FONTCOLOR6" val="16777215"/>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oD.8tYgTm7AsprEGDpXcC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roPX.czeZD7pu0NYlyOwh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Ao6Cx9CkFjLnmhIQ05H7M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kRpax..F_AqmNu6_Gjgpe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RXfY5cRqToJ2cS2nv2i54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5uxkXYxWwBtqiuLA9wElJ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llA45J4b6ArXCyZiuOgYh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i29qzwjLhSNbCHIA8VhMW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I0SSkD2bRM.AN6aZ4toxI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dwwBj4RuGW1kHQa4TpO9u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Inter Display"/>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C380A9EB576CE44B8C07676FB73F429" ma:contentTypeVersion="13" ma:contentTypeDescription="Create a new document." ma:contentTypeScope="" ma:versionID="5799d69173a115db7d71ddfef66b66cd">
  <xsd:schema xmlns:xsd="http://www.w3.org/2001/XMLSchema" xmlns:xs="http://www.w3.org/2001/XMLSchema" xmlns:p="http://schemas.microsoft.com/office/2006/metadata/properties" xmlns:ns1="http://schemas.microsoft.com/sharepoint/v3" xmlns:ns3="9daa7ee6-cae4-4515-ac29-e6e250141e00" targetNamespace="http://schemas.microsoft.com/office/2006/metadata/properties" ma:root="true" ma:fieldsID="8237e4ee86d3650cdd7fadf286eccce9" ns1:_="" ns3:_="">
    <xsd:import namespace="http://schemas.microsoft.com/sharepoint/v3"/>
    <xsd:import namespace="9daa7ee6-cae4-4515-ac29-e6e250141e00"/>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SystemTags" minOccurs="0"/>
                <xsd:element ref="ns3:MediaServiceOCR" minOccurs="0"/>
                <xsd:element ref="ns3:MediaServiceGenerationTime" minOccurs="0"/>
                <xsd:element ref="ns3:MediaServiceEventHashCode" minOccurs="0"/>
                <xsd:element ref="ns3:_activity" minOccurs="0"/>
                <xsd:element ref="ns3:MediaLengthInSeconds" minOccurs="0"/>
                <xsd:element ref="ns1:_ip_UnifiedCompliancePolicyProperties" minOccurs="0"/>
                <xsd:element ref="ns1:_ip_UnifiedCompliancePolicyUIAction"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daa7ee6-cae4-4515-ac29-e6e250141e00"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SystemTags" ma:index="12" nillable="true" ma:displayName="MediaServiceSystemTags" ma:hidden="true" ma:internalName="MediaServiceSystemTags" ma:readOnly="true">
      <xsd:simpleType>
        <xsd:restriction base="dms:Note"/>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_activity" ma:index="16" nillable="true" ma:displayName="_activity" ma:hidden="true" ma:internalName="_activity">
      <xsd:simpleType>
        <xsd:restriction base="dms:Note"/>
      </xsd:simpleType>
    </xsd:element>
    <xsd:element name="MediaLengthInSeconds" ma:index="17"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_activity xmlns="9daa7ee6-cae4-4515-ac29-e6e250141e00" xsi:nil="true"/>
  </documentManagement>
</p:properties>
</file>

<file path=customXml/itemProps1.xml><?xml version="1.0" encoding="utf-8"?>
<ds:datastoreItem xmlns:ds="http://schemas.openxmlformats.org/officeDocument/2006/customXml" ds:itemID="{B825164D-CAA5-4455-BBA1-77B7E1D2BC7A}">
  <ds:schemaRefs>
    <ds:schemaRef ds:uri="http://schemas.microsoft.com/sharepoint/v3/contenttype/forms"/>
  </ds:schemaRefs>
</ds:datastoreItem>
</file>

<file path=customXml/itemProps2.xml><?xml version="1.0" encoding="utf-8"?>
<ds:datastoreItem xmlns:ds="http://schemas.openxmlformats.org/officeDocument/2006/customXml" ds:itemID="{E3407A6B-193D-48EA-A347-B8F6AE6BC9B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daa7ee6-cae4-4515-ac29-e6e250141e0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BDF36D2-5E40-4F54-B3C8-39542AAC0004}">
  <ds:schemaRefs>
    <ds:schemaRef ds:uri="http://purl.org/dc/terms/"/>
    <ds:schemaRef ds:uri="http://schemas.openxmlformats.org/package/2006/metadata/core-properties"/>
    <ds:schemaRef ds:uri="http://purl.org/dc/elements/1.1/"/>
    <ds:schemaRef ds:uri="9daa7ee6-cae4-4515-ac29-e6e250141e00"/>
    <ds:schemaRef ds:uri="http://schemas.microsoft.com/office/2006/documentManagement/types"/>
    <ds:schemaRef ds:uri="http://purl.org/dc/dcmitype/"/>
    <ds:schemaRef ds:uri="http://www.w3.org/XML/1998/namespace"/>
    <ds:schemaRef ds:uri="http://schemas.microsoft.com/office/infopath/2007/PartnerControls"/>
    <ds:schemaRef ds:uri="http://schemas.microsoft.com/sharepoint/v3"/>
    <ds:schemaRef ds:uri="http://schemas.microsoft.com/office/2006/metadata/properties"/>
  </ds:schemaRefs>
</ds:datastoreItem>
</file>

<file path=docMetadata/LabelInfo.xml><?xml version="1.0" encoding="utf-8"?>
<clbl:labelList xmlns:clbl="http://schemas.microsoft.com/office/2020/mipLabelMetadata">
  <clbl:label id="{df2f77bf-ac71-4d31-be38-cc6a5f811e56}" enabled="1" method="Privileged" siteId="{f06fa858-824b-4a85-aacb-f372cfdc282e}" contentBits="0" removed="0"/>
</clbl:labelList>
</file>

<file path=docProps/app.xml><?xml version="1.0" encoding="utf-8"?>
<Properties xmlns="http://schemas.openxmlformats.org/officeDocument/2006/extended-properties" xmlns:vt="http://schemas.openxmlformats.org/officeDocument/2006/docPropsVTypes">
  <TotalTime>240</TotalTime>
  <Words>1356</Words>
  <Application>Microsoft Office PowerPoint</Application>
  <PresentationFormat>Widescreen</PresentationFormat>
  <Paragraphs>278</Paragraphs>
  <Slides>15</Slides>
  <Notes>2</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28" baseType="lpstr">
      <vt:lpstr>Mark Offc For MC Heavy</vt:lpstr>
      <vt:lpstr>Inter</vt:lpstr>
      <vt:lpstr>Inter SemiBold</vt:lpstr>
      <vt:lpstr>MarkForMC Nrw O</vt:lpstr>
      <vt:lpstr>Aptos</vt:lpstr>
      <vt:lpstr>Arial</vt:lpstr>
      <vt:lpstr>Mark Offc For MC Light</vt:lpstr>
      <vt:lpstr>Inter Display</vt:lpstr>
      <vt:lpstr>Mark Offc For MC Medium</vt:lpstr>
      <vt:lpstr>Mark Offc For MC</vt:lpstr>
      <vt:lpstr>Inter Medium</vt:lpstr>
      <vt:lpstr>Office Theme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Pedro Chagas</dc:creator>
  <cp:keywords/>
  <dc:description>generated using python-pptx</dc:description>
  <cp:lastModifiedBy>Pedro Chagas</cp:lastModifiedBy>
  <cp:revision>5</cp:revision>
  <dcterms:created xsi:type="dcterms:W3CDTF">2013-01-27T09:14:16Z</dcterms:created>
  <dcterms:modified xsi:type="dcterms:W3CDTF">2026-06-16T16:14:19Z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0x010100EC380A9EB576CE44B8C07676FB73F429</vt:lpwstr>
  </property>
</Properties>
</file>