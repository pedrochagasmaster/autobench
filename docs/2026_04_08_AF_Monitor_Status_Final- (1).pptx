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1"/>
  </p:sldMasterIdLst>
  <p:notesMasterIdLst>
    <p:notesMasterId r:id="rId8"/>
  </p:notesMasterIdLst>
  <p:handoutMasterIdLst>
    <p:handoutMasterId r:id="rId9"/>
  </p:handoutMasterIdLst>
  <p:sldIdLst>
    <p:sldId id="256" r:id="rId2"/>
    <p:sldId id="2147328270" r:id="rId3"/>
    <p:sldId id="2147328273" r:id="rId4"/>
    <p:sldId id="2147328272" r:id="rId5"/>
    <p:sldId id="2147328274" r:id="rId6"/>
    <p:sldId id="2147328271" r:id="rId7"/>
  </p:sldIdLst>
  <p:sldSz cx="9144000" cy="5143500" type="screen16x9"/>
  <p:notesSz cx="7023100" cy="9309100"/>
  <p:custDataLst>
    <p:tags r:id="rId10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6" userDrawn="1">
          <p15:clr>
            <a:srgbClr val="A4A3A4"/>
          </p15:clr>
        </p15:guide>
        <p15:guide id="2" pos="5568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0070C0"/>
    <a:srgbClr val="F38B00"/>
    <a:srgbClr val="00B050"/>
    <a:srgbClr val="EB001B"/>
    <a:srgbClr val="FF671B"/>
    <a:srgbClr val="4FCDB0"/>
    <a:srgbClr val="FEFEFE"/>
    <a:srgbClr val="24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F22C1-F61E-4858-8FF7-DBE12206D811}" v="1" dt="2026-04-16T13:02:56.534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696" y="67"/>
      </p:cViewPr>
      <p:guideLst>
        <p:guide pos="216"/>
        <p:guide pos="556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B53C8EB-E3D3-454A-A062-9B9000C8907A}" type="slidenum">
              <a:rPr lang="en-US" smtClean="0">
                <a:latin typeface="Mark Offc For MC" panose="020B0504020101010102" pitchFamily="34" charset="0"/>
              </a:rPr>
              <a:t>‹#›</a:t>
            </a:fld>
            <a:endParaRPr lang="en-US">
              <a:latin typeface="Mark Offc For MC" panose="020B0504020101010102" pitchFamily="34" charset="0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>
              <a:latin typeface="Mark Offc For MC" panose="020B0504020101010102" pitchFamily="34" charset="0"/>
            </a:endParaRPr>
          </a:p>
        </p:txBody>
      </p:sp>
      <p:sp>
        <p:nvSpPr>
          <p:cNvPr id="3" name="Date Placeholder 3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endParaRPr lang="en-US">
              <a:latin typeface="Mark Offc For MC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41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>
                <a:latin typeface="Mark Offc For MC" panose="020B0504020101010102" pitchFamily="34" charset="0"/>
              </a:defRPr>
            </a:lvl1pPr>
          </a:lstStyle>
          <a:p>
            <a:fld id="{9D321C93-C6C5-43C9-BDBB-3B3926036F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Mark Offc For MC" panose="020B0504020101010102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>
                <a:latin typeface="Mark Offc For MC" panose="020B0504020101010102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" name="Header Placeholder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Mark Offc For MC" panose="020B0504020101010102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9771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685800" rtl="0" eaLnBrk="1" latinLnBrk="0" hangingPunct="1"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1pPr>
    <a:lvl2pPr marL="228600" indent="-228600" algn="l" defTabSz="685800" rtl="0" eaLnBrk="1" latinLnBrk="0" hangingPunct="1">
      <a:buFont typeface="Mark Offc For MC" panose="020B0504020101010102" pitchFamily="34" charset="0"/>
      <a:buChar char="•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2pPr>
    <a:lvl3pPr marL="406400" indent="-177800" algn="l" defTabSz="685800" rtl="0" eaLnBrk="1" latinLnBrk="0" hangingPunct="1">
      <a:buFont typeface="Mark Offc For MC" panose="020B0504020101010102" pitchFamily="34" charset="0"/>
      <a:buChar char="–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3pPr>
    <a:lvl4pPr marL="577850" indent="-171450" algn="l" defTabSz="685800" rtl="0" eaLnBrk="1" latinLnBrk="0" hangingPunct="1">
      <a:buFont typeface="Mark Offc For MC" panose="020B0504020101010102" pitchFamily="34" charset="0"/>
      <a:buChar char="•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4pPr>
    <a:lvl5pPr marL="800100" indent="-228600" algn="l" defTabSz="685800" rtl="0" eaLnBrk="1" latinLnBrk="0" hangingPunct="1">
      <a:buFont typeface="Mark Offc For MC" panose="020B0504020101010102" pitchFamily="34" charset="0"/>
      <a:buChar char="–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AE39-3B54-B295-F1CA-B68745DB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6B28B-1642-AC36-DB3B-C0CFC3CB2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9267D-6F8F-7B45-66F1-561E39A19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B7F8-D758-D0E1-B598-7CF69DC3E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21C93-C6C5-43C9-BDBB-3B3926036F6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4FACA-0380-A8A1-4D1B-6CB2358327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136778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7932-6CE0-0727-7DAC-4D779EC6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1FEE8-2A9E-2E6F-3202-6BA58ACF4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59BE5-8378-14A1-EBC9-FB75A9288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1672F-102D-68C8-A108-EF9ABB6AA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21C93-C6C5-43C9-BDBB-3B3926036F6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976A3-C698-7C2D-FCA5-649A831D7D9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2863129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F865-D4E1-784D-00EF-21D4DC57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29F39-1CC2-6206-A5CE-A5CB7A471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75889-ECFD-DD1A-4033-91C53C6EA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C6DC-0D3B-7207-9F2D-2C5AEE3BF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21C93-C6C5-43C9-BDBB-3B3926036F6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56795-D9D4-5BB1-C494-F222815711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147331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EA4E-CF2B-8570-7312-D99149FA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951B1-4EDC-5E05-937C-C4B603E95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2BBBA-E5ED-DD5B-9FB0-3E6075071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6C5D9-8973-9E68-EF13-730337E52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21C93-C6C5-43C9-BDBB-3B3926036F6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747AE-F0EA-1174-AA8C-AA10D0F7B06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2178801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A90C-2E99-E69B-9581-BA273026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E61DF-84BB-A49E-9AD0-79B875BBC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B2699-2DC9-68D9-0B4F-30286CF3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3788D-D4EC-A3F7-85FF-ACFFB5089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21C93-C6C5-43C9-BDBB-3B3926036F6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8C69C-9DA1-4F7D-0193-D682815C59A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3122851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/>
              <a:t>Click to add presenter name, department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aphic 9">
            <a:extLst>
              <a:ext uri="{FF2B5EF4-FFF2-40B4-BE49-F238E27FC236}">
                <a16:creationId xmlns:a16="http://schemas.microsoft.com/office/drawing/2014/main" id="{28569B48-3CBC-4E67-8F4C-8DE5AF65916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118976-F83B-4161-8DA3-9BD54B2A61B3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F533C0F-710F-43B4-AB60-15799585F936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5A42B5-E23A-4E96-ABCD-201030ED05A6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889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phic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/>
              <a:t>Click to add presenter name, department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143DA5ED-EC8F-47D7-99AF-FFD50025629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8644FF-21BA-44E2-97CD-A0A837D4E01B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0FC94E2-E937-4C00-884F-B06ADD316975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292F27-EB87-4FC0-9253-ED0366702A7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16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phic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/>
              <a:t>Click to add presenter name, department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aphic 9">
            <a:extLst>
              <a:ext uri="{FF2B5EF4-FFF2-40B4-BE49-F238E27FC236}">
                <a16:creationId xmlns:a16="http://schemas.microsoft.com/office/drawing/2014/main" id="{A4AE44F8-1426-47A8-AD24-1B39E53FC2A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3135D-F028-4808-98B4-75D1C3D0E912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CE0B3E-E368-402F-BDF2-14974FDD38A3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8284E4-ECF5-4258-A538-80CAEFFEE4A2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663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94918C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10" name="TitleSlideNameDept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736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/>
              <a:t>Click to add presenter name, department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736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4" name="Subtitle 2"/>
          <p:cNvSpPr>
            <a:spLocks noGrp="1"/>
          </p:cNvSpPr>
          <p:nvPr>
            <p:ph type="subTitle" idx="1"/>
          </p:nvPr>
        </p:nvSpPr>
        <p:spPr bwMode="gray">
          <a:xfrm>
            <a:off x="4736592" y="2717911"/>
            <a:ext cx="4365625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 bwMode="gray">
          <a:xfrm>
            <a:off x="4736592" y="1627432"/>
            <a:ext cx="4365625" cy="1077218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0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EC174CAE-497F-4E7B-84CB-F92F060DD7F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2112A1-9683-450E-B8A2-06BB6B84FDD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D67448-829A-4CEE-8E92-CEB47F8F013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655F13-44A2-4E56-BAD4-49EDFD7B63C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586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10" name="TitleSlideNameDept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736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/>
              <a:t>Click to add presenter name, department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736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24" name="Subtitle 2"/>
          <p:cNvSpPr>
            <a:spLocks noGrp="1"/>
          </p:cNvSpPr>
          <p:nvPr>
            <p:ph type="subTitle" idx="1"/>
          </p:nvPr>
        </p:nvSpPr>
        <p:spPr bwMode="gray">
          <a:xfrm>
            <a:off x="4736592" y="2717911"/>
            <a:ext cx="4365625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 bwMode="gray">
          <a:xfrm>
            <a:off x="4736592" y="1627432"/>
            <a:ext cx="4365625" cy="1077218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0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D987D73D-9CBF-4D4A-9C6D-C2A04B4CDB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464F4A-AA1E-412C-AC88-620F9044FCB8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59E2ED-8B2B-4FC0-8A68-EBBCA7E2F04A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8818FD-F4B8-4217-A2EA-8851C8CEE666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186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88412"/>
          </a:xfrm>
        </p:spPr>
        <p:txBody>
          <a:bodyPr/>
          <a:lstStyle>
            <a:lvl1pPr marL="342900" indent="-342900">
              <a:buSzPct val="50000"/>
              <a:buFont typeface="+mj-lt"/>
              <a:buAutoNum type="arabicPeriod"/>
              <a:defRPr sz="2200"/>
            </a:lvl1pPr>
            <a:lvl2pPr marL="511175" indent="-138113">
              <a:buFont typeface="Mark Offc For MC" panose="020B0604020202020204" pitchFamily="34" charset="0"/>
              <a:buChar char="•"/>
              <a:defRPr/>
            </a:lvl2pPr>
            <a:lvl3pPr marL="514350" indent="0">
              <a:buNone/>
              <a:defRPr/>
            </a:lvl3pPr>
            <a:lvl4pPr marL="747713" indent="-131763">
              <a:defRPr/>
            </a:lvl4pPr>
            <a:lvl5pPr marL="855663" indent="-1143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87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87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164594" y="727556"/>
            <a:ext cx="8412854" cy="3592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483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, Subtitle and Content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93789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86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, Sub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87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86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7705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6448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long tit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164593" y="727513"/>
            <a:ext cx="3897622" cy="3595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4679824" y="727555"/>
            <a:ext cx="3897623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4462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23"/>
            <a:ext cx="2642070" cy="4129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5377" y="192023"/>
            <a:ext cx="2642070" cy="4129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3403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long title) with Sub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5"/>
            <a:ext cx="2642616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727555"/>
            <a:ext cx="2642616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269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7"/>
            <a:ext cx="2642616" cy="4129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192087"/>
            <a:ext cx="2642616" cy="4129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388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7"/>
            <a:ext cx="2642616" cy="4129257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192087"/>
            <a:ext cx="2642616" cy="4129257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657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lon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2" y="192025"/>
            <a:ext cx="8412855" cy="310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85289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</p:spTree>
    <p:extLst>
      <p:ext uri="{BB962C8B-B14F-4D97-AF65-F5344CB8AC3E}">
        <p14:creationId xmlns:p14="http://schemas.microsoft.com/office/powerpoint/2010/main" val="3018299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/>
          <a:p>
            <a:r>
              <a:rPr lang="en-US"/>
              <a:t>agosto 20, 2024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1"/>
            <a:ext cx="9144000" cy="4563910"/>
          </a:xfrm>
        </p:spPr>
        <p:txBody>
          <a:bodyPr tIns="182880" rIns="91440" bIns="1005840" anchor="b" anchorCtr="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5355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4919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5238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8" name="Graphic 9">
            <a:extLst>
              <a:ext uri="{FF2B5EF4-FFF2-40B4-BE49-F238E27FC236}">
                <a16:creationId xmlns:a16="http://schemas.microsoft.com/office/drawing/2014/main" id="{FC7AEDB7-9474-4069-B4D4-90D81ACEA78B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4F48FD-74BA-4822-AAA7-5023C048C43B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F80409-8248-4F08-B70D-7CDEDBB80330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F2DFB3-402C-4089-890D-CDB8ABDAB783}"/>
                </a:ext>
              </a:extLst>
            </p:cNvPr>
            <p:cNvSpPr/>
            <p:nvPr/>
          </p:nvSpPr>
          <p:spPr bwMode="gray">
            <a:xfrm>
              <a:off x="803719" y="1309322"/>
              <a:ext cx="561975" cy="695323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5637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Graphic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3696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835165F6-C617-48D4-88BD-8DAB507BC64F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5E62B0-9698-40CD-98C6-5E76706D8EE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1BD7A6-CF8A-491C-A7B1-3AC7F0BAC2C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2A0427-CDA9-4104-80E0-62E1A331DB9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9329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Graphic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6671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B96E7C20-9D5B-4B22-8E28-AA0C8A79B1D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17C018-D808-4F4A-89EC-7FB08C50DEC6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234C8A-EDFE-44F9-B336-B874D8FBCFF4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233F1A-C03B-4B5A-A406-CC4E8F93C8B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45896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735302" y="1627632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AA6011C-9C86-479C-B246-782AA50C00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736593" y="292608"/>
            <a:ext cx="2560320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12B85802-BB39-4C5D-A505-1607C4D030E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F22D6E-0EEA-49F1-90F5-07F1770A122C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7D5DE4-5B24-402B-B21C-66683008D4C8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222EFE-0F64-4BE7-87F0-0BD8C2C5055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3222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736593" y="292608"/>
            <a:ext cx="2560320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736594" y="1627632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A997D84B-8700-4048-9AFB-D2EE18AAB3F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B1EA1D-AF85-4582-B713-59B65B319019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CE11EF-BDAB-4188-9F79-B9A1F623891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FB5709-A4E1-44C9-AF52-CBCBBC9D571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844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G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49907014-6222-48C8-8BF4-F1CD909E909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9144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3696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835165F6-C617-48D4-88BD-8DAB507BC64F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5E62B0-9698-40CD-98C6-5E76706D8EE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1BD7A6-CF8A-491C-A7B1-3AC7F0BAC2C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2A0427-CDA9-4104-80E0-62E1A331DB9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1497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G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68F5605-B119-4D18-B4B6-D5629B4436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9144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/>
              <a:t>Click icon to add image.</a:t>
            </a:r>
            <a:br>
              <a:rPr lang="en-US"/>
            </a:br>
            <a:r>
              <a:rPr lang="en-US"/>
              <a:t>Get </a:t>
            </a:r>
            <a:r>
              <a:rPr lang="en-US" err="1"/>
              <a:t>Mastercard</a:t>
            </a:r>
            <a:r>
              <a:rPr lang="en-US"/>
              <a:t> approved photography and</a:t>
            </a:r>
            <a:br>
              <a:rPr lang="en-US"/>
            </a:br>
            <a:r>
              <a:rPr lang="en-US"/>
              <a:t>imagery guidelines at designcenter.mastercard.com.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6671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B96E7C20-9D5B-4B22-8E28-AA0C8A79B1D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17C018-D808-4F4A-89EC-7FB08C50DEC6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234C8A-EDFE-44F9-B336-B874D8FBCFF4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233F1A-C03B-4B5A-A406-CC4E8F93C8B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419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7AAB507-1F41-7AB9-BA24-CEAB14B7F6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1073588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622" imgH="623" progId="TCLayout.ActiveDocument.1">
                  <p:embed/>
                </p:oleObj>
              </mc:Choice>
              <mc:Fallback>
                <p:oleObj name="think-cell Slide" r:id="rId30" imgW="622" imgH="6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AAB507-1F41-7AB9-BA24-CEAB14B7F6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egal"/>
          <p:cNvSpPr/>
          <p:nvPr/>
        </p:nvSpPr>
        <p:spPr bwMode="gray">
          <a:xfrm>
            <a:off x="8980380" y="3130867"/>
            <a:ext cx="90964" cy="1481030"/>
          </a:xfrm>
          <a:prstGeom prst="rect">
            <a:avLst/>
          </a:prstGeom>
        </p:spPr>
        <p:txBody>
          <a:bodyPr vert="vert270" wrap="none" lIns="91440" tIns="45720" rIns="91440" bIns="45720" rtlCol="0" anchor="ctr"/>
          <a:lstStyle/>
          <a:p>
            <a:pPr lvl="0"/>
            <a:r>
              <a:rPr lang="en-US" sz="400" b="0" cap="none" baseline="0" noProof="0">
                <a:solidFill>
                  <a:srgbClr val="A2A2A2"/>
                </a:solidFill>
                <a:latin typeface="Mark Offc For MC" panose="020B0504020101010102" pitchFamily="34" charset="0"/>
              </a:rPr>
              <a:t>©2024 Mastercard. Proprietary and Confidential</a:t>
            </a:r>
            <a:endParaRPr lang="en-US" sz="400" b="0" cap="none" baseline="0">
              <a:solidFill>
                <a:srgbClr val="A2A2A2"/>
              </a:solidFill>
              <a:latin typeface="Mark Offc For MC" panose="020B0504020101010102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7492" y="4810812"/>
            <a:ext cx="228598" cy="273844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600" b="1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fld id="{3AB2DB24-5BB4-4F1B-973E-A10FA63D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40082" y="4810812"/>
            <a:ext cx="3319272" cy="273844"/>
          </a:xfrm>
          <a:prstGeom prst="rect">
            <a:avLst/>
          </a:prstGeom>
        </p:spPr>
        <p:txBody>
          <a:bodyPr vert="horz" lIns="91440" tIns="45720" rIns="0" bIns="45720" rtlCol="0" anchor="ctr" anchorCtr="0"/>
          <a:lstStyle>
            <a:lvl1pPr algn="l">
              <a:defRPr sz="600" b="1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6628632" y="4810812"/>
            <a:ext cx="14529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r>
              <a:rPr lang="en-US"/>
              <a:t>agosto 20, 2024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119090" y="192024"/>
            <a:ext cx="5458358" cy="4125806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64593" y="192025"/>
            <a:ext cx="2725897" cy="5355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4" name="Graphic 9">
            <a:extLst>
              <a:ext uri="{FF2B5EF4-FFF2-40B4-BE49-F238E27FC236}">
                <a16:creationId xmlns:a16="http://schemas.microsoft.com/office/drawing/2014/main" id="{365FFD04-32CD-42E8-AB33-F3E93FC9D37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401987" y="4695711"/>
            <a:ext cx="482352" cy="300342"/>
            <a:chOff x="248864" y="1309239"/>
            <a:chExt cx="1116830" cy="69540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C3C96D2-0175-49F5-84A9-989686AF4BEC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575159-1EA0-47EC-A342-C29256969DF2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BB922E-38FB-4554-912E-59A49A219300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863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1"/>
          </a:solidFill>
          <a:latin typeface="Mark Offc For MC Medium" panose="020B0604020101010102" pitchFamily="34" charset="0"/>
          <a:ea typeface="+mj-ea"/>
          <a:cs typeface="+mj-cs"/>
        </a:defRPr>
      </a:lvl1pPr>
    </p:titleStyle>
    <p:bodyStyle>
      <a:lvl1pPr marL="115885" indent="-115885" algn="l" defTabSz="685783" rtl="0" eaLnBrk="1" latinLnBrk="0" hangingPunct="1">
        <a:lnSpc>
          <a:spcPct val="90000"/>
        </a:lnSpc>
        <a:spcBef>
          <a:spcPts val="1200"/>
        </a:spcBef>
        <a:buFont typeface="Mark Offc For MC" panose="020B0504020101010102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87331" indent="-139697" algn="l" defTabSz="685783" rtl="0" eaLnBrk="1" latinLnBrk="0" hangingPunct="1">
        <a:lnSpc>
          <a:spcPct val="90000"/>
        </a:lnSpc>
        <a:spcBef>
          <a:spcPts val="200"/>
        </a:spcBef>
        <a:buFont typeface="Mark Offc For MC" panose="020B0504020101010102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03215" indent="-115885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68311" indent="-133347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684196" indent="-115885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1620">
          <p15:clr>
            <a:srgbClr val="F26B43"/>
          </p15:clr>
        </p15:guide>
        <p15:guide id="8" pos="2880">
          <p15:clr>
            <a:srgbClr val="F26B43"/>
          </p15:clr>
        </p15:guide>
        <p15:guide id="9" pos="1919">
          <p15:clr>
            <a:srgbClr val="F26B43"/>
          </p15:clr>
        </p15:guide>
        <p15:guide id="10" pos="3843">
          <p15:clr>
            <a:srgbClr val="F26B43"/>
          </p15:clr>
        </p15:guide>
        <p15:guide id="11" orient="horz" pos="2903">
          <p15:clr>
            <a:srgbClr val="F26B43"/>
          </p15:clr>
        </p15:guide>
        <p15:guide id="12" orient="horz" pos="30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6" Type="http://schemas.openxmlformats.org/officeDocument/2006/relationships/hyperlink" Target="https://stl.lb.tableau.mastercard.int:45497/#/views/AFDashboard3003test/00?:iid=1" TargetMode="External"/><Relationship Id="rId5" Type="http://schemas.openxmlformats.org/officeDocument/2006/relationships/image" Target="../media/image4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297D30E-1C6E-78B2-52D9-D4AC2BDDC26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2363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2" imgH="623" progId="TCLayout.ActiveDocument.1">
                  <p:embed/>
                </p:oleObj>
              </mc:Choice>
              <mc:Fallback>
                <p:oleObj name="think-cell Slide" r:id="rId3" imgW="622" imgH="6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97D30E-1C6E-78B2-52D9-D4AC2BDDC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D441C-FC64-4AF9-9122-B3A9CA8CD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4592" y="3466431"/>
            <a:ext cx="4704588" cy="170816"/>
          </a:xfrm>
        </p:spPr>
        <p:txBody>
          <a:bodyPr/>
          <a:lstStyle/>
          <a:p>
            <a:r>
              <a:rPr lang="en-US"/>
              <a:t>Performance Analytics and Business Dashboards OC Brazil, Advisors Client Services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22EE9-C5EB-493E-88F5-0DB7DDC2C20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April 8</a:t>
            </a:r>
            <a:r>
              <a:rPr lang="en-US" baseline="30000"/>
              <a:t>th</a:t>
            </a:r>
            <a:r>
              <a:rPr lang="en-US"/>
              <a:t>, 2026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DEAAAE5-DC22-4DA6-9B64-D9A07E824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Delivery and final steps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9B3B9A-3335-4A99-8CC1-5F0044ED1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1" y="2021387"/>
            <a:ext cx="6702552" cy="683264"/>
          </a:xfrm>
        </p:spPr>
        <p:txBody>
          <a:bodyPr vert="horz"/>
          <a:lstStyle/>
          <a:p>
            <a:r>
              <a:rPr lang="en-US"/>
              <a:t>A&amp;F Dashboard</a:t>
            </a:r>
          </a:p>
        </p:txBody>
      </p:sp>
    </p:spTree>
    <p:extLst>
      <p:ext uri="{BB962C8B-B14F-4D97-AF65-F5344CB8AC3E}">
        <p14:creationId xmlns:p14="http://schemas.microsoft.com/office/powerpoint/2010/main" val="10267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17910-FB70-A4D9-8E68-61D766FF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90358B1-4751-21C8-69F0-7DD77EB1D09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9769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90358B1-4751-21C8-69F0-7DD77EB1D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Rectangle 121">
            <a:extLst>
              <a:ext uri="{FF2B5EF4-FFF2-40B4-BE49-F238E27FC236}">
                <a16:creationId xmlns:a16="http://schemas.microsoft.com/office/drawing/2014/main" id="{6550EB95-5983-1F7D-56D5-25D3F48DADFF}"/>
              </a:ext>
            </a:extLst>
          </p:cNvPr>
          <p:cNvSpPr/>
          <p:nvPr/>
        </p:nvSpPr>
        <p:spPr bwMode="gray">
          <a:xfrm>
            <a:off x="4579061" y="1027442"/>
            <a:ext cx="3750426" cy="35940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57F99A7-8508-ABEE-C2A2-732F7E19E336}"/>
              </a:ext>
            </a:extLst>
          </p:cNvPr>
          <p:cNvSpPr/>
          <p:nvPr/>
        </p:nvSpPr>
        <p:spPr bwMode="gray">
          <a:xfrm>
            <a:off x="573963" y="1027442"/>
            <a:ext cx="3750426" cy="35940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B4CE8C7-8844-BDBE-4AE5-F1046B40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653942" cy="535531"/>
          </a:xfrm>
        </p:spPr>
        <p:txBody>
          <a:bodyPr vert="horz"/>
          <a:lstStyle/>
          <a:p>
            <a:r>
              <a:rPr lang="en-US" sz="1600" b="1">
                <a:solidFill>
                  <a:srgbClr val="171717"/>
                </a:solidFill>
                <a:effectLst/>
                <a:latin typeface="Mark Offc For MC Medium" panose="020B0604020101010102" pitchFamily="34" charset="0"/>
              </a:rPr>
              <a:t>The dashboard was developed under Q1’26 with investment code hours provided by the Product team to create a more scalable solution fo</a:t>
            </a:r>
            <a:r>
              <a:rPr lang="en-US" b="1">
                <a:solidFill>
                  <a:srgbClr val="171717"/>
                </a:solidFill>
              </a:rPr>
              <a:t>r LAC market</a:t>
            </a:r>
            <a:endParaRPr lang="pt-BR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638D11-9512-CE0B-4649-E400656DF5D3}"/>
              </a:ext>
            </a:extLst>
          </p:cNvPr>
          <p:cNvGrpSpPr/>
          <p:nvPr/>
        </p:nvGrpSpPr>
        <p:grpSpPr>
          <a:xfrm>
            <a:off x="8246613" y="-588167"/>
            <a:ext cx="801929" cy="177965"/>
            <a:chOff x="7669987" y="1566196"/>
            <a:chExt cx="801929" cy="1779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576D51-E5A0-DD15-9DE4-8639DAD06C22}"/>
                </a:ext>
              </a:extLst>
            </p:cNvPr>
            <p:cNvCxnSpPr/>
            <p:nvPr/>
          </p:nvCxnSpPr>
          <p:spPr bwMode="gray">
            <a:xfrm>
              <a:off x="7669987" y="1566196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13F1FE5-76CF-BD25-A56D-244CDF6A6A5F}"/>
                </a:ext>
              </a:extLst>
            </p:cNvPr>
            <p:cNvCxnSpPr/>
            <p:nvPr/>
          </p:nvCxnSpPr>
          <p:spPr bwMode="gray">
            <a:xfrm>
              <a:off x="7669987" y="1744161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368DFA-E118-8864-8EF1-E180EF6CDCE7}"/>
                </a:ext>
              </a:extLst>
            </p:cNvPr>
            <p:cNvSpPr/>
            <p:nvPr/>
          </p:nvSpPr>
          <p:spPr bwMode="gray">
            <a:xfrm>
              <a:off x="7669987" y="1566196"/>
              <a:ext cx="801928" cy="1779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pt-BR" sz="800" b="1">
                  <a:solidFill>
                    <a:srgbClr val="000000"/>
                  </a:solidFill>
                </a:rPr>
                <a:t>TO DISCUSS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E02B60D-4C81-1D70-9E13-22ACE2561305}"/>
              </a:ext>
            </a:extLst>
          </p:cNvPr>
          <p:cNvSpPr txBox="1"/>
          <p:nvPr/>
        </p:nvSpPr>
        <p:spPr bwMode="gray">
          <a:xfrm>
            <a:off x="4718614" y="1071382"/>
            <a:ext cx="790776" cy="286036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200" b="1"/>
              <a:t>Progress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5B37B5D-AB2B-AA4F-370A-BC54BAA6A6F9}"/>
              </a:ext>
            </a:extLst>
          </p:cNvPr>
          <p:cNvGrpSpPr/>
          <p:nvPr/>
        </p:nvGrpSpPr>
        <p:grpSpPr>
          <a:xfrm>
            <a:off x="4634787" y="1335921"/>
            <a:ext cx="3318182" cy="806860"/>
            <a:chOff x="4601176" y="3145533"/>
            <a:chExt cx="3318182" cy="80686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2F632A-CAD3-9FF0-C1AB-DDAF1020BD11}"/>
                </a:ext>
              </a:extLst>
            </p:cNvPr>
            <p:cNvSpPr/>
            <p:nvPr/>
          </p:nvSpPr>
          <p:spPr bwMode="gray">
            <a:xfrm>
              <a:off x="531835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D40D49C-9D8E-11DB-7DF8-C7D795ABBEA4}"/>
                </a:ext>
              </a:extLst>
            </p:cNvPr>
            <p:cNvSpPr/>
            <p:nvPr/>
          </p:nvSpPr>
          <p:spPr bwMode="gray">
            <a:xfrm>
              <a:off x="550743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89EA3B5-4E90-C422-C5A8-04F2949041DD}"/>
                </a:ext>
              </a:extLst>
            </p:cNvPr>
            <p:cNvSpPr/>
            <p:nvPr/>
          </p:nvSpPr>
          <p:spPr bwMode="gray">
            <a:xfrm>
              <a:off x="569651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51DC831-0A40-43C0-A49C-B12F60426CD2}"/>
                </a:ext>
              </a:extLst>
            </p:cNvPr>
            <p:cNvSpPr/>
            <p:nvPr/>
          </p:nvSpPr>
          <p:spPr bwMode="gray">
            <a:xfrm>
              <a:off x="588559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1B1B2A5-07FB-B194-BA83-8DEFF10EA396}"/>
                </a:ext>
              </a:extLst>
            </p:cNvPr>
            <p:cNvSpPr/>
            <p:nvPr/>
          </p:nvSpPr>
          <p:spPr bwMode="gray">
            <a:xfrm>
              <a:off x="607467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6AF3366-F58E-B832-637B-E48543DB7429}"/>
                </a:ext>
              </a:extLst>
            </p:cNvPr>
            <p:cNvSpPr/>
            <p:nvPr/>
          </p:nvSpPr>
          <p:spPr bwMode="gray">
            <a:xfrm>
              <a:off x="626375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DF50F70-23A6-8678-5E38-A8718A589E7E}"/>
                </a:ext>
              </a:extLst>
            </p:cNvPr>
            <p:cNvSpPr/>
            <p:nvPr/>
          </p:nvSpPr>
          <p:spPr bwMode="gray">
            <a:xfrm>
              <a:off x="645283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2CCDC75-2142-453C-B536-14B832FE2123}"/>
                </a:ext>
              </a:extLst>
            </p:cNvPr>
            <p:cNvSpPr/>
            <p:nvPr/>
          </p:nvSpPr>
          <p:spPr bwMode="gray">
            <a:xfrm>
              <a:off x="664191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D553E22-49DE-01C2-04C0-D39AB368471A}"/>
                </a:ext>
              </a:extLst>
            </p:cNvPr>
            <p:cNvSpPr/>
            <p:nvPr/>
          </p:nvSpPr>
          <p:spPr bwMode="gray">
            <a:xfrm>
              <a:off x="683099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7FA4A56-0D81-783E-5F65-1AD4944C5EC4}"/>
                </a:ext>
              </a:extLst>
            </p:cNvPr>
            <p:cNvSpPr/>
            <p:nvPr/>
          </p:nvSpPr>
          <p:spPr bwMode="gray">
            <a:xfrm>
              <a:off x="7020079" y="346276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8C60C8D-4E87-C79F-49C0-CB10B9D48D47}"/>
                </a:ext>
              </a:extLst>
            </p:cNvPr>
            <p:cNvSpPr/>
            <p:nvPr/>
          </p:nvSpPr>
          <p:spPr bwMode="gray">
            <a:xfrm>
              <a:off x="531835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C464D6F-0397-BE85-A81B-894A4F36CA4A}"/>
                </a:ext>
              </a:extLst>
            </p:cNvPr>
            <p:cNvSpPr/>
            <p:nvPr/>
          </p:nvSpPr>
          <p:spPr bwMode="gray">
            <a:xfrm>
              <a:off x="550743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D055220-1399-8FA6-CEA9-42EFE1882A52}"/>
                </a:ext>
              </a:extLst>
            </p:cNvPr>
            <p:cNvSpPr/>
            <p:nvPr/>
          </p:nvSpPr>
          <p:spPr bwMode="gray">
            <a:xfrm>
              <a:off x="569651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5A3150D-EFE7-3B1D-9F33-DA8489D87B8F}"/>
                </a:ext>
              </a:extLst>
            </p:cNvPr>
            <p:cNvSpPr/>
            <p:nvPr/>
          </p:nvSpPr>
          <p:spPr bwMode="gray">
            <a:xfrm>
              <a:off x="588559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D1015B6-18A8-60EF-D731-9651383630D8}"/>
                </a:ext>
              </a:extLst>
            </p:cNvPr>
            <p:cNvSpPr/>
            <p:nvPr/>
          </p:nvSpPr>
          <p:spPr bwMode="gray">
            <a:xfrm>
              <a:off x="607467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8DACD1F-4BDD-653C-6C68-E3BF398CA4AF}"/>
                </a:ext>
              </a:extLst>
            </p:cNvPr>
            <p:cNvSpPr/>
            <p:nvPr/>
          </p:nvSpPr>
          <p:spPr bwMode="gray">
            <a:xfrm>
              <a:off x="626375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982B73C-1AF8-CD33-DF93-313A9D9B2E4D}"/>
                </a:ext>
              </a:extLst>
            </p:cNvPr>
            <p:cNvSpPr/>
            <p:nvPr/>
          </p:nvSpPr>
          <p:spPr bwMode="gray">
            <a:xfrm>
              <a:off x="645283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4D323AD-DD66-37B8-48EB-48B66948FACF}"/>
                </a:ext>
              </a:extLst>
            </p:cNvPr>
            <p:cNvSpPr/>
            <p:nvPr/>
          </p:nvSpPr>
          <p:spPr bwMode="gray">
            <a:xfrm>
              <a:off x="664191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FCFCB1F-C63C-4826-1C72-39646D214222}"/>
                </a:ext>
              </a:extLst>
            </p:cNvPr>
            <p:cNvSpPr/>
            <p:nvPr/>
          </p:nvSpPr>
          <p:spPr bwMode="gray">
            <a:xfrm>
              <a:off x="683099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182A439-6480-8279-3A92-3542B22FBDCE}"/>
                </a:ext>
              </a:extLst>
            </p:cNvPr>
            <p:cNvSpPr/>
            <p:nvPr/>
          </p:nvSpPr>
          <p:spPr bwMode="gray">
            <a:xfrm>
              <a:off x="7020079" y="3721561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AC1FCCF-7C03-88B1-B4B1-E62050B2CA11}"/>
                </a:ext>
              </a:extLst>
            </p:cNvPr>
            <p:cNvSpPr txBox="1"/>
            <p:nvPr/>
          </p:nvSpPr>
          <p:spPr bwMode="gray">
            <a:xfrm>
              <a:off x="4601176" y="3433547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Issuer</a:t>
              </a:r>
              <a:endParaRPr lang="pt-BR" sz="10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79741F5-22DC-02B6-3F6B-B321C93F607F}"/>
                </a:ext>
              </a:extLst>
            </p:cNvPr>
            <p:cNvSpPr txBox="1"/>
            <p:nvPr/>
          </p:nvSpPr>
          <p:spPr bwMode="gray">
            <a:xfrm>
              <a:off x="4601176" y="3721561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Acquirer</a:t>
              </a:r>
              <a:endParaRPr lang="pt-BR" sz="10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A1861CD-B4D2-F507-C78C-9C34FB8572C0}"/>
                </a:ext>
              </a:extLst>
            </p:cNvPr>
            <p:cNvSpPr txBox="1"/>
            <p:nvPr/>
          </p:nvSpPr>
          <p:spPr bwMode="gray">
            <a:xfrm>
              <a:off x="4726404" y="3145533"/>
              <a:ext cx="11993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000" b="1"/>
                <a:t>Data visualization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B9E220B-2648-148B-9149-5779D42F8D7E}"/>
                </a:ext>
              </a:extLst>
            </p:cNvPr>
            <p:cNvSpPr txBox="1"/>
            <p:nvPr/>
          </p:nvSpPr>
          <p:spPr bwMode="gray">
            <a:xfrm>
              <a:off x="7180627" y="3441361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100%</a:t>
              </a:r>
              <a:endParaRPr lang="pt-BR" sz="10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9D83582-E0E6-B63E-0B8E-96CDFDD4B268}"/>
                </a:ext>
              </a:extLst>
            </p:cNvPr>
            <p:cNvSpPr txBox="1"/>
            <p:nvPr/>
          </p:nvSpPr>
          <p:spPr bwMode="gray">
            <a:xfrm>
              <a:off x="7180627" y="3700157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80%</a:t>
              </a:r>
              <a:endParaRPr lang="pt-BR" sz="100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3A29D00-E007-9CB0-8537-A6125BFF561C}"/>
              </a:ext>
            </a:extLst>
          </p:cNvPr>
          <p:cNvGrpSpPr/>
          <p:nvPr/>
        </p:nvGrpSpPr>
        <p:grpSpPr>
          <a:xfrm>
            <a:off x="4634787" y="2842531"/>
            <a:ext cx="3163475" cy="806860"/>
            <a:chOff x="4601176" y="2314787"/>
            <a:chExt cx="3163475" cy="8068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CE8495-0262-0190-8E7B-F28B85C741DD}"/>
                </a:ext>
              </a:extLst>
            </p:cNvPr>
            <p:cNvSpPr/>
            <p:nvPr/>
          </p:nvSpPr>
          <p:spPr bwMode="gray">
            <a:xfrm>
              <a:off x="531835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BF4F42-74C7-0E64-786D-DCB00BA65B07}"/>
                </a:ext>
              </a:extLst>
            </p:cNvPr>
            <p:cNvSpPr/>
            <p:nvPr/>
          </p:nvSpPr>
          <p:spPr bwMode="gray">
            <a:xfrm>
              <a:off x="550743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417DF7B-B685-AE6F-E5EC-BAD1025EC8EA}"/>
                </a:ext>
              </a:extLst>
            </p:cNvPr>
            <p:cNvSpPr/>
            <p:nvPr/>
          </p:nvSpPr>
          <p:spPr bwMode="gray">
            <a:xfrm>
              <a:off x="569651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743D7B-C7F0-0EA2-DF06-07BA3B8C331F}"/>
                </a:ext>
              </a:extLst>
            </p:cNvPr>
            <p:cNvSpPr/>
            <p:nvPr/>
          </p:nvSpPr>
          <p:spPr bwMode="gray">
            <a:xfrm>
              <a:off x="588559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340D363-A42A-C220-5A78-7DC20064D074}"/>
                </a:ext>
              </a:extLst>
            </p:cNvPr>
            <p:cNvSpPr/>
            <p:nvPr/>
          </p:nvSpPr>
          <p:spPr bwMode="gray">
            <a:xfrm>
              <a:off x="607467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BD910E-0B38-FC46-C562-2DAF88AF67D7}"/>
                </a:ext>
              </a:extLst>
            </p:cNvPr>
            <p:cNvSpPr/>
            <p:nvPr/>
          </p:nvSpPr>
          <p:spPr bwMode="gray">
            <a:xfrm>
              <a:off x="626375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9FF359-AE49-7570-85CA-625A390559F1}"/>
                </a:ext>
              </a:extLst>
            </p:cNvPr>
            <p:cNvSpPr/>
            <p:nvPr/>
          </p:nvSpPr>
          <p:spPr bwMode="gray">
            <a:xfrm>
              <a:off x="645283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8F5DBA-5C42-1BA4-9EFC-E230950D7F9E}"/>
                </a:ext>
              </a:extLst>
            </p:cNvPr>
            <p:cNvSpPr/>
            <p:nvPr/>
          </p:nvSpPr>
          <p:spPr bwMode="gray">
            <a:xfrm>
              <a:off x="664191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027348A-A8DC-AB40-A186-993DDCE37048}"/>
                </a:ext>
              </a:extLst>
            </p:cNvPr>
            <p:cNvSpPr/>
            <p:nvPr/>
          </p:nvSpPr>
          <p:spPr bwMode="gray">
            <a:xfrm>
              <a:off x="683099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FE1202A-1B4C-08E0-7150-FD9201B9D669}"/>
                </a:ext>
              </a:extLst>
            </p:cNvPr>
            <p:cNvSpPr/>
            <p:nvPr/>
          </p:nvSpPr>
          <p:spPr bwMode="gray">
            <a:xfrm>
              <a:off x="7020079" y="2632019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F35D35-88E1-DE8B-914F-47614FD586A2}"/>
                </a:ext>
              </a:extLst>
            </p:cNvPr>
            <p:cNvSpPr/>
            <p:nvPr/>
          </p:nvSpPr>
          <p:spPr bwMode="gray">
            <a:xfrm>
              <a:off x="531835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A0C1383-8390-351F-D5E8-47D3423CD69B}"/>
                </a:ext>
              </a:extLst>
            </p:cNvPr>
            <p:cNvSpPr/>
            <p:nvPr/>
          </p:nvSpPr>
          <p:spPr bwMode="gray">
            <a:xfrm>
              <a:off x="550743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0D2DAC6-9CF3-7C9C-43C8-7D8999394ED0}"/>
                </a:ext>
              </a:extLst>
            </p:cNvPr>
            <p:cNvSpPr/>
            <p:nvPr/>
          </p:nvSpPr>
          <p:spPr bwMode="gray">
            <a:xfrm>
              <a:off x="569651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DAFB7E5-8F15-D675-700C-AFBA0A3A7A0C}"/>
                </a:ext>
              </a:extLst>
            </p:cNvPr>
            <p:cNvSpPr/>
            <p:nvPr/>
          </p:nvSpPr>
          <p:spPr bwMode="gray">
            <a:xfrm>
              <a:off x="588559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66EDC57-184E-3F9B-B078-6F1D571485B8}"/>
                </a:ext>
              </a:extLst>
            </p:cNvPr>
            <p:cNvSpPr/>
            <p:nvPr/>
          </p:nvSpPr>
          <p:spPr bwMode="gray">
            <a:xfrm>
              <a:off x="607467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8B7EBD7-89DD-4AE4-B900-476512F3A920}"/>
                </a:ext>
              </a:extLst>
            </p:cNvPr>
            <p:cNvSpPr/>
            <p:nvPr/>
          </p:nvSpPr>
          <p:spPr bwMode="gray">
            <a:xfrm>
              <a:off x="626375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CFBD875-42D1-46C7-D62B-6F9D469BDD92}"/>
                </a:ext>
              </a:extLst>
            </p:cNvPr>
            <p:cNvSpPr/>
            <p:nvPr/>
          </p:nvSpPr>
          <p:spPr bwMode="gray">
            <a:xfrm>
              <a:off x="645283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E5D939B-9CC1-90BB-998B-5B3D853B1339}"/>
                </a:ext>
              </a:extLst>
            </p:cNvPr>
            <p:cNvSpPr/>
            <p:nvPr/>
          </p:nvSpPr>
          <p:spPr bwMode="gray">
            <a:xfrm>
              <a:off x="6641919" y="2890815"/>
              <a:ext cx="142875" cy="1937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83A86FA-A449-7653-ED7B-69D27A5E0CFF}"/>
                </a:ext>
              </a:extLst>
            </p:cNvPr>
            <p:cNvSpPr/>
            <p:nvPr/>
          </p:nvSpPr>
          <p:spPr bwMode="gray">
            <a:xfrm>
              <a:off x="6830999" y="2890815"/>
              <a:ext cx="142875" cy="1937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A4ABD7B-E601-D7E2-6A1C-1808A9369598}"/>
                </a:ext>
              </a:extLst>
            </p:cNvPr>
            <p:cNvSpPr/>
            <p:nvPr/>
          </p:nvSpPr>
          <p:spPr bwMode="gray">
            <a:xfrm>
              <a:off x="7020079" y="2890815"/>
              <a:ext cx="142875" cy="1937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F85254-5A89-6670-0217-20019BBF625D}"/>
                </a:ext>
              </a:extLst>
            </p:cNvPr>
            <p:cNvSpPr txBox="1"/>
            <p:nvPr/>
          </p:nvSpPr>
          <p:spPr bwMode="gray">
            <a:xfrm>
              <a:off x="4601176" y="2602801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Brazil</a:t>
              </a:r>
              <a:endParaRPr lang="pt-BR" sz="10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2A7789-2A85-A194-01D0-F22B78F474F4}"/>
                </a:ext>
              </a:extLst>
            </p:cNvPr>
            <p:cNvSpPr txBox="1"/>
            <p:nvPr/>
          </p:nvSpPr>
          <p:spPr bwMode="gray">
            <a:xfrm>
              <a:off x="4601176" y="2890815"/>
              <a:ext cx="738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LAC</a:t>
              </a:r>
              <a:endParaRPr lang="pt-BR" sz="1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C7F521-3728-D575-0943-F66C4D38D8B6}"/>
                </a:ext>
              </a:extLst>
            </p:cNvPr>
            <p:cNvSpPr txBox="1"/>
            <p:nvPr/>
          </p:nvSpPr>
          <p:spPr bwMode="gray">
            <a:xfrm>
              <a:off x="4726404" y="2314787"/>
              <a:ext cx="30171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000" b="1"/>
                <a:t>Data extraction of last 14 months (jan25 to feb26)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D5DA5C8-A09F-21A9-32B1-B387709D5290}"/>
                </a:ext>
              </a:extLst>
            </p:cNvPr>
            <p:cNvSpPr txBox="1"/>
            <p:nvPr/>
          </p:nvSpPr>
          <p:spPr bwMode="gray">
            <a:xfrm>
              <a:off x="7207863" y="2622469"/>
              <a:ext cx="5567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100%</a:t>
              </a:r>
              <a:endParaRPr lang="pt-BR" sz="100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2E3D3BA-E494-0251-D928-CCC79C355CBF}"/>
                </a:ext>
              </a:extLst>
            </p:cNvPr>
            <p:cNvSpPr txBox="1"/>
            <p:nvPr/>
          </p:nvSpPr>
          <p:spPr bwMode="gray">
            <a:xfrm>
              <a:off x="7207863" y="2881265"/>
              <a:ext cx="4764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sz="1000"/>
                <a:t>80%</a:t>
              </a:r>
              <a:endParaRPr lang="pt-BR" sz="100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01FB701A-A168-E3F2-07E6-5B21B9423A22}"/>
              </a:ext>
            </a:extLst>
          </p:cNvPr>
          <p:cNvSpPr txBox="1"/>
          <p:nvPr/>
        </p:nvSpPr>
        <p:spPr bwMode="gray">
          <a:xfrm>
            <a:off x="767165" y="1048149"/>
            <a:ext cx="1408912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200" b="1"/>
              <a:t>Team engagement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DC26900-1E32-9C01-BADA-92F8F3762B7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78376" y="1717980"/>
            <a:ext cx="331290" cy="33129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7813EF3-2613-A8D0-A1E0-542377E9807B}"/>
              </a:ext>
            </a:extLst>
          </p:cNvPr>
          <p:cNvSpPr txBox="1"/>
          <p:nvPr/>
        </p:nvSpPr>
        <p:spPr bwMode="gray">
          <a:xfrm>
            <a:off x="1343256" y="2077784"/>
            <a:ext cx="771366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Francisco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do Nascimento</a:t>
            </a:r>
            <a:endParaRPr lang="en-US" sz="80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1ABC58A-A527-EA38-5D3B-75DAF382B0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344" b="5344"/>
          <a:stretch/>
        </p:blipFill>
        <p:spPr>
          <a:xfrm>
            <a:off x="863750" y="1718220"/>
            <a:ext cx="331200" cy="3312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12">
            <a:extLst>
              <a:ext uri="{FF2B5EF4-FFF2-40B4-BE49-F238E27FC236}">
                <a16:creationId xmlns:a16="http://schemas.microsoft.com/office/drawing/2014/main" id="{BC824C8A-840A-B9F7-EBFC-F32288CD9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1255" y="2895100"/>
            <a:ext cx="331200" cy="3312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37153FE8-A955-296B-0388-9AB58A992066}"/>
              </a:ext>
            </a:extLst>
          </p:cNvPr>
          <p:cNvSpPr txBox="1"/>
          <p:nvPr/>
        </p:nvSpPr>
        <p:spPr bwMode="gray">
          <a:xfrm>
            <a:off x="748008" y="3247466"/>
            <a:ext cx="524503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Nathalia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Luz</a:t>
            </a:r>
            <a:endParaRPr lang="en-US" sz="8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D3AB948-AE03-96CE-1E3F-D114E7F20A34}"/>
              </a:ext>
            </a:extLst>
          </p:cNvPr>
          <p:cNvSpPr txBox="1"/>
          <p:nvPr/>
        </p:nvSpPr>
        <p:spPr bwMode="gray">
          <a:xfrm>
            <a:off x="767165" y="2077784"/>
            <a:ext cx="538930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Yuri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de Sousa</a:t>
            </a:r>
            <a:endParaRPr lang="en-US" sz="80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C0AC7C0-B088-C35D-09C3-75A76C2098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3108" y="1739351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0FCF6D6-A70F-D17F-076E-BD96895987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4529" y="1739351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D102E890-D552-83F6-57F1-9FCEAAEE38C1}"/>
              </a:ext>
            </a:extLst>
          </p:cNvPr>
          <p:cNvSpPr txBox="1"/>
          <p:nvPr/>
        </p:nvSpPr>
        <p:spPr bwMode="gray">
          <a:xfrm>
            <a:off x="2937854" y="2063934"/>
            <a:ext cx="519693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Emanuel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Dias</a:t>
            </a:r>
            <a:endParaRPr lang="en-US" sz="8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FDF111E-1A15-1CAC-9CBD-EBB5BA302C59}"/>
              </a:ext>
            </a:extLst>
          </p:cNvPr>
          <p:cNvSpPr txBox="1"/>
          <p:nvPr/>
        </p:nvSpPr>
        <p:spPr bwMode="gray">
          <a:xfrm>
            <a:off x="2251894" y="2063934"/>
            <a:ext cx="492443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Mateus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Martins</a:t>
            </a:r>
            <a:endParaRPr lang="en-US" sz="80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CABAE42-584D-6D94-1CEC-32EFB1EA7B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3455" y="2895100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1872F40C-43EB-1DCA-EDF3-94E9CA409C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9328" y="2895100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90475AE-79E8-EDA3-3C3A-DF81F3C92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16" y="3751270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BA4E179-A990-F6D9-6561-3AB10D6EF6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2093" y="2895100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4DE752F-7555-BBFC-6C32-536CAE34E0F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9945" y="3728173"/>
            <a:ext cx="329184" cy="32918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BB0E1C82-6641-FF71-F3B5-9D494207403F}"/>
              </a:ext>
            </a:extLst>
          </p:cNvPr>
          <p:cNvSpPr txBox="1"/>
          <p:nvPr/>
        </p:nvSpPr>
        <p:spPr bwMode="gray">
          <a:xfrm>
            <a:off x="1473309" y="3247466"/>
            <a:ext cx="481221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Mateus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Guedes</a:t>
            </a:r>
            <a:endParaRPr lang="en-US" sz="8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22A2A2D-E503-20C6-FB40-A5E2E80CD994}"/>
              </a:ext>
            </a:extLst>
          </p:cNvPr>
          <p:cNvSpPr txBox="1"/>
          <p:nvPr/>
        </p:nvSpPr>
        <p:spPr bwMode="gray">
          <a:xfrm>
            <a:off x="2990318" y="3234977"/>
            <a:ext cx="439543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Rafael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Sobral</a:t>
            </a:r>
            <a:endParaRPr lang="en-US" sz="8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8D096E-119A-B45D-D507-EE18BE8B6FB7}"/>
              </a:ext>
            </a:extLst>
          </p:cNvPr>
          <p:cNvSpPr txBox="1"/>
          <p:nvPr/>
        </p:nvSpPr>
        <p:spPr bwMode="gray">
          <a:xfrm>
            <a:off x="616515" y="4095748"/>
            <a:ext cx="782587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Mattia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Valsangiacomo</a:t>
            </a:r>
            <a:endParaRPr lang="en-US" sz="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6FBCD75-FC59-896C-D303-8999059BCF82}"/>
              </a:ext>
            </a:extLst>
          </p:cNvPr>
          <p:cNvSpPr txBox="1"/>
          <p:nvPr/>
        </p:nvSpPr>
        <p:spPr bwMode="gray">
          <a:xfrm>
            <a:off x="2199766" y="3247466"/>
            <a:ext cx="556563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Geannina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Gomez</a:t>
            </a:r>
            <a:endParaRPr lang="en-US" sz="8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1A67CBD-566C-4801-4EBD-5C500E34B5E3}"/>
              </a:ext>
            </a:extLst>
          </p:cNvPr>
          <p:cNvSpPr txBox="1"/>
          <p:nvPr/>
        </p:nvSpPr>
        <p:spPr bwMode="gray">
          <a:xfrm>
            <a:off x="1453507" y="4111096"/>
            <a:ext cx="502061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Roberto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Zuñiga</a:t>
            </a:r>
            <a:endParaRPr lang="en-US" sz="8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DF8D5F-5459-EFD5-CD67-757EBE7CF245}"/>
              </a:ext>
            </a:extLst>
          </p:cNvPr>
          <p:cNvSpPr txBox="1"/>
          <p:nvPr/>
        </p:nvSpPr>
        <p:spPr bwMode="gray">
          <a:xfrm>
            <a:off x="3568832" y="1765391"/>
            <a:ext cx="83523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700" b="1"/>
              <a:t>+ previous collaborators (Diego Pesce, Pedro Chagas) </a:t>
            </a:r>
            <a:endParaRPr lang="en-US" sz="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41A6F54-2E57-97A0-7F36-AA5A814617A8}"/>
              </a:ext>
            </a:extLst>
          </p:cNvPr>
          <p:cNvSpPr txBox="1"/>
          <p:nvPr/>
        </p:nvSpPr>
        <p:spPr bwMode="gray">
          <a:xfrm>
            <a:off x="764572" y="1358184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000" b="1"/>
              <a:t>Development team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61FAEF2-C777-CF36-27FD-967600C597FB}"/>
              </a:ext>
            </a:extLst>
          </p:cNvPr>
          <p:cNvSpPr txBox="1"/>
          <p:nvPr/>
        </p:nvSpPr>
        <p:spPr bwMode="gray">
          <a:xfrm>
            <a:off x="764572" y="2578667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000" b="1"/>
              <a:t>Support team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1FCAABC-D68B-CB29-48E1-6DB0E6A8826C}"/>
              </a:ext>
            </a:extLst>
          </p:cNvPr>
          <p:cNvSpPr txBox="1"/>
          <p:nvPr/>
        </p:nvSpPr>
        <p:spPr bwMode="gray">
          <a:xfrm>
            <a:off x="4718614" y="2261052"/>
            <a:ext cx="318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000"/>
              <a:t>Dashboard is published for internal tests, and it will be rolled out in new A&amp;F projects soon.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9809CA5-574F-45C6-844B-52C2E964EA6A}"/>
              </a:ext>
            </a:extLst>
          </p:cNvPr>
          <p:cNvSpPr txBox="1"/>
          <p:nvPr/>
        </p:nvSpPr>
        <p:spPr bwMode="gray">
          <a:xfrm>
            <a:off x="4718614" y="3733295"/>
            <a:ext cx="318280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000"/>
              <a:t>Data for LAC is already extracted, missing only the upload on the dashboard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000"/>
              <a:t>There are still remaining hours from the investment code to polish last details  (until April 17th)</a:t>
            </a:r>
          </a:p>
        </p:txBody>
      </p:sp>
    </p:spTree>
    <p:extLst>
      <p:ext uri="{BB962C8B-B14F-4D97-AF65-F5344CB8AC3E}">
        <p14:creationId xmlns:p14="http://schemas.microsoft.com/office/powerpoint/2010/main" val="178743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4BA7-46EF-0CA6-D4B5-6A95A4A3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FEBEC58-2079-6BA3-45CB-AC7475E8C6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199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FEBEC58-2079-6BA3-45CB-AC7475E8C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A805B4D-D571-8A32-0F43-E677F04A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653942" cy="313932"/>
          </a:xfrm>
        </p:spPr>
        <p:txBody>
          <a:bodyPr vert="horz"/>
          <a:lstStyle/>
          <a:p>
            <a:r>
              <a:rPr lang="en-US" sz="1600" b="1">
                <a:solidFill>
                  <a:srgbClr val="171717"/>
                </a:solidFill>
                <a:effectLst/>
                <a:latin typeface="Mark Offc For MC Medium" panose="020B0604020101010102" pitchFamily="34" charset="0"/>
              </a:rPr>
              <a:t>The new version presents ready-to-use peer groups and new breakdowns</a:t>
            </a:r>
            <a:endParaRPr lang="pt-BR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521C14-E0E9-75AB-195B-C86A8C43C861}"/>
              </a:ext>
            </a:extLst>
          </p:cNvPr>
          <p:cNvGrpSpPr/>
          <p:nvPr/>
        </p:nvGrpSpPr>
        <p:grpSpPr>
          <a:xfrm>
            <a:off x="8246613" y="-588167"/>
            <a:ext cx="801929" cy="177965"/>
            <a:chOff x="7669987" y="1566196"/>
            <a:chExt cx="801929" cy="1779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5C3CFAA-8AC1-DC86-A5FA-A7AA08EA6B8C}"/>
                </a:ext>
              </a:extLst>
            </p:cNvPr>
            <p:cNvCxnSpPr/>
            <p:nvPr/>
          </p:nvCxnSpPr>
          <p:spPr bwMode="gray">
            <a:xfrm>
              <a:off x="7669987" y="1566196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C60B4F-958C-04EB-D1F3-1A56CA4FDCE3}"/>
                </a:ext>
              </a:extLst>
            </p:cNvPr>
            <p:cNvCxnSpPr/>
            <p:nvPr/>
          </p:nvCxnSpPr>
          <p:spPr bwMode="gray">
            <a:xfrm>
              <a:off x="7669987" y="1744161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E5EEBA-B43B-D0DB-4646-670DC900239C}"/>
                </a:ext>
              </a:extLst>
            </p:cNvPr>
            <p:cNvSpPr/>
            <p:nvPr/>
          </p:nvSpPr>
          <p:spPr bwMode="gray">
            <a:xfrm>
              <a:off x="7669987" y="1566196"/>
              <a:ext cx="801928" cy="1779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pt-BR" sz="800" b="1">
                  <a:solidFill>
                    <a:srgbClr val="000000"/>
                  </a:solidFill>
                </a:rPr>
                <a:t>TO DISCUSS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63F0A1-4909-8422-4B23-63BFE250D0A4}"/>
              </a:ext>
            </a:extLst>
          </p:cNvPr>
          <p:cNvGrpSpPr/>
          <p:nvPr/>
        </p:nvGrpSpPr>
        <p:grpSpPr>
          <a:xfrm>
            <a:off x="3268557" y="1041549"/>
            <a:ext cx="2376665" cy="3530451"/>
            <a:chOff x="3146155" y="1041549"/>
            <a:chExt cx="2376665" cy="35304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BA8F6A-AB38-CBEE-9CAF-746736594FC7}"/>
                </a:ext>
              </a:extLst>
            </p:cNvPr>
            <p:cNvSpPr/>
            <p:nvPr/>
          </p:nvSpPr>
          <p:spPr bwMode="gray">
            <a:xfrm>
              <a:off x="3146155" y="1041549"/>
              <a:ext cx="2376665" cy="35304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4DE41A-B167-B3F1-E8EE-696AB328617F}"/>
                </a:ext>
              </a:extLst>
            </p:cNvPr>
            <p:cNvSpPr txBox="1"/>
            <p:nvPr/>
          </p:nvSpPr>
          <p:spPr bwMode="gray">
            <a:xfrm>
              <a:off x="3146156" y="1050547"/>
              <a:ext cx="2376664" cy="3454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100" b="1"/>
                <a:t>Breakdowns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Consumer/Corporate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Credit/Debit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CP/CNP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Dom/Cross-border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Input mode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Ticket size/range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Time period of the day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Wallet type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Product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Tokenized/card on file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Authentication (3Ds)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MCC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Super industry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Acquirer (for issuer view)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8C3289-C65A-B74B-CA8D-9B4D107F5F81}"/>
              </a:ext>
            </a:extLst>
          </p:cNvPr>
          <p:cNvGrpSpPr/>
          <p:nvPr/>
        </p:nvGrpSpPr>
        <p:grpSpPr>
          <a:xfrm>
            <a:off x="5869947" y="1041549"/>
            <a:ext cx="2376666" cy="3530451"/>
            <a:chOff x="5706474" y="1041549"/>
            <a:chExt cx="2376666" cy="35304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51F9ED-5A7F-01BF-34C1-EE5B9F675CB0}"/>
                </a:ext>
              </a:extLst>
            </p:cNvPr>
            <p:cNvSpPr/>
            <p:nvPr/>
          </p:nvSpPr>
          <p:spPr bwMode="gray">
            <a:xfrm>
              <a:off x="5706475" y="1041549"/>
              <a:ext cx="2376665" cy="35304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3F4A286-B3F7-4E1E-1C97-2DFD69B7E6B9}"/>
                </a:ext>
              </a:extLst>
            </p:cNvPr>
            <p:cNvSpPr txBox="1"/>
            <p:nvPr/>
          </p:nvSpPr>
          <p:spPr bwMode="gray">
            <a:xfrm>
              <a:off x="5706474" y="1050547"/>
              <a:ext cx="2376665" cy="1391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100" b="1"/>
                <a:t>What is not included so far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Merchant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CVS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MAC code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DI score range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Stand-in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3C7ED4-C5F1-FEC6-1560-A65C7B5CE223}"/>
              </a:ext>
            </a:extLst>
          </p:cNvPr>
          <p:cNvGrpSpPr/>
          <p:nvPr/>
        </p:nvGrpSpPr>
        <p:grpSpPr>
          <a:xfrm>
            <a:off x="667167" y="1041549"/>
            <a:ext cx="2376666" cy="3530451"/>
            <a:chOff x="503694" y="1041549"/>
            <a:chExt cx="2376666" cy="35304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1D6675-729B-20AF-241C-3D6732A388E3}"/>
                </a:ext>
              </a:extLst>
            </p:cNvPr>
            <p:cNvSpPr/>
            <p:nvPr/>
          </p:nvSpPr>
          <p:spPr bwMode="gray">
            <a:xfrm>
              <a:off x="503695" y="1041549"/>
              <a:ext cx="2376665" cy="35304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D89D1E-DF48-507D-EF4C-9C987072FF3E}"/>
                </a:ext>
              </a:extLst>
            </p:cNvPr>
            <p:cNvSpPr txBox="1"/>
            <p:nvPr/>
          </p:nvSpPr>
          <p:spPr bwMode="gray">
            <a:xfrm>
              <a:off x="503694" y="1050547"/>
              <a:ext cx="2376665" cy="19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100" b="1"/>
                <a:t>Features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Pre-defined peer groups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Raw and Clean (without retrials) authorization rate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Fraud rate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Declined reason code share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Count and amount transacted</a:t>
              </a:r>
            </a:p>
            <a:p>
              <a:pPr marL="514350" lvl="1" indent="-171450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BR" sz="1100"/>
                <a:t>Delivery-ready format</a:t>
              </a:r>
            </a:p>
          </p:txBody>
        </p:sp>
      </p:grpSp>
      <p:pic>
        <p:nvPicPr>
          <p:cNvPr id="1026" name="Picture 2" descr="New - Free signs icons">
            <a:extLst>
              <a:ext uri="{FF2B5EF4-FFF2-40B4-BE49-F238E27FC236}">
                <a16:creationId xmlns:a16="http://schemas.microsoft.com/office/drawing/2014/main" id="{8BD468C6-D7EA-10D0-10B0-88E43C9AD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008" y="4269901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New - Free signs icons">
            <a:extLst>
              <a:ext uri="{FF2B5EF4-FFF2-40B4-BE49-F238E27FC236}">
                <a16:creationId xmlns:a16="http://schemas.microsoft.com/office/drawing/2014/main" id="{BA41C8E3-06D5-FB7A-BF92-DD74C35B2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4" y="4048445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New - Free signs icons">
            <a:extLst>
              <a:ext uri="{FF2B5EF4-FFF2-40B4-BE49-F238E27FC236}">
                <a16:creationId xmlns:a16="http://schemas.microsoft.com/office/drawing/2014/main" id="{EF131A8B-B8A2-8843-9172-705139B0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1" y="3800795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New - Free signs icons">
            <a:extLst>
              <a:ext uri="{FF2B5EF4-FFF2-40B4-BE49-F238E27FC236}">
                <a16:creationId xmlns:a16="http://schemas.microsoft.com/office/drawing/2014/main" id="{C1BCB690-80F2-D4E6-DF66-70DCA22A1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4" y="3574576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New - Free signs icons">
            <a:extLst>
              <a:ext uri="{FF2B5EF4-FFF2-40B4-BE49-F238E27FC236}">
                <a16:creationId xmlns:a16="http://schemas.microsoft.com/office/drawing/2014/main" id="{796360E4-F07C-B8A6-90F1-6617B432A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847" y="1329782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New - Free signs icons">
            <a:extLst>
              <a:ext uri="{FF2B5EF4-FFF2-40B4-BE49-F238E27FC236}">
                <a16:creationId xmlns:a16="http://schemas.microsoft.com/office/drawing/2014/main" id="{29771E6E-BFD5-A214-A4EB-E85C65BB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929" y="2755816"/>
            <a:ext cx="178116" cy="1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56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D9AC-8FCE-F772-04FB-2E128443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E7581BA-8535-8E26-833F-CB74A1F47C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1816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E7581BA-8535-8E26-833F-CB74A1F47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E9FB4B4A-40F6-B151-A1F6-A1783F403471}"/>
              </a:ext>
            </a:extLst>
          </p:cNvPr>
          <p:cNvSpPr/>
          <p:nvPr/>
        </p:nvSpPr>
        <p:spPr bwMode="gray">
          <a:xfrm>
            <a:off x="281940" y="1016777"/>
            <a:ext cx="8358365" cy="34333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A70DABA-5EBF-B33F-14B9-FB02C9F9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653942" cy="535531"/>
          </a:xfrm>
        </p:spPr>
        <p:txBody>
          <a:bodyPr vert="horz"/>
          <a:lstStyle/>
          <a:p>
            <a:r>
              <a:rPr lang="en-US" sz="1600" b="1">
                <a:solidFill>
                  <a:srgbClr val="171717"/>
                </a:solidFill>
                <a:effectLst/>
                <a:latin typeface="Mark Offc For MC Medium" panose="020B0604020101010102" pitchFamily="34" charset="0"/>
              </a:rPr>
              <a:t>The current dashboard will be used in ACS projects as an efficiency improvement tool and also as a standalone product</a:t>
            </a:r>
            <a:endParaRPr lang="pt-BR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F17595-E7CC-0D56-5A90-732880C5EBC6}"/>
              </a:ext>
            </a:extLst>
          </p:cNvPr>
          <p:cNvGrpSpPr/>
          <p:nvPr/>
        </p:nvGrpSpPr>
        <p:grpSpPr>
          <a:xfrm>
            <a:off x="8246613" y="-588167"/>
            <a:ext cx="801929" cy="177965"/>
            <a:chOff x="7669987" y="1566196"/>
            <a:chExt cx="801929" cy="1779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8EA1B0-9C65-952A-D2EE-BA611892A6DB}"/>
                </a:ext>
              </a:extLst>
            </p:cNvPr>
            <p:cNvCxnSpPr/>
            <p:nvPr/>
          </p:nvCxnSpPr>
          <p:spPr bwMode="gray">
            <a:xfrm>
              <a:off x="7669987" y="1566196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D5F85E-6E06-7E9B-CB73-6A439F14E575}"/>
                </a:ext>
              </a:extLst>
            </p:cNvPr>
            <p:cNvCxnSpPr/>
            <p:nvPr/>
          </p:nvCxnSpPr>
          <p:spPr bwMode="gray">
            <a:xfrm>
              <a:off x="7669987" y="1744161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6FD45A-D93A-483D-7BB1-8C02E4A1D761}"/>
                </a:ext>
              </a:extLst>
            </p:cNvPr>
            <p:cNvSpPr/>
            <p:nvPr/>
          </p:nvSpPr>
          <p:spPr bwMode="gray">
            <a:xfrm>
              <a:off x="7669987" y="1566196"/>
              <a:ext cx="801928" cy="1779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pt-BR" sz="800" b="1">
                  <a:solidFill>
                    <a:srgbClr val="000000"/>
                  </a:solidFill>
                </a:rPr>
                <a:t>TO DISCUSS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689B9B-9ECB-865E-2FC9-71F5068BBB60}"/>
              </a:ext>
            </a:extLst>
          </p:cNvPr>
          <p:cNvGrpSpPr/>
          <p:nvPr/>
        </p:nvGrpSpPr>
        <p:grpSpPr>
          <a:xfrm>
            <a:off x="612183" y="1161547"/>
            <a:ext cx="7919633" cy="3032336"/>
            <a:chOff x="387458" y="1161547"/>
            <a:chExt cx="7919633" cy="303233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54C7D4-E288-265F-B016-C01BFAD45175}"/>
                </a:ext>
              </a:extLst>
            </p:cNvPr>
            <p:cNvSpPr txBox="1"/>
            <p:nvPr/>
          </p:nvSpPr>
          <p:spPr bwMode="gray">
            <a:xfrm>
              <a:off x="6152827" y="2024171"/>
              <a:ext cx="21542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000" b="1"/>
                <a:t>New revenue flows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0716442-710F-E956-E59D-95999434C5BF}"/>
                </a:ext>
              </a:extLst>
            </p:cNvPr>
            <p:cNvSpPr/>
            <p:nvPr/>
          </p:nvSpPr>
          <p:spPr bwMode="gray">
            <a:xfrm>
              <a:off x="387458" y="2540224"/>
              <a:ext cx="1743559" cy="712922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>
                  <a:solidFill>
                    <a:sysClr val="windowText" lastClr="000000"/>
                  </a:solidFill>
                </a:rPr>
                <a:t>A&amp;F Dashboard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05E9BF9-796B-4E32-1E01-52F640EBCFFC}"/>
                </a:ext>
              </a:extLst>
            </p:cNvPr>
            <p:cNvSpPr/>
            <p:nvPr/>
          </p:nvSpPr>
          <p:spPr bwMode="gray">
            <a:xfrm>
              <a:off x="2828441" y="1599486"/>
              <a:ext cx="3014420" cy="108020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>
                  <a:solidFill>
                    <a:sysClr val="windowText" lastClr="000000"/>
                  </a:solidFill>
                </a:rPr>
                <a:t>A&amp;F Report as a service </a:t>
              </a:r>
            </a:p>
            <a:p>
              <a:pPr algn="ctr"/>
              <a:r>
                <a:rPr lang="pt-BR" sz="1100">
                  <a:solidFill>
                    <a:sysClr val="windowText" lastClr="000000"/>
                  </a:solidFill>
                </a:rPr>
                <a:t>Monthly delivery of A&amp;F performance reports for Acquirers and Issuers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199A66A-AF47-CFD8-7F0B-6EFCD05D0D8D}"/>
                </a:ext>
              </a:extLst>
            </p:cNvPr>
            <p:cNvSpPr/>
            <p:nvPr/>
          </p:nvSpPr>
          <p:spPr bwMode="gray">
            <a:xfrm>
              <a:off x="2828441" y="3113680"/>
              <a:ext cx="3014420" cy="108020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b="1">
                  <a:solidFill>
                    <a:sysClr val="windowText" lastClr="000000"/>
                  </a:solidFill>
                </a:rPr>
                <a:t>Efficiency/margin gain on A&amp;F vanilla/marketwide projects</a:t>
              </a:r>
            </a:p>
            <a:p>
              <a:pPr algn="ctr"/>
              <a:r>
                <a:rPr lang="pt-BR" sz="1100">
                  <a:solidFill>
                    <a:sysClr val="windowText" lastClr="000000"/>
                  </a:solidFill>
                </a:rPr>
                <a:t>Effort decrease in the most critical parts of an A&amp;F project (data extraction and peer grouping)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4A0EED-6FDE-182C-1466-AEA2E59E58D3}"/>
                </a:ext>
              </a:extLst>
            </p:cNvPr>
            <p:cNvSpPr txBox="1"/>
            <p:nvPr/>
          </p:nvSpPr>
          <p:spPr bwMode="gray">
            <a:xfrm>
              <a:off x="6152827" y="3403448"/>
              <a:ext cx="2093786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000" b="1"/>
                <a:t>Existing revenue</a:t>
              </a: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000"/>
                <a:t>Higher margin or possibility to invest more time in detailed analysis</a:t>
              </a:r>
            </a:p>
          </p:txBody>
        </p:sp>
        <p:sp>
          <p:nvSpPr>
            <p:cNvPr id="12" name="Arrow: Up 11">
              <a:extLst>
                <a:ext uri="{FF2B5EF4-FFF2-40B4-BE49-F238E27FC236}">
                  <a16:creationId xmlns:a16="http://schemas.microsoft.com/office/drawing/2014/main" id="{1AF81F82-244F-617D-D69F-43BDA4811DF5}"/>
                </a:ext>
              </a:extLst>
            </p:cNvPr>
            <p:cNvSpPr/>
            <p:nvPr/>
          </p:nvSpPr>
          <p:spPr bwMode="gray">
            <a:xfrm rot="3324469">
              <a:off x="2293750" y="2271469"/>
              <a:ext cx="371959" cy="325464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C612449D-984D-E957-B3EC-560036D936EB}"/>
                </a:ext>
              </a:extLst>
            </p:cNvPr>
            <p:cNvSpPr/>
            <p:nvPr/>
          </p:nvSpPr>
          <p:spPr bwMode="gray">
            <a:xfrm rot="18275531" flipV="1">
              <a:off x="2293752" y="3090413"/>
              <a:ext cx="371959" cy="325464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57062A-096A-4BAA-3B9A-D02EED34D148}"/>
                </a:ext>
              </a:extLst>
            </p:cNvPr>
            <p:cNvSpPr txBox="1"/>
            <p:nvPr/>
          </p:nvSpPr>
          <p:spPr bwMode="gray">
            <a:xfrm>
              <a:off x="2828441" y="1161547"/>
              <a:ext cx="2154264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200" b="1" u="sng"/>
                <a:t>Use cases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005C33-1AD8-D7C1-20B0-0763DBAE47E4}"/>
                </a:ext>
              </a:extLst>
            </p:cNvPr>
            <p:cNvSpPr txBox="1"/>
            <p:nvPr/>
          </p:nvSpPr>
          <p:spPr bwMode="gray">
            <a:xfrm>
              <a:off x="6036590" y="1161547"/>
              <a:ext cx="2154264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pt-BR" sz="1200" b="1" u="sng"/>
                <a:t>Benefits for ACS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85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17FB-D698-61BC-4DB4-EDBF4712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7C285F-B396-13C7-AAFF-EC7AF637DBC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3854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7C285F-B396-13C7-AAFF-EC7AF637DB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1C991F9D-4CE9-598A-969C-DD10755E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653942" cy="535531"/>
          </a:xfrm>
        </p:spPr>
        <p:txBody>
          <a:bodyPr vert="horz"/>
          <a:lstStyle/>
          <a:p>
            <a:r>
              <a:rPr lang="en-US" sz="1600" b="1">
                <a:solidFill>
                  <a:srgbClr val="171717"/>
                </a:solidFill>
                <a:effectLst/>
                <a:latin typeface="Mark Offc For MC Medium" panose="020B0604020101010102" pitchFamily="34" charset="0"/>
              </a:rPr>
              <a:t>The dashboard is currently published for demo purposes, but it will be moved to a restricted area so access control can be made</a:t>
            </a:r>
            <a:endParaRPr lang="pt-BR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7E7D05-5E76-AD69-1ABD-5FBB572EEEC1}"/>
              </a:ext>
            </a:extLst>
          </p:cNvPr>
          <p:cNvGrpSpPr/>
          <p:nvPr/>
        </p:nvGrpSpPr>
        <p:grpSpPr>
          <a:xfrm>
            <a:off x="8246613" y="-588167"/>
            <a:ext cx="801929" cy="177965"/>
            <a:chOff x="7669987" y="1566196"/>
            <a:chExt cx="801929" cy="1779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FBA4F7-6963-5DE4-5832-121E84B1185E}"/>
                </a:ext>
              </a:extLst>
            </p:cNvPr>
            <p:cNvCxnSpPr/>
            <p:nvPr/>
          </p:nvCxnSpPr>
          <p:spPr bwMode="gray">
            <a:xfrm>
              <a:off x="7669987" y="1566196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A1CA57-4878-505E-4AC1-729CCCFCFED1}"/>
                </a:ext>
              </a:extLst>
            </p:cNvPr>
            <p:cNvCxnSpPr/>
            <p:nvPr/>
          </p:nvCxnSpPr>
          <p:spPr bwMode="gray">
            <a:xfrm>
              <a:off x="7669987" y="1744161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663E0-D02A-8C13-4E4B-B997AA5F1299}"/>
                </a:ext>
              </a:extLst>
            </p:cNvPr>
            <p:cNvSpPr/>
            <p:nvPr/>
          </p:nvSpPr>
          <p:spPr bwMode="gray">
            <a:xfrm>
              <a:off x="7669987" y="1566196"/>
              <a:ext cx="801928" cy="1779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pt-BR" sz="800" b="1">
                  <a:solidFill>
                    <a:srgbClr val="000000"/>
                  </a:solidFill>
                </a:rPr>
                <a:t>TO DISCUSS</a:t>
              </a:r>
            </a:p>
          </p:txBody>
        </p:sp>
      </p:grpSp>
      <p:pic>
        <p:nvPicPr>
          <p:cNvPr id="3" name="Picture 2">
            <a:hlinkClick r:id="rId6"/>
            <a:extLst>
              <a:ext uri="{FF2B5EF4-FFF2-40B4-BE49-F238E27FC236}">
                <a16:creationId xmlns:a16="http://schemas.microsoft.com/office/drawing/2014/main" id="{1721E19D-C834-FD13-927D-F71056293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585" y="991391"/>
            <a:ext cx="6537960" cy="3431061"/>
          </a:xfrm>
          <a:prstGeom prst="rect">
            <a:avLst/>
          </a:prstGeom>
          <a:ln>
            <a:solidFill>
              <a:schemeClr val="bg1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959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CE608-F555-5992-AF38-A47E5C50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CA822C4-6C57-945D-1726-882F960229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CA822C4-6C57-945D-1726-882F96022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875D6F5C-1C33-E4EB-C711-3EF8A2D3BDC6}"/>
              </a:ext>
            </a:extLst>
          </p:cNvPr>
          <p:cNvSpPr/>
          <p:nvPr/>
        </p:nvSpPr>
        <p:spPr bwMode="gray">
          <a:xfrm>
            <a:off x="4674425" y="1041549"/>
            <a:ext cx="3965880" cy="305775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0CAC4-A136-C0EA-C968-DE4994240445}"/>
              </a:ext>
            </a:extLst>
          </p:cNvPr>
          <p:cNvSpPr/>
          <p:nvPr/>
        </p:nvSpPr>
        <p:spPr bwMode="gray">
          <a:xfrm>
            <a:off x="503695" y="1041549"/>
            <a:ext cx="3965880" cy="305775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A74EFD8-98E8-88EF-57CB-CF3A7E5F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653942" cy="535531"/>
          </a:xfrm>
        </p:spPr>
        <p:txBody>
          <a:bodyPr vert="horz"/>
          <a:lstStyle/>
          <a:p>
            <a:r>
              <a:rPr lang="en-US" sz="1600" b="1">
                <a:solidFill>
                  <a:srgbClr val="171717"/>
                </a:solidFill>
                <a:effectLst/>
                <a:latin typeface="Mark Offc For MC Medium" panose="020B0604020101010102" pitchFamily="34" charset="0"/>
              </a:rPr>
              <a:t>The dashboard is ready to be tested in ACS Projects scenarios, and options are already mapped</a:t>
            </a:r>
            <a:endParaRPr lang="pt-BR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6E4C92-ED80-B54D-8CEE-3CAF5F044F3A}"/>
              </a:ext>
            </a:extLst>
          </p:cNvPr>
          <p:cNvGrpSpPr/>
          <p:nvPr/>
        </p:nvGrpSpPr>
        <p:grpSpPr>
          <a:xfrm>
            <a:off x="8246613" y="-588167"/>
            <a:ext cx="801929" cy="177965"/>
            <a:chOff x="7669987" y="1566196"/>
            <a:chExt cx="801929" cy="1779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81AB82-7ADA-7472-C919-A694FF6BC4CC}"/>
                </a:ext>
              </a:extLst>
            </p:cNvPr>
            <p:cNvCxnSpPr/>
            <p:nvPr/>
          </p:nvCxnSpPr>
          <p:spPr bwMode="gray">
            <a:xfrm>
              <a:off x="7669987" y="1566196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F11B3D-48BC-59EF-9F94-BC3DBBFDAF1D}"/>
                </a:ext>
              </a:extLst>
            </p:cNvPr>
            <p:cNvCxnSpPr/>
            <p:nvPr/>
          </p:nvCxnSpPr>
          <p:spPr bwMode="gray">
            <a:xfrm>
              <a:off x="7669987" y="1744161"/>
              <a:ext cx="801929" cy="0"/>
            </a:xfrm>
            <a:prstGeom prst="line">
              <a:avLst/>
            </a:prstGeom>
            <a:ln w="12700" cmpd="dbl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F7AD42-8725-A2DC-C38E-F9A45995E80B}"/>
                </a:ext>
              </a:extLst>
            </p:cNvPr>
            <p:cNvSpPr/>
            <p:nvPr/>
          </p:nvSpPr>
          <p:spPr bwMode="gray">
            <a:xfrm>
              <a:off x="7669987" y="1566196"/>
              <a:ext cx="801928" cy="1779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pt-BR" sz="800" b="1">
                  <a:solidFill>
                    <a:srgbClr val="000000"/>
                  </a:solidFill>
                </a:rPr>
                <a:t>TO DISCUSS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AB9EF9-0492-3CF2-6448-8613DF8C8634}"/>
              </a:ext>
            </a:extLst>
          </p:cNvPr>
          <p:cNvSpPr txBox="1"/>
          <p:nvPr/>
        </p:nvSpPr>
        <p:spPr bwMode="gray">
          <a:xfrm>
            <a:off x="619932" y="1070124"/>
            <a:ext cx="900952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200" b="1"/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8C36D-D841-CD27-BF68-836D08CD6091}"/>
              </a:ext>
            </a:extLst>
          </p:cNvPr>
          <p:cNvSpPr txBox="1"/>
          <p:nvPr/>
        </p:nvSpPr>
        <p:spPr bwMode="gray">
          <a:xfrm>
            <a:off x="4759666" y="1070124"/>
            <a:ext cx="171450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pt-BR" sz="1200" b="1"/>
              <a:t>Possible improvements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96AC1-31A8-986C-134F-758787AF7A5C}"/>
              </a:ext>
            </a:extLst>
          </p:cNvPr>
          <p:cNvSpPr txBox="1"/>
          <p:nvPr/>
        </p:nvSpPr>
        <p:spPr bwMode="gray">
          <a:xfrm>
            <a:off x="619932" y="1426934"/>
            <a:ext cx="371959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Possible test roll-out in future projects and opportunities (Sisprime and Banco do Brasil)</a:t>
            </a:r>
          </a:p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Maintenance costs will be absorved by the ongoing A&amp;F projects that uses the tool</a:t>
            </a:r>
          </a:p>
          <a:p>
            <a:pPr marL="458788" lvl="1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Monthly update</a:t>
            </a:r>
          </a:p>
          <a:p>
            <a:pPr marL="458788" lvl="1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Addition of players or peer groups</a:t>
            </a:r>
          </a:p>
          <a:p>
            <a:pPr marL="458788" lvl="1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New breakdowns and features</a:t>
            </a:r>
          </a:p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Future collaboration with LAC Team (Geannina Gomez) to scale even more to LAC specific needs</a:t>
            </a:r>
          </a:p>
          <a:p>
            <a:pPr marL="458788" lvl="1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pt-B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C61B2D-DFA5-6D39-41B8-C9B55CEC4B13}"/>
              </a:ext>
            </a:extLst>
          </p:cNvPr>
          <p:cNvSpPr txBox="1"/>
          <p:nvPr/>
        </p:nvSpPr>
        <p:spPr bwMode="gray">
          <a:xfrm>
            <a:off x="4759666" y="1426934"/>
            <a:ext cx="3764400" cy="108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Peer grouping for LAC (custom and/or pre-defined)</a:t>
            </a:r>
          </a:p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New debit breakdowns</a:t>
            </a:r>
          </a:p>
          <a:p>
            <a:pPr marL="115888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pt-BR" sz="1100"/>
              <a:t>Future improvements mapped in the test phase (Sisprime and Banco do Brasil)</a:t>
            </a:r>
          </a:p>
          <a:p>
            <a:pPr marL="458788" lvl="1" indent="-115888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pt-BR" sz="1100"/>
          </a:p>
        </p:txBody>
      </p:sp>
    </p:spTree>
    <p:extLst>
      <p:ext uri="{BB962C8B-B14F-4D97-AF65-F5344CB8AC3E}">
        <p14:creationId xmlns:p14="http://schemas.microsoft.com/office/powerpoint/2010/main" val="2526805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FILLLINECOLOR1" val="1796095"/>
  <p:tag name="FILLLINECOLOR2" val="13754623"/>
  <p:tag name="FILLLINECOLOR3" val="10732287"/>
  <p:tag name="FILLLINECOLOR4" val="7775231"/>
  <p:tag name="FILLLINECOLOR5" val="18131"/>
  <p:tag name="FILLLINECOLOR6" val="12173"/>
  <p:tag name="FILLLINECOLOR7" val="3091154"/>
  <p:tag name="FILLLINECOLOR8" val="14013686"/>
  <p:tag name="FILLLINECOLOR9" val="11250158"/>
  <p:tag name="FILLLINECOLOR10" val="8486629"/>
  <p:tag name="FILLLINECOLOR11" val="2301853"/>
  <p:tag name="FILLLINECOLOR12" val="1578345"/>
  <p:tag name="FILLLINECOLOR13" val="8158332"/>
  <p:tag name="FILLLINECOLOR14" val="15263976"/>
  <p:tag name="FILLLINECOLOR15" val="14606046"/>
  <p:tag name="FILLLINECOLOR16" val="12171705"/>
  <p:tag name="FILLLINECOLOR17" val="5329233"/>
  <p:tag name="FILLLINECOLOR18" val="4079166"/>
  <p:tag name="FILLLINECOLOR19" val="0"/>
  <p:tag name="FILLLINECOLOR20" val="16777215"/>
  <p:tag name="FILLLINECOLOR22" val="3062157"/>
  <p:tag name="FILLLINECOLOR23" val="2083071"/>
  <p:tag name="FILLLINECOLOR24" val="35827"/>
  <p:tag name="FONTCOLORNUMBER1" val="1"/>
  <p:tag name="FONTCOLORNUMBER2" val="7"/>
  <p:tag name="FONTCOLORNUMBER3" val="16"/>
  <p:tag name="FONTCOLORNUMBER4" val="13"/>
  <p:tag name="FONTCOLORNUMBER5" val="19"/>
  <p:tag name="FONTCOLORNUMBER6" val="20"/>
  <p:tag name="FONTCOLOR1" val="1796095"/>
  <p:tag name="FONTCOLOR2" val="3091154"/>
  <p:tag name="FONTCOLOR3" val="12171705"/>
  <p:tag name="FONTCOLOR4" val="8158332"/>
  <p:tag name="FONTCOLOR5" val="0"/>
  <p:tag name="FONTCOLOR6" val="167772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c_template_20190705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2">
      <a:majorFont>
        <a:latin typeface="Mark Offc For MC Light"/>
        <a:ea typeface=""/>
        <a:cs typeface=""/>
      </a:majorFont>
      <a:minorFont>
        <a:latin typeface="MarkForMC Nrw 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c_template_8ST.potx" id="{5405C9FA-591B-423D-9861-604982ED4834}" vid="{BE2D1D4B-5B21-44CB-8F77-9C461D51DBB5}"/>
    </a:ext>
  </a:extLst>
</a:theme>
</file>

<file path=ppt/theme/theme2.xml><?xml version="1.0" encoding="utf-8"?>
<a:theme xmlns:a="http://schemas.openxmlformats.org/drawingml/2006/main" name="Office Theme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0">
      <a:majorFont>
        <a:latin typeface="Mark Offc For MC Light"/>
        <a:ea typeface=""/>
        <a:cs typeface=""/>
      </a:majorFont>
      <a:minorFont>
        <a:latin typeface="MarkForMC Nrw P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0">
      <a:majorFont>
        <a:latin typeface="Mark Offc For MC Light"/>
        <a:ea typeface=""/>
        <a:cs typeface=""/>
      </a:majorFont>
      <a:minorFont>
        <a:latin typeface="MarkForMC Nrw P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2869AB-A7E6-49DA-B356-DAF3EDC1EE6B}">
  <we:reference id="ff1b65c4-be5a-40bc-9967-5937b8daad41" version="1.0.0.1" store="EXCatalog" storeType="EXCatalog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df2f77bf-ac71-4d31-be38-cc6a5f811e56}" enabled="1" method="Privileged" siteId="{f06fa858-824b-4a85-aacb-f372cfdc28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mc_template_8ST</Template>
  <TotalTime>984</TotalTime>
  <Words>522</Words>
  <Application>Microsoft Office PowerPoint</Application>
  <PresentationFormat>On-screen Show (16:9)</PresentationFormat>
  <Paragraphs>111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Mark Offc For MC</vt:lpstr>
      <vt:lpstr>Mark Offc For MC Extra Light</vt:lpstr>
      <vt:lpstr>Mark Offc For MC Medium</vt:lpstr>
      <vt:lpstr>MarkForMC Nrw O</vt:lpstr>
      <vt:lpstr>mc_template_20190705</vt:lpstr>
      <vt:lpstr>think-cell Slide</vt:lpstr>
      <vt:lpstr>A&amp;F Dashboard</vt:lpstr>
      <vt:lpstr>The dashboard was developed under Q1’26 with investment code hours provided by the Product team to create a more scalable solution for LAC market</vt:lpstr>
      <vt:lpstr>The new version presents ready-to-use peer groups and new breakdowns</vt:lpstr>
      <vt:lpstr>The current dashboard will be used in ACS projects as an efficiency improvement tool and also as a standalone product</vt:lpstr>
      <vt:lpstr>The dashboard is currently published for demo purposes, but it will be moved to a restricted area so access control can be made</vt:lpstr>
      <vt:lpstr>The dashboard is ready to be tested in ACS Projects scenarios, and options are already mapped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do Nascimento</dc:creator>
  <cp:lastModifiedBy>Yuri de Sousa</cp:lastModifiedBy>
  <cp:revision>2</cp:revision>
  <dcterms:created xsi:type="dcterms:W3CDTF">2024-08-20T16:51:26Z</dcterms:created>
  <dcterms:modified xsi:type="dcterms:W3CDTF">2026-06-09T22:28:15Z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c_template_date">
    <vt:lpwstr>20191108</vt:lpwstr>
  </property>
  <property fmtid="{D5CDD505-2E9C-101B-9397-08002B2CF9AE}" pid="3" name="MSIP_Label_df2f77bf-ac71-4d31-be38-cc6a5f811e56_Enabled">
    <vt:lpwstr>true</vt:lpwstr>
  </property>
  <property fmtid="{D5CDD505-2E9C-101B-9397-08002B2CF9AE}" pid="4" name="MSIP_Label_df2f77bf-ac71-4d31-be38-cc6a5f811e56_SetDate">
    <vt:lpwstr>2024-08-20T17:14:06Z</vt:lpwstr>
  </property>
  <property fmtid="{D5CDD505-2E9C-101B-9397-08002B2CF9AE}" pid="5" name="MSIP_Label_df2f77bf-ac71-4d31-be38-cc6a5f811e56_Method">
    <vt:lpwstr>Privileged</vt:lpwstr>
  </property>
  <property fmtid="{D5CDD505-2E9C-101B-9397-08002B2CF9AE}" pid="6" name="MSIP_Label_df2f77bf-ac71-4d31-be38-cc6a5f811e56_Name">
    <vt:lpwstr>Restricted</vt:lpwstr>
  </property>
  <property fmtid="{D5CDD505-2E9C-101B-9397-08002B2CF9AE}" pid="7" name="MSIP_Label_df2f77bf-ac71-4d31-be38-cc6a5f811e56_SiteId">
    <vt:lpwstr>f06fa858-824b-4a85-aacb-f372cfdc282e</vt:lpwstr>
  </property>
  <property fmtid="{D5CDD505-2E9C-101B-9397-08002B2CF9AE}" pid="8" name="MSIP_Label_df2f77bf-ac71-4d31-be38-cc6a5f811e56_ActionId">
    <vt:lpwstr>3a5f3079-470d-486f-9192-5cef7b51c15c</vt:lpwstr>
  </property>
  <property fmtid="{D5CDD505-2E9C-101B-9397-08002B2CF9AE}" pid="9" name="MSIP_Label_df2f77bf-ac71-4d31-be38-cc6a5f811e56_ContentBits">
    <vt:lpwstr>0</vt:lpwstr>
  </property>
</Properties>
</file>